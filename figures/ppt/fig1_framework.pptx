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005072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443984" y="36576"/>
            <a:ext cx="2066543" cy="2167128"/>
          </a:xfrm>
          <a:prstGeom prst="roundRect">
            <a:avLst>
              <a:gd name="adj" fmla="val 353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5424" y="82296"/>
            <a:ext cx="192024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simulator"/>
          <p:cNvSpPr/>
          <p:nvPr/>
        </p:nvSpPr>
        <p:spPr>
          <a:xfrm>
            <a:off x="146304" y="365760"/>
            <a:ext cx="932688" cy="1719072"/>
          </a:xfrm>
          <a:prstGeom prst="roundRect">
            <a:avLst>
              <a:gd name="adj" fmla="val 3921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6304" y="420624"/>
            <a:ext cx="932688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20" b="1" i="0">
                <a:solidFill>
                  <a:srgbClr val="2E5A87"/>
                </a:solidFill>
                <a:latin typeface="Times New Roman"/>
              </a:rPr>
              <a:t>Simulator</a:t>
            </a:r>
          </a:p>
        </p:txBody>
      </p:sp>
      <p:sp>
        <p:nvSpPr>
          <p:cNvPr id="8" name="boat_hull"/>
          <p:cNvSpPr/>
          <p:nvPr/>
        </p:nvSpPr>
        <p:spPr>
          <a:xfrm>
            <a:off x="329184" y="1042416"/>
            <a:ext cx="621792" cy="228600"/>
          </a:xfrm>
          <a:custGeom>
            <a:avLst/>
            <a:gdLst/>
            <a:ahLst/>
            <a:cxnLst/>
            <a:rect l="l" t="t" r="r" b="b"/>
            <a:pathLst>
              <a:path w="621792" h="228600">
                <a:moveTo>
                  <a:pt x="0" y="27432"/>
                </a:moveTo>
                <a:lnTo>
                  <a:pt x="385511" y="0"/>
                </a:lnTo>
                <a:lnTo>
                  <a:pt x="534741" y="27432"/>
                </a:lnTo>
                <a:lnTo>
                  <a:pt x="621792" y="114300"/>
                </a:lnTo>
                <a:lnTo>
                  <a:pt x="534741" y="201168"/>
                </a:lnTo>
                <a:lnTo>
                  <a:pt x="385511" y="228600"/>
                </a:lnTo>
                <a:lnTo>
                  <a:pt x="0" y="201168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oat_sterndrive"/>
          <p:cNvSpPr/>
          <p:nvPr/>
        </p:nvSpPr>
        <p:spPr>
          <a:xfrm>
            <a:off x="285658" y="1129284"/>
            <a:ext cx="43526" cy="54864"/>
          </a:xfrm>
          <a:custGeom>
            <a:avLst/>
            <a:gdLst/>
            <a:ahLst/>
            <a:cxnLst/>
            <a:rect l="l" t="t" r="r" b="b"/>
            <a:pathLst>
              <a:path w="43526" h="54864">
                <a:moveTo>
                  <a:pt x="0" y="0"/>
                </a:moveTo>
                <a:lnTo>
                  <a:pt x="43526" y="0"/>
                </a:lnTo>
                <a:lnTo>
                  <a:pt x="43526" y="54864"/>
                </a:lnTo>
                <a:lnTo>
                  <a:pt x="0" y="54864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37744" y="749808"/>
            <a:ext cx="137160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7744" y="804672"/>
            <a:ext cx="137160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37744" y="859536"/>
            <a:ext cx="137160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0623" y="740664"/>
            <a:ext cx="5486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6B6B6B"/>
                </a:solidFill>
                <a:latin typeface="Times New Roman"/>
              </a:rPr>
              <a:t>d</a:t>
            </a:r>
            <a:r>
              <a:rPr sz="65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5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" y="1444752"/>
            <a:ext cx="932688" cy="56692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dwell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D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= 3 s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steering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sp>
        <p:nvSpPr>
          <p:cNvPr id="15" name="stage1"/>
          <p:cNvSpPr/>
          <p:nvPr/>
        </p:nvSpPr>
        <p:spPr>
          <a:xfrm>
            <a:off x="1298448" y="365760"/>
            <a:ext cx="2615184" cy="896112"/>
          </a:xfrm>
          <a:prstGeom prst="roundRect">
            <a:avLst>
              <a:gd name="adj" fmla="val 408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71600" y="402336"/>
            <a:ext cx="237744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1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dwell indexed safety value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408176" y="640080"/>
            <a:ext cx="42062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408176" y="950976"/>
            <a:ext cx="420624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1">
                <a:solidFill>
                  <a:srgbClr val="000000"/>
                </a:solidFill>
                <a:latin typeface="Times New Roman"/>
              </a:rPr>
              <a:t>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94560" y="731520"/>
            <a:ext cx="475488" cy="365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828800" y="758952"/>
            <a:ext cx="365760" cy="9144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1828800" y="978408"/>
            <a:ext cx="365760" cy="9144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847088" y="6126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6B6B6B"/>
                </a:solidFill>
                <a:latin typeface="Times New Roman"/>
              </a:rPr>
              <a:t>max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47088" y="1097280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6B6B6B"/>
                </a:solidFill>
                <a:latin typeface="Times New Roman"/>
              </a:rPr>
              <a:t>min</a:t>
            </a:r>
          </a:p>
        </p:txBody>
      </p:sp>
      <p:sp>
        <p:nvSpPr>
          <p:cNvPr id="24" name="Oval 23"/>
          <p:cNvSpPr/>
          <p:nvPr/>
        </p:nvSpPr>
        <p:spPr>
          <a:xfrm>
            <a:off x="2916936" y="658368"/>
            <a:ext cx="786384" cy="438912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044952" y="731520"/>
            <a:ext cx="530352" cy="29260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172968" y="800100"/>
            <a:ext cx="274320" cy="155448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16936" y="484632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3592" y="813816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5576" y="813816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813816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670048" y="914400"/>
            <a:ext cx="228600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stage2"/>
          <p:cNvSpPr/>
          <p:nvPr/>
        </p:nvSpPr>
        <p:spPr>
          <a:xfrm>
            <a:off x="1298448" y="1353312"/>
            <a:ext cx="2615184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0" y="1389888"/>
            <a:ext cx="237744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Stage 2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task policy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408176" y="1664208"/>
            <a:ext cx="786384" cy="292608"/>
          </a:xfrm>
          <a:prstGeom prst="roundRect">
            <a:avLst>
              <a:gd name="adj" fmla="val 12500"/>
            </a:avLst>
          </a:prstGeom>
          <a:solidFill>
            <a:srgbClr val="F2F2F2"/>
          </a:solidFill>
          <a:ln w="8890">
            <a:solidFill>
              <a:srgbClr val="6B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70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700" b="0" i="0">
                <a:solidFill>
                  <a:srgbClr val="000000"/>
                </a:solidFill>
                <a:latin typeface="Times New Roman"/>
              </a:rPr>
              <a:t> frozen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578608" y="1664208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5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94560" y="1810512"/>
            <a:ext cx="384048" cy="0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145536" y="1627632"/>
            <a:ext cx="731520" cy="3657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reward</a:t>
            </a:r>
          </a:p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s.t.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τ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664207" y="1261872"/>
            <a:ext cx="0" cy="402336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078992" y="813816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78992" y="1719072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041648" y="1133856"/>
            <a:ext cx="402336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4023360" y="914400"/>
            <a:ext cx="43891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23360" y="1188720"/>
            <a:ext cx="438912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0" y="365760"/>
            <a:ext cx="512064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230368" y="365760"/>
            <a:ext cx="45720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750" b="0" i="1" baseline="-25000">
                <a:solidFill>
                  <a:srgbClr val="000000"/>
                </a:solidFill>
                <a:latin typeface="Times New Roman"/>
              </a:rPr>
              <a:t>t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815584" y="365760"/>
            <a:ext cx="585216" cy="420624"/>
          </a:xfrm>
          <a:prstGeom prst="roundRect">
            <a:avLst>
              <a:gd name="adj" fmla="val 8695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80" b="0" i="0">
                <a:solidFill>
                  <a:srgbClr val="000000"/>
                </a:solidFill>
                <a:latin typeface="Times New Roman"/>
              </a:rPr>
              <a:t>Shield</a:t>
            </a:r>
          </a:p>
          <a:p>
            <a:pPr algn="ctr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80" b="0" i="0">
                <a:solidFill>
                  <a:srgbClr val="000000"/>
                </a:solidFill>
                <a:latin typeface="Times New Roman"/>
              </a:rPr>
              <a:t> ≥ </a:t>
            </a:r>
            <a:r>
              <a:rPr sz="680" b="0" i="1">
                <a:solidFill>
                  <a:srgbClr val="000000"/>
                </a:solidFill>
                <a:latin typeface="Times New Roman"/>
              </a:rPr>
              <a:t>τ</a:t>
            </a:r>
          </a:p>
          <a:p>
            <a:pPr algn="ctr">
              <a:lnSpc>
                <a:spcPct val="105000"/>
              </a:lnSpc>
            </a:pPr>
            <a:r>
              <a:rPr sz="680" b="0" i="0">
                <a:solidFill>
                  <a:srgbClr val="000000"/>
                </a:solidFill>
                <a:latin typeface="Times New Roman"/>
              </a:rPr>
              <a:t>else </a:t>
            </a:r>
            <a:r>
              <a:rPr sz="68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8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84064" y="512064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687568" y="512064"/>
            <a:ext cx="128016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vessel"/>
          <p:cNvSpPr/>
          <p:nvPr/>
        </p:nvSpPr>
        <p:spPr>
          <a:xfrm>
            <a:off x="4718304" y="1335024"/>
            <a:ext cx="1481328" cy="749808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boat_hull"/>
          <p:cNvSpPr/>
          <p:nvPr/>
        </p:nvSpPr>
        <p:spPr>
          <a:xfrm>
            <a:off x="5102352" y="1481328"/>
            <a:ext cx="786384" cy="274320"/>
          </a:xfrm>
          <a:custGeom>
            <a:avLst/>
            <a:gdLst/>
            <a:ahLst/>
            <a:cxnLst/>
            <a:rect l="l" t="t" r="r" b="b"/>
            <a:pathLst>
              <a:path w="786384" h="274320">
                <a:moveTo>
                  <a:pt x="0" y="32918"/>
                </a:moveTo>
                <a:lnTo>
                  <a:pt x="487558" y="0"/>
                </a:lnTo>
                <a:lnTo>
                  <a:pt x="676290" y="32918"/>
                </a:lnTo>
                <a:lnTo>
                  <a:pt x="786384" y="137159"/>
                </a:lnTo>
                <a:lnTo>
                  <a:pt x="676290" y="241401"/>
                </a:lnTo>
                <a:lnTo>
                  <a:pt x="487558" y="274320"/>
                </a:lnTo>
                <a:lnTo>
                  <a:pt x="0" y="241401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boat_sterndrive"/>
          <p:cNvSpPr/>
          <p:nvPr/>
        </p:nvSpPr>
        <p:spPr>
          <a:xfrm>
            <a:off x="5047305" y="1585569"/>
            <a:ext cx="55047" cy="65837"/>
          </a:xfrm>
          <a:custGeom>
            <a:avLst/>
            <a:gdLst/>
            <a:ahLst/>
            <a:cxnLst/>
            <a:rect l="l" t="t" r="r" b="b"/>
            <a:pathLst>
              <a:path w="55047" h="65837">
                <a:moveTo>
                  <a:pt x="0" y="0"/>
                </a:moveTo>
                <a:lnTo>
                  <a:pt x="55047" y="0"/>
                </a:lnTo>
                <a:lnTo>
                  <a:pt x="55047" y="65837"/>
                </a:lnTo>
                <a:lnTo>
                  <a:pt x="0" y="65837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2" name="Connector 51"/>
          <p:cNvCxnSpPr/>
          <p:nvPr/>
        </p:nvCxnSpPr>
        <p:spPr>
          <a:xfrm>
            <a:off x="4809744" y="1408176"/>
            <a:ext cx="164592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809744" y="1472184"/>
            <a:ext cx="164592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809744" y="1536192"/>
            <a:ext cx="164592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4718304" y="1810512"/>
            <a:ext cx="1481328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Vessel, PLC, servo cylinders</a:t>
            </a:r>
          </a:p>
        </p:txBody>
      </p:sp>
      <p:sp>
        <p:nvSpPr>
          <p:cNvPr id="56" name="Freeform 55"/>
          <p:cNvSpPr/>
          <p:nvPr/>
        </p:nvSpPr>
        <p:spPr>
          <a:xfrm>
            <a:off x="6108192" y="786384"/>
            <a:ext cx="0" cy="548640"/>
          </a:xfrm>
          <a:custGeom>
            <a:avLst/>
            <a:gdLst/>
            <a:ahLst/>
            <a:cxnLst/>
            <a:rect l="l" t="t" r="r" b="b"/>
            <a:pathLst>
              <a:path w="0" h="548640">
                <a:moveTo>
                  <a:pt x="0" y="0"/>
                </a:moveTo>
                <a:lnTo>
                  <a:pt x="0" y="548640"/>
                </a:lnTo>
              </a:path>
            </a:pathLst>
          </a:custGeom>
          <a:noFill/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44768" y="1024128"/>
            <a:ext cx="365760" cy="219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8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8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sp>
        <p:nvSpPr>
          <p:cNvPr id="58" name="Freeform 57"/>
          <p:cNvSpPr/>
          <p:nvPr/>
        </p:nvSpPr>
        <p:spPr>
          <a:xfrm>
            <a:off x="4828032" y="658368"/>
            <a:ext cx="0" cy="676656"/>
          </a:xfrm>
          <a:custGeom>
            <a:avLst/>
            <a:gdLst/>
            <a:ahLst/>
            <a:cxnLst/>
            <a:rect l="l" t="t" r="r" b="b"/>
            <a:pathLst>
              <a:path w="0" h="676656">
                <a:moveTo>
                  <a:pt x="0" y="676656"/>
                </a:moveTo>
                <a:lnTo>
                  <a:pt x="0" y="0"/>
                </a:lnTo>
              </a:path>
            </a:pathLst>
          </a:custGeom>
          <a:noFill/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62272" y="914400"/>
            <a:ext cx="347472" cy="31089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5000"/>
              </a:lnSpc>
            </a:pPr>
            <a:r>
              <a:rPr sz="630" b="0" i="0">
                <a:solidFill>
                  <a:srgbClr val="6B6B6B"/>
                </a:solidFill>
                <a:latin typeface="Times New Roman"/>
              </a:rPr>
              <a:t>GNSS</a:t>
            </a:r>
          </a:p>
          <a:p>
            <a:pPr algn="r">
              <a:lnSpc>
                <a:spcPct val="105000"/>
              </a:lnSpc>
            </a:pPr>
            <a:r>
              <a:rPr sz="630" b="0" i="0">
                <a:solidFill>
                  <a:srgbClr val="6B6B6B"/>
                </a:solidFill>
                <a:latin typeface="Times New Roman"/>
              </a:rPr>
              <a:t>IMU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10912" y="1005840"/>
            <a:ext cx="10058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0">
                <a:solidFill>
                  <a:srgbClr val="2F7D4F"/>
                </a:solidFill>
                <a:latin typeface="Times New Roman"/>
              </a:rPr>
              <a:t>every 0.5 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