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47104" cy="2240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gion_offline"/>
          <p:cNvSpPr/>
          <p:nvPr/>
        </p:nvSpPr>
        <p:spPr>
          <a:xfrm>
            <a:off x="36576" y="36576"/>
            <a:ext cx="4114800" cy="2167128"/>
          </a:xfrm>
          <a:prstGeom prst="roundRect">
            <a:avLst>
              <a:gd name="adj" fmla="val 3375"/>
            </a:avLst>
          </a:prstGeom>
          <a:solidFill>
            <a:srgbClr val="FBEFE3"/>
          </a:solidFill>
          <a:ln w="1270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gion_online"/>
          <p:cNvSpPr/>
          <p:nvPr/>
        </p:nvSpPr>
        <p:spPr>
          <a:xfrm>
            <a:off x="4517136" y="36576"/>
            <a:ext cx="1993392" cy="2167128"/>
          </a:xfrm>
          <a:prstGeom prst="roundRect">
            <a:avLst>
              <a:gd name="adj" fmla="val 3669"/>
            </a:avLst>
          </a:prstGeom>
          <a:solidFill>
            <a:srgbClr val="E7F3EC"/>
          </a:solidFill>
          <a:ln w="12700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" y="82296"/>
            <a:ext cx="2743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A65E1A"/>
                </a:solidFill>
                <a:latin typeface="Times New Roman"/>
              </a:rPr>
              <a:t>Offline</a:t>
            </a:r>
            <a:r>
              <a:rPr sz="800" b="0" i="0">
                <a:solidFill>
                  <a:srgbClr val="A65E1A"/>
                </a:solidFill>
                <a:latin typeface="Times New Roman"/>
              </a:rPr>
              <a:t> RL training in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8576" y="82296"/>
            <a:ext cx="18288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2F7D4F"/>
                </a:solidFill>
                <a:latin typeface="Times New Roman"/>
              </a:rPr>
              <a:t>Online</a:t>
            </a:r>
            <a:r>
              <a:rPr sz="800" b="0" i="0">
                <a:solidFill>
                  <a:srgbClr val="2F7D4F"/>
                </a:solidFill>
                <a:latin typeface="Times New Roman"/>
              </a:rPr>
              <a:t> deployment on the vessel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329184"/>
            <a:ext cx="96926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1" i="0">
                <a:solidFill>
                  <a:srgbClr val="2E5A87"/>
                </a:solidFill>
                <a:latin typeface="Times New Roman"/>
              </a:rPr>
              <a:t>Simulators </a:t>
            </a:r>
            <a:r>
              <a:rPr sz="700" b="0" i="0">
                <a:solidFill>
                  <a:srgbClr val="2E5A87"/>
                </a:solidFill>
                <a:latin typeface="Times New Roman"/>
              </a:rPr>
              <a:t>×</a:t>
            </a:r>
            <a:r>
              <a:rPr sz="700" b="0" i="1">
                <a:solidFill>
                  <a:srgbClr val="2E5A87"/>
                </a:solidFill>
                <a:latin typeface="Times New Roman"/>
              </a:rPr>
              <a:t>N</a:t>
            </a:r>
          </a:p>
        </p:txBody>
      </p:sp>
      <p:sp>
        <p:nvSpPr>
          <p:cNvPr id="7" name="sim_card_0"/>
          <p:cNvSpPr/>
          <p:nvPr/>
        </p:nvSpPr>
        <p:spPr>
          <a:xfrm>
            <a:off x="237744" y="640080"/>
            <a:ext cx="786384" cy="713232"/>
          </a:xfrm>
          <a:prstGeom prst="roundRect">
            <a:avLst>
              <a:gd name="adj" fmla="val 6410"/>
            </a:avLst>
          </a:prstGeom>
          <a:solidFill>
            <a:srgbClr val="D5E2EF"/>
          </a:solidFill>
          <a:ln w="8890">
            <a:solidFill>
              <a:srgbClr val="2E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im_card_1"/>
          <p:cNvSpPr/>
          <p:nvPr/>
        </p:nvSpPr>
        <p:spPr>
          <a:xfrm>
            <a:off x="182880" y="585215"/>
            <a:ext cx="786384" cy="713232"/>
          </a:xfrm>
          <a:prstGeom prst="roundRect">
            <a:avLst>
              <a:gd name="adj" fmla="val 6410"/>
            </a:avLst>
          </a:prstGeom>
          <a:solidFill>
            <a:srgbClr val="E8EFF6"/>
          </a:solidFill>
          <a:ln w="8890">
            <a:solidFill>
              <a:srgbClr val="2E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m_card_2"/>
          <p:cNvSpPr/>
          <p:nvPr/>
        </p:nvSpPr>
        <p:spPr>
          <a:xfrm>
            <a:off x="128016" y="530352"/>
            <a:ext cx="78638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8890">
            <a:solidFill>
              <a:srgbClr val="2E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01168" y="640080"/>
            <a:ext cx="128016" cy="0"/>
          </a:xfrm>
          <a:prstGeom prst="line">
            <a:avLst/>
          </a:prstGeom>
          <a:ln w="10160">
            <a:solidFill>
              <a:srgbClr val="8A8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1168" y="690372"/>
            <a:ext cx="128016" cy="0"/>
          </a:xfrm>
          <a:prstGeom prst="line">
            <a:avLst/>
          </a:prstGeom>
          <a:ln w="10160">
            <a:solidFill>
              <a:srgbClr val="8A8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1168" y="740664"/>
            <a:ext cx="128016" cy="0"/>
          </a:xfrm>
          <a:prstGeom prst="line">
            <a:avLst/>
          </a:prstGeom>
          <a:ln w="10160">
            <a:solidFill>
              <a:srgbClr val="8A8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630936"/>
            <a:ext cx="45720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40" b="0" i="1">
                <a:solidFill>
                  <a:srgbClr val="6B6B6B"/>
                </a:solidFill>
                <a:latin typeface="Times New Roman"/>
              </a:rPr>
              <a:t>w</a:t>
            </a:r>
            <a:r>
              <a:rPr sz="640" b="0" i="0">
                <a:solidFill>
                  <a:srgbClr val="6B6B6B"/>
                </a:solidFill>
                <a:latin typeface="Times New Roman"/>
              </a:rPr>
              <a:t> ∈ </a:t>
            </a:r>
            <a:r>
              <a:rPr sz="640" b="0" i="0">
                <a:solidFill>
                  <a:srgbClr val="6B6B6B"/>
                </a:solidFill>
                <a:latin typeface="Cambria Math"/>
              </a:rPr>
              <a:t>𝒲</a:t>
            </a:r>
          </a:p>
        </p:txBody>
      </p:sp>
      <p:sp>
        <p:nvSpPr>
          <p:cNvPr id="14" name="boat_hull"/>
          <p:cNvSpPr/>
          <p:nvPr/>
        </p:nvSpPr>
        <p:spPr>
          <a:xfrm>
            <a:off x="274320" y="822960"/>
            <a:ext cx="530351" cy="182880"/>
          </a:xfrm>
          <a:custGeom>
            <a:avLst/>
            <a:gdLst/>
            <a:ahLst/>
            <a:cxnLst/>
            <a:rect l="l" t="t" r="r" b="b"/>
            <a:pathLst>
              <a:path w="530351" h="182880">
                <a:moveTo>
                  <a:pt x="0" y="21945"/>
                </a:moveTo>
                <a:lnTo>
                  <a:pt x="328818" y="0"/>
                </a:lnTo>
                <a:lnTo>
                  <a:pt x="456102" y="21945"/>
                </a:lnTo>
                <a:lnTo>
                  <a:pt x="530351" y="91440"/>
                </a:lnTo>
                <a:lnTo>
                  <a:pt x="456102" y="160934"/>
                </a:lnTo>
                <a:lnTo>
                  <a:pt x="328818" y="182880"/>
                </a:lnTo>
                <a:lnTo>
                  <a:pt x="0" y="160934"/>
                </a:lnTo>
                <a:close/>
              </a:path>
            </a:pathLst>
          </a:cu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at_sterndrive"/>
          <p:cNvSpPr/>
          <p:nvPr/>
        </p:nvSpPr>
        <p:spPr>
          <a:xfrm>
            <a:off x="237195" y="892454"/>
            <a:ext cx="37125" cy="43891"/>
          </a:xfrm>
          <a:custGeom>
            <a:avLst/>
            <a:gdLst/>
            <a:ahLst/>
            <a:cxnLst/>
            <a:rect l="l" t="t" r="r" b="b"/>
            <a:pathLst>
              <a:path w="37125" h="43891">
                <a:moveTo>
                  <a:pt x="0" y="0"/>
                </a:moveTo>
                <a:lnTo>
                  <a:pt x="37125" y="0"/>
                </a:lnTo>
                <a:lnTo>
                  <a:pt x="37125" y="43891"/>
                </a:lnTo>
                <a:lnTo>
                  <a:pt x="0" y="43891"/>
                </a:lnTo>
                <a:close/>
              </a:path>
            </a:pathLst>
          </a:cu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" y="1069848"/>
            <a:ext cx="786384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20" b="0" i="0">
                <a:solidFill>
                  <a:srgbClr val="2E5A87"/>
                </a:solidFill>
                <a:latin typeface="Times New Roman"/>
              </a:rPr>
              <a:t>dwell </a:t>
            </a:r>
            <a:r>
              <a:rPr sz="620" b="0" i="1">
                <a:solidFill>
                  <a:srgbClr val="2E5A87"/>
                </a:solidFill>
                <a:latin typeface="Times New Roman"/>
              </a:rPr>
              <a:t>D</a:t>
            </a:r>
            <a:r>
              <a:rPr sz="620" b="0" i="1" baseline="-25000">
                <a:solidFill>
                  <a:srgbClr val="2E5A87"/>
                </a:solidFill>
                <a:latin typeface="Times New Roman"/>
              </a:rPr>
              <a:t>g</a:t>
            </a:r>
            <a:r>
              <a:rPr sz="620" b="0" i="0">
                <a:solidFill>
                  <a:srgbClr val="2E5A87"/>
                </a:solidFill>
                <a:latin typeface="Times New Roman"/>
              </a:rPr>
              <a:t> masked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1426464"/>
            <a:ext cx="1005840" cy="4754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0">
                <a:solidFill>
                  <a:srgbClr val="000000"/>
                </a:solidFill>
                <a:latin typeface="Times New Roman"/>
              </a:rPr>
              <a:t>gear </a:t>
            </a: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0">
                <a:solidFill>
                  <a:srgbClr val="000000"/>
                </a:solidFill>
                <a:latin typeface="Times New Roman"/>
              </a:rPr>
              <a:t> ∈ {R, N, F}</a:t>
            </a:r>
          </a:p>
          <a:p>
            <a:pPr algn="ctr">
              <a:lnSpc>
                <a:spcPct val="105000"/>
              </a:lnSpc>
            </a:pPr>
            <a:r>
              <a:rPr sz="640" b="0" i="0">
                <a:solidFill>
                  <a:srgbClr val="000000"/>
                </a:solidFill>
                <a:latin typeface="Times New Roman"/>
              </a:rPr>
              <a:t>steering rate</a:t>
            </a:r>
          </a:p>
          <a:p>
            <a:pPr algn="ctr">
              <a:lnSpc>
                <a:spcPct val="105000"/>
              </a:lnSpc>
            </a:pPr>
            <a:r>
              <a:rPr sz="640" b="0" i="0">
                <a:solidFill>
                  <a:srgbClr val="000000"/>
                </a:solidFill>
                <a:latin typeface="Times New Roman"/>
              </a:rPr>
              <a:t>wind and current </a:t>
            </a:r>
            <a:r>
              <a:rPr sz="640" b="0" i="1">
                <a:solidFill>
                  <a:srgbClr val="000000"/>
                </a:solidFill>
                <a:latin typeface="Times New Roman"/>
              </a:rPr>
              <a:t>w</a:t>
            </a:r>
          </a:p>
        </p:txBody>
      </p:sp>
      <p:sp>
        <p:nvSpPr>
          <p:cNvPr id="18" name="rl_smdp"/>
          <p:cNvSpPr/>
          <p:nvPr/>
        </p:nvSpPr>
        <p:spPr>
          <a:xfrm>
            <a:off x="1243584" y="310896"/>
            <a:ext cx="2816352" cy="181051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338328"/>
            <a:ext cx="26517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 i="0">
                <a:solidFill>
                  <a:srgbClr val="A65E1A"/>
                </a:solidFill>
                <a:latin typeface="Times New Roman"/>
              </a:rPr>
              <a:t>Dwell constrained RIS</a:t>
            </a:r>
            <a:r>
              <a:rPr sz="700" b="0" i="0">
                <a:solidFill>
                  <a:srgbClr val="A65E1A"/>
                </a:solidFill>
                <a:latin typeface="Times New Roman"/>
              </a:rPr>
              <a:t>  by adversarial RL with legality masking</a:t>
            </a:r>
          </a:p>
        </p:txBody>
      </p:sp>
      <p:grpSp>
        <p:nvGrpSpPr>
          <p:cNvPr id="20" name="critic_2"/>
          <p:cNvGrpSpPr/>
          <p:nvPr/>
        </p:nvGrpSpPr>
        <p:grpSpPr>
          <a:xfrm>
            <a:off x="1481328" y="585216"/>
            <a:ext cx="512064" cy="384048"/>
            <a:chOff x="1481328" y="585216"/>
            <a:chExt cx="512064" cy="384048"/>
          </a:xfrm>
        </p:grpSpPr>
        <p:sp>
          <p:nvSpPr>
            <p:cNvPr id="21" name="Rounded Rectangle 20"/>
            <p:cNvSpPr/>
            <p:nvPr/>
          </p:nvSpPr>
          <p:spPr>
            <a:xfrm>
              <a:off x="1481328" y="585216"/>
              <a:ext cx="512064" cy="38404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8890">
              <a:solidFill>
                <a:srgbClr val="A65E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nnector 21"/>
            <p:cNvCxnSpPr/>
            <p:nvPr/>
          </p:nvCxnSpPr>
          <p:spPr>
            <a:xfrm flipV="1">
              <a:off x="1545336" y="630936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545336" y="679704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1545336" y="679704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545336" y="679704"/>
              <a:ext cx="192024" cy="24383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V="1">
              <a:off x="1545336" y="630936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1545336" y="728472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1545336" y="777240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1545336" y="777240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V="1">
              <a:off x="1545336" y="630936"/>
              <a:ext cx="192024" cy="24383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 flipV="1">
              <a:off x="1545336" y="728472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1545336" y="826007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1545336" y="874775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1737360" y="630936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1737360" y="630936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1737360" y="630936"/>
              <a:ext cx="192024" cy="24383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 flipV="1">
              <a:off x="1737360" y="679704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1737360" y="728472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1737360" y="728472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V="1">
              <a:off x="1737360" y="679704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V="1">
              <a:off x="1737360" y="777240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1737360" y="826007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 flipV="1">
              <a:off x="1737360" y="679704"/>
              <a:ext cx="192024" cy="24383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 flipV="1">
              <a:off x="1737360" y="777240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 flipV="1">
              <a:off x="1737360" y="874775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1521131" y="655499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1521131" y="753035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1521131" y="850571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713155" y="606731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713155" y="704267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713155" y="801803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713155" y="899339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905179" y="655499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1905179" y="753035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1905179" y="850571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" name="critic_1"/>
          <p:cNvGrpSpPr/>
          <p:nvPr/>
        </p:nvGrpSpPr>
        <p:grpSpPr>
          <a:xfrm>
            <a:off x="1426464" y="640080"/>
            <a:ext cx="512064" cy="384048"/>
            <a:chOff x="1426464" y="640080"/>
            <a:chExt cx="512064" cy="384048"/>
          </a:xfrm>
        </p:grpSpPr>
        <p:sp>
          <p:nvSpPr>
            <p:cNvPr id="57" name="Rounded Rectangle 56"/>
            <p:cNvSpPr/>
            <p:nvPr/>
          </p:nvSpPr>
          <p:spPr>
            <a:xfrm>
              <a:off x="1426464" y="640080"/>
              <a:ext cx="512064" cy="38404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8890">
              <a:solidFill>
                <a:srgbClr val="A65E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Connector 57"/>
            <p:cNvCxnSpPr/>
            <p:nvPr/>
          </p:nvCxnSpPr>
          <p:spPr>
            <a:xfrm flipV="1">
              <a:off x="1490472" y="685800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1490472" y="734567"/>
              <a:ext cx="192024" cy="4876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490472" y="734567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490472" y="734567"/>
              <a:ext cx="192024" cy="2438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1490472" y="685800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1490472" y="783336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1490472" y="832103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1490472" y="832103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V="1">
              <a:off x="1490472" y="685800"/>
              <a:ext cx="192024" cy="2438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 flipV="1">
              <a:off x="1490472" y="783336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V="1">
              <a:off x="1490472" y="880871"/>
              <a:ext cx="192024" cy="4876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490472" y="929640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682496" y="685800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682496" y="685800"/>
              <a:ext cx="192024" cy="146303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1682496" y="685800"/>
              <a:ext cx="192024" cy="2438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 flipV="1">
              <a:off x="1682496" y="734567"/>
              <a:ext cx="192024" cy="4876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1682496" y="783336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1682496" y="783336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V="1">
              <a:off x="1682496" y="734567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 flipV="1">
              <a:off x="1682496" y="832103"/>
              <a:ext cx="192024" cy="4876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682496" y="880871"/>
              <a:ext cx="192024" cy="4876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 flipV="1">
              <a:off x="1682496" y="734567"/>
              <a:ext cx="192024" cy="2438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 flipV="1">
              <a:off x="1682496" y="832103"/>
              <a:ext cx="192024" cy="14630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 flipV="1">
              <a:off x="1682496" y="929640"/>
              <a:ext cx="192024" cy="48767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/>
            <p:cNvSpPr/>
            <p:nvPr/>
          </p:nvSpPr>
          <p:spPr>
            <a:xfrm>
              <a:off x="1466267" y="710363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1466267" y="807899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Oval 83"/>
            <p:cNvSpPr/>
            <p:nvPr/>
          </p:nvSpPr>
          <p:spPr>
            <a:xfrm>
              <a:off x="1466267" y="905435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Oval 84"/>
            <p:cNvSpPr/>
            <p:nvPr/>
          </p:nvSpPr>
          <p:spPr>
            <a:xfrm>
              <a:off x="1658291" y="661595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1658291" y="759131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1658291" y="856667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1658291" y="954203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1850315" y="710363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1850315" y="807899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Oval 90"/>
            <p:cNvSpPr/>
            <p:nvPr/>
          </p:nvSpPr>
          <p:spPr>
            <a:xfrm>
              <a:off x="1850315" y="905435"/>
              <a:ext cx="48409" cy="48409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1335024" y="1033272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50" b="0" i="1">
                <a:solidFill>
                  <a:srgbClr val="000000"/>
                </a:solidFill>
                <a:latin typeface="Times New Roman"/>
              </a:rPr>
              <a:t>Q</a:t>
            </a:r>
            <a:r>
              <a:rPr sz="650" b="0" i="1" baseline="-25000">
                <a:solidFill>
                  <a:srgbClr val="000000"/>
                </a:solidFill>
                <a:latin typeface="Times New Roman"/>
              </a:rPr>
              <a:t>h,1</a:t>
            </a:r>
            <a:r>
              <a:rPr sz="650" b="0" i="0">
                <a:solidFill>
                  <a:srgbClr val="000000"/>
                </a:solidFill>
                <a:latin typeface="Times New Roman"/>
              </a:rPr>
              <a:t>, </a:t>
            </a:r>
            <a:r>
              <a:rPr sz="650" b="0" i="1">
                <a:solidFill>
                  <a:srgbClr val="000000"/>
                </a:solidFill>
                <a:latin typeface="Times New Roman"/>
              </a:rPr>
              <a:t>Q</a:t>
            </a:r>
            <a:r>
              <a:rPr sz="650" b="0" i="1" baseline="-25000">
                <a:solidFill>
                  <a:srgbClr val="000000"/>
                </a:solidFill>
                <a:latin typeface="Times New Roman"/>
              </a:rPr>
              <a:t>h,2</a:t>
            </a:r>
          </a:p>
        </p:txBody>
      </p:sp>
      <p:grpSp>
        <p:nvGrpSpPr>
          <p:cNvPr id="93" name="protagonist"/>
          <p:cNvGrpSpPr/>
          <p:nvPr/>
        </p:nvGrpSpPr>
        <p:grpSpPr>
          <a:xfrm>
            <a:off x="2286000" y="548640"/>
            <a:ext cx="402336" cy="274320"/>
            <a:chOff x="2286000" y="548640"/>
            <a:chExt cx="402336" cy="274320"/>
          </a:xfrm>
        </p:grpSpPr>
        <p:sp>
          <p:nvSpPr>
            <p:cNvPr id="94" name="Rounded Rectangle 93"/>
            <p:cNvSpPr/>
            <p:nvPr/>
          </p:nvSpPr>
          <p:spPr>
            <a:xfrm>
              <a:off x="2286000" y="548640"/>
              <a:ext cx="402336" cy="27432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8890">
              <a:solidFill>
                <a:srgbClr val="A65E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2350008" y="594360"/>
              <a:ext cx="137160" cy="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2350008" y="594360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2350008" y="594360"/>
              <a:ext cx="137160" cy="18288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 flipV="1">
              <a:off x="2350008" y="594360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2350008" y="685800"/>
              <a:ext cx="137160" cy="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2350008" y="685800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V="1">
              <a:off x="2350008" y="594360"/>
              <a:ext cx="137160" cy="18288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V="1">
              <a:off x="2350008" y="685800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>
              <a:off x="2350008" y="777240"/>
              <a:ext cx="137160" cy="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>
              <a:off x="2487168" y="594360"/>
              <a:ext cx="137159" cy="4572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>
              <a:off x="2487168" y="594360"/>
              <a:ext cx="137159" cy="13716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V="1">
              <a:off x="2487168" y="640080"/>
              <a:ext cx="137159" cy="4572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>
              <a:off x="2487168" y="685800"/>
              <a:ext cx="137159" cy="4572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 flipV="1">
              <a:off x="2487168" y="640080"/>
              <a:ext cx="137159" cy="13716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/>
            <p:nvPr/>
          </p:nvCxnSpPr>
          <p:spPr>
            <a:xfrm flipV="1">
              <a:off x="2487168" y="731520"/>
              <a:ext cx="137159" cy="4572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09"/>
            <p:cNvSpPr/>
            <p:nvPr/>
          </p:nvSpPr>
          <p:spPr>
            <a:xfrm>
              <a:off x="2328492" y="57284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val 110"/>
            <p:cNvSpPr/>
            <p:nvPr/>
          </p:nvSpPr>
          <p:spPr>
            <a:xfrm>
              <a:off x="2328492" y="66428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2328492" y="75572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2465652" y="57284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Oval 113"/>
            <p:cNvSpPr/>
            <p:nvPr/>
          </p:nvSpPr>
          <p:spPr>
            <a:xfrm>
              <a:off x="2465652" y="66428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>
              <a:off x="2465652" y="75572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2602812" y="61856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2602812" y="710004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" name="adversary"/>
          <p:cNvGrpSpPr/>
          <p:nvPr/>
        </p:nvGrpSpPr>
        <p:grpSpPr>
          <a:xfrm>
            <a:off x="2286000" y="896112"/>
            <a:ext cx="402336" cy="274320"/>
            <a:chOff x="2286000" y="896112"/>
            <a:chExt cx="402336" cy="274320"/>
          </a:xfrm>
        </p:grpSpPr>
        <p:sp>
          <p:nvSpPr>
            <p:cNvPr id="119" name="Rounded Rectangle 118"/>
            <p:cNvSpPr/>
            <p:nvPr/>
          </p:nvSpPr>
          <p:spPr>
            <a:xfrm>
              <a:off x="2286000" y="896112"/>
              <a:ext cx="402336" cy="27432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8890">
              <a:solidFill>
                <a:srgbClr val="A65E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2350008" y="941831"/>
              <a:ext cx="137160" cy="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 120"/>
            <p:cNvCxnSpPr/>
            <p:nvPr/>
          </p:nvCxnSpPr>
          <p:spPr>
            <a:xfrm>
              <a:off x="2350008" y="941831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121"/>
            <p:cNvCxnSpPr/>
            <p:nvPr/>
          </p:nvCxnSpPr>
          <p:spPr>
            <a:xfrm>
              <a:off x="2350008" y="941831"/>
              <a:ext cx="137160" cy="18288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 flipV="1">
              <a:off x="2350008" y="941831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>
              <a:off x="2350008" y="1033271"/>
              <a:ext cx="137160" cy="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>
              <a:off x="2350008" y="1033271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V="1">
              <a:off x="2350008" y="941831"/>
              <a:ext cx="137160" cy="18288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V="1">
              <a:off x="2350008" y="1033271"/>
              <a:ext cx="137160" cy="914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>
              <a:off x="2350008" y="1124711"/>
              <a:ext cx="137160" cy="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28"/>
            <p:cNvCxnSpPr/>
            <p:nvPr/>
          </p:nvCxnSpPr>
          <p:spPr>
            <a:xfrm>
              <a:off x="2487168" y="941831"/>
              <a:ext cx="137159" cy="4572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29"/>
            <p:cNvCxnSpPr/>
            <p:nvPr/>
          </p:nvCxnSpPr>
          <p:spPr>
            <a:xfrm>
              <a:off x="2487168" y="941831"/>
              <a:ext cx="137159" cy="137161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V="1">
              <a:off x="2487168" y="987551"/>
              <a:ext cx="137159" cy="4572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>
              <a:off x="2487168" y="1033271"/>
              <a:ext cx="137159" cy="45721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V="1">
              <a:off x="2487168" y="987551"/>
              <a:ext cx="137159" cy="13716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33"/>
            <p:cNvCxnSpPr/>
            <p:nvPr/>
          </p:nvCxnSpPr>
          <p:spPr>
            <a:xfrm flipV="1">
              <a:off x="2487168" y="1078992"/>
              <a:ext cx="137159" cy="45719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/>
            <p:cNvSpPr/>
            <p:nvPr/>
          </p:nvSpPr>
          <p:spPr>
            <a:xfrm>
              <a:off x="2328492" y="92031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Oval 135"/>
            <p:cNvSpPr/>
            <p:nvPr/>
          </p:nvSpPr>
          <p:spPr>
            <a:xfrm>
              <a:off x="2328492" y="101175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2328492" y="110319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Oval 137"/>
            <p:cNvSpPr/>
            <p:nvPr/>
          </p:nvSpPr>
          <p:spPr>
            <a:xfrm>
              <a:off x="2465652" y="92031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Oval 138"/>
            <p:cNvSpPr/>
            <p:nvPr/>
          </p:nvSpPr>
          <p:spPr>
            <a:xfrm>
              <a:off x="2465652" y="101175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2465652" y="110319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Oval 140"/>
            <p:cNvSpPr/>
            <p:nvPr/>
          </p:nvSpPr>
          <p:spPr>
            <a:xfrm>
              <a:off x="2602812" y="96603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Oval 141"/>
            <p:cNvSpPr/>
            <p:nvPr/>
          </p:nvSpPr>
          <p:spPr>
            <a:xfrm>
              <a:off x="2602812" y="1057476"/>
              <a:ext cx="43030" cy="43030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2706624" y="539496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000000"/>
                </a:solidFill>
                <a:latin typeface="Times New Roman"/>
              </a:rPr>
              <a:t>π</a:t>
            </a:r>
            <a:r>
              <a:rPr sz="650" b="0" i="1" baseline="-25000">
                <a:solidFill>
                  <a:srgbClr val="000000"/>
                </a:solidFill>
                <a:latin typeface="Times New Roman"/>
              </a:rPr>
              <a:t>h</a:t>
            </a:r>
          </a:p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000000"/>
                </a:solidFill>
                <a:latin typeface="Times New Roman"/>
              </a:rPr>
              <a:t>max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06624" y="886968"/>
            <a:ext cx="384048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000000"/>
                </a:solidFill>
                <a:latin typeface="Times New Roman"/>
              </a:rPr>
              <a:t>μ</a:t>
            </a:r>
          </a:p>
          <a:p>
            <a:pPr algn="l">
              <a:lnSpc>
                <a:spcPct val="105000"/>
              </a:lnSpc>
            </a:pPr>
            <a:r>
              <a:rPr sz="650" b="0" i="0">
                <a:solidFill>
                  <a:srgbClr val="000000"/>
                </a:solidFill>
                <a:latin typeface="Times New Roman"/>
              </a:rPr>
              <a:t>min</a:t>
            </a:r>
          </a:p>
        </p:txBody>
      </p:sp>
      <p:cxnSp>
        <p:nvCxnSpPr>
          <p:cNvPr id="145" name="Connector 144"/>
          <p:cNvCxnSpPr/>
          <p:nvPr/>
        </p:nvCxnSpPr>
        <p:spPr>
          <a:xfrm flipV="1">
            <a:off x="1993392" y="685800"/>
            <a:ext cx="292608" cy="100584"/>
          </a:xfrm>
          <a:prstGeom prst="line">
            <a:avLst/>
          </a:prstGeom>
          <a:ln w="11430">
            <a:solidFill>
              <a:srgbClr val="A65E1A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993392" y="896112"/>
            <a:ext cx="292608" cy="137160"/>
          </a:xfrm>
          <a:prstGeom prst="line">
            <a:avLst/>
          </a:prstGeom>
          <a:ln w="11430">
            <a:solidFill>
              <a:srgbClr val="A65E1A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3291840" y="676656"/>
            <a:ext cx="566928" cy="365760"/>
          </a:xfrm>
          <a:prstGeom prst="ellipse">
            <a:avLst/>
          </a:prstGeom>
          <a:solidFill>
            <a:srgbClr val="A65E1A">
              <a:alpha val="16000"/>
            </a:srgbClr>
          </a:solidFill>
          <a:ln w="762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83280" y="736092"/>
            <a:ext cx="384048" cy="246888"/>
          </a:xfrm>
          <a:prstGeom prst="ellipse">
            <a:avLst/>
          </a:prstGeom>
          <a:solidFill>
            <a:srgbClr val="A65E1A">
              <a:alpha val="30000"/>
            </a:srgbClr>
          </a:solidFill>
          <a:ln w="762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474720" y="795527"/>
            <a:ext cx="201168" cy="128016"/>
          </a:xfrm>
          <a:prstGeom prst="ellipse">
            <a:avLst/>
          </a:prstGeom>
          <a:solidFill>
            <a:srgbClr val="A65E1A">
              <a:alpha val="55000"/>
            </a:srgbClr>
          </a:solidFill>
          <a:ln w="762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767328" y="795527"/>
            <a:ext cx="9144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80" b="0" i="0">
                <a:solidFill>
                  <a:srgbClr val="A65E1A"/>
                </a:solidFill>
                <a:latin typeface="Times New Roman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75888" y="795527"/>
            <a:ext cx="9144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80" b="0" i="0">
                <a:solidFill>
                  <a:srgbClr val="A65E1A"/>
                </a:solidFill>
                <a:latin typeface="Times New Roman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29584" y="795527"/>
            <a:ext cx="9144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80" b="0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09544" y="530352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50" b="0" i="0">
                <a:solidFill>
                  <a:srgbClr val="A65E1A"/>
                </a:solidFill>
                <a:latin typeface="Cambria Math"/>
              </a:rPr>
              <a:t>𝒮</a:t>
            </a:r>
            <a:r>
              <a:rPr sz="650" b="0" i="0">
                <a:solidFill>
                  <a:srgbClr val="A65E1A"/>
                </a:solidFill>
                <a:latin typeface="Times New Roman"/>
              </a:rPr>
              <a:t>(</a:t>
            </a:r>
            <a:r>
              <a:rPr sz="650" b="0" i="1">
                <a:solidFill>
                  <a:srgbClr val="A65E1A"/>
                </a:solidFill>
                <a:latin typeface="Times New Roman"/>
              </a:rPr>
              <a:t>g</a:t>
            </a:r>
            <a:r>
              <a:rPr sz="650" b="0" i="0">
                <a:solidFill>
                  <a:srgbClr val="A65E1A"/>
                </a:solidFill>
                <a:latin typeface="Times New Roman"/>
              </a:rPr>
              <a:t>, </a:t>
            </a:r>
            <a:r>
              <a:rPr sz="650" b="0" i="1">
                <a:solidFill>
                  <a:srgbClr val="A65E1A"/>
                </a:solidFill>
                <a:latin typeface="Times New Roman"/>
              </a:rPr>
              <a:t>τ</a:t>
            </a:r>
            <a:r>
              <a:rPr sz="650" b="0" i="1" baseline="-25000">
                <a:solidFill>
                  <a:srgbClr val="A65E1A"/>
                </a:solidFill>
                <a:latin typeface="Times New Roman"/>
              </a:rPr>
              <a:t>g</a:t>
            </a:r>
            <a:r>
              <a:rPr sz="650" b="0" i="0">
                <a:solidFill>
                  <a:srgbClr val="A65E1A"/>
                </a:solidFill>
                <a:latin typeface="Times New Roman"/>
              </a:rPr>
              <a:t>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63040" y="1243584"/>
            <a:ext cx="256032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30" b="0" i="0">
                <a:solidFill>
                  <a:srgbClr val="A65E1A"/>
                </a:solidFill>
                <a:latin typeface="Times New Roman"/>
              </a:rPr>
              <a:t>unroll over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n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 ≥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D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g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 steps, legal gear chosen at every step</a:t>
            </a:r>
          </a:p>
        </p:txBody>
      </p:sp>
      <p:sp>
        <p:nvSpPr>
          <p:cNvPr id="155" name="unroll_step_0"/>
          <p:cNvSpPr/>
          <p:nvPr/>
        </p:nvSpPr>
        <p:spPr>
          <a:xfrm>
            <a:off x="1463040" y="1426464"/>
            <a:ext cx="20116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156" name="unroll_step_1"/>
          <p:cNvSpPr/>
          <p:nvPr/>
        </p:nvSpPr>
        <p:spPr>
          <a:xfrm>
            <a:off x="1709928" y="1426464"/>
            <a:ext cx="201168" cy="182880"/>
          </a:xfrm>
          <a:prstGeom prst="roundRect">
            <a:avLst>
              <a:gd name="adj" fmla="val 20000"/>
            </a:avLst>
          </a:prstGeom>
          <a:solidFill>
            <a:srgbClr val="FBEFE3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0">
                <a:solidFill>
                  <a:srgbClr val="000000"/>
                </a:solidFill>
                <a:latin typeface="Times New Roman"/>
              </a:rPr>
              <a:t>*</a:t>
            </a:r>
          </a:p>
        </p:txBody>
      </p:sp>
      <p:sp>
        <p:nvSpPr>
          <p:cNvPr id="157" name="unroll_step_2"/>
          <p:cNvSpPr/>
          <p:nvPr/>
        </p:nvSpPr>
        <p:spPr>
          <a:xfrm>
            <a:off x="1956816" y="1426464"/>
            <a:ext cx="201168" cy="182880"/>
          </a:xfrm>
          <a:prstGeom prst="roundRect">
            <a:avLst>
              <a:gd name="adj" fmla="val 20000"/>
            </a:avLst>
          </a:prstGeom>
          <a:solidFill>
            <a:srgbClr val="FBEFE3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0">
                <a:solidFill>
                  <a:srgbClr val="000000"/>
                </a:solidFill>
                <a:latin typeface="Times New Roman"/>
              </a:rPr>
              <a:t>*</a:t>
            </a:r>
          </a:p>
        </p:txBody>
      </p:sp>
      <p:sp>
        <p:nvSpPr>
          <p:cNvPr id="158" name="unroll_step_3"/>
          <p:cNvSpPr/>
          <p:nvPr/>
        </p:nvSpPr>
        <p:spPr>
          <a:xfrm>
            <a:off x="2203704" y="1426464"/>
            <a:ext cx="201168" cy="182880"/>
          </a:xfrm>
          <a:prstGeom prst="roundRect">
            <a:avLst>
              <a:gd name="adj" fmla="val 20000"/>
            </a:avLst>
          </a:prstGeom>
          <a:solidFill>
            <a:srgbClr val="FBEFE3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0">
                <a:solidFill>
                  <a:srgbClr val="000000"/>
                </a:solidFill>
                <a:latin typeface="Times New Roman"/>
              </a:rPr>
              <a:t>*</a:t>
            </a:r>
          </a:p>
        </p:txBody>
      </p:sp>
      <p:sp>
        <p:nvSpPr>
          <p:cNvPr id="159" name="unroll_step_4"/>
          <p:cNvSpPr/>
          <p:nvPr/>
        </p:nvSpPr>
        <p:spPr>
          <a:xfrm>
            <a:off x="2450592" y="1426464"/>
            <a:ext cx="201168" cy="182880"/>
          </a:xfrm>
          <a:prstGeom prst="roundRect">
            <a:avLst>
              <a:gd name="adj" fmla="val 20000"/>
            </a:avLst>
          </a:prstGeom>
          <a:solidFill>
            <a:srgbClr val="FBEFE3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0">
                <a:solidFill>
                  <a:srgbClr val="000000"/>
                </a:solidFill>
                <a:latin typeface="Times New Roman"/>
              </a:rPr>
              <a:t>*</a:t>
            </a:r>
          </a:p>
        </p:txBody>
      </p:sp>
      <p:sp>
        <p:nvSpPr>
          <p:cNvPr id="160" name="unroll_step_5"/>
          <p:cNvSpPr/>
          <p:nvPr/>
        </p:nvSpPr>
        <p:spPr>
          <a:xfrm>
            <a:off x="2697480" y="1426464"/>
            <a:ext cx="201168" cy="182880"/>
          </a:xfrm>
          <a:prstGeom prst="roundRect">
            <a:avLst>
              <a:gd name="adj" fmla="val 20000"/>
            </a:avLst>
          </a:prstGeom>
          <a:solidFill>
            <a:srgbClr val="FBEFE3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1664208" y="1517904"/>
            <a:ext cx="45720" cy="0"/>
          </a:xfrm>
          <a:prstGeom prst="line">
            <a:avLst/>
          </a:prstGeom>
          <a:ln w="762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911096" y="1517904"/>
            <a:ext cx="45720" cy="0"/>
          </a:xfrm>
          <a:prstGeom prst="line">
            <a:avLst/>
          </a:prstGeom>
          <a:ln w="762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157984" y="1517904"/>
            <a:ext cx="45720" cy="0"/>
          </a:xfrm>
          <a:prstGeom prst="line">
            <a:avLst/>
          </a:prstGeom>
          <a:ln w="762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2404872" y="1517904"/>
            <a:ext cx="45720" cy="0"/>
          </a:xfrm>
          <a:prstGeom prst="line">
            <a:avLst/>
          </a:prstGeom>
          <a:ln w="762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2651760" y="1517904"/>
            <a:ext cx="45720" cy="0"/>
          </a:xfrm>
          <a:prstGeom prst="line">
            <a:avLst/>
          </a:prstGeom>
          <a:ln w="762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944368" y="1517904"/>
            <a:ext cx="91440" cy="0"/>
          </a:xfrm>
          <a:prstGeom prst="line">
            <a:avLst/>
          </a:prstGeom>
          <a:ln w="762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bootstrap"/>
          <p:cNvSpPr/>
          <p:nvPr/>
        </p:nvSpPr>
        <p:spPr>
          <a:xfrm>
            <a:off x="3035808" y="1417320"/>
            <a:ext cx="274320" cy="201168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" b="0" i="1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3150108" y="1467612"/>
            <a:ext cx="64008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3328416" y="1444752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580" b="0" i="0">
                <a:solidFill>
                  <a:srgbClr val="6B6B6B"/>
                </a:solidFill>
                <a:latin typeface="Times New Roman"/>
              </a:rPr>
              <a:t>bootstrap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463040" y="1618488"/>
            <a:ext cx="148132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90" b="0" i="1">
                <a:solidFill>
                  <a:srgbClr val="6B6B6B"/>
                </a:solidFill>
                <a:latin typeface="Times New Roman"/>
              </a:rPr>
              <a:t>π</a:t>
            </a:r>
            <a:r>
              <a:rPr sz="590" b="0" i="1" baseline="-25000">
                <a:solidFill>
                  <a:srgbClr val="6B6B6B"/>
                </a:solidFill>
                <a:latin typeface="Times New Roman"/>
              </a:rPr>
              <a:t>h</a:t>
            </a:r>
            <a:r>
              <a:rPr sz="590" b="0" i="0">
                <a:solidFill>
                  <a:srgbClr val="6B6B6B"/>
                </a:solidFill>
                <a:latin typeface="Times New Roman"/>
              </a:rPr>
              <a:t> and </a:t>
            </a:r>
            <a:r>
              <a:rPr sz="590" b="0" i="1">
                <a:solidFill>
                  <a:srgbClr val="6B6B6B"/>
                </a:solidFill>
                <a:latin typeface="Times New Roman"/>
              </a:rPr>
              <a:t>μ</a:t>
            </a:r>
            <a:r>
              <a:rPr sz="590" b="0" i="0">
                <a:solidFill>
                  <a:srgbClr val="6B6B6B"/>
                </a:solidFill>
                <a:latin typeface="Times New Roman"/>
              </a:rPr>
              <a:t> act at every step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1463040" y="1810512"/>
            <a:ext cx="1709928" cy="0"/>
          </a:xfrm>
          <a:prstGeom prst="line">
            <a:avLst/>
          </a:prstGeom>
          <a:ln w="1016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2011680" y="1801368"/>
            <a:ext cx="128016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590" b="0" i="0">
                <a:solidFill>
                  <a:srgbClr val="A65E1A"/>
                </a:solidFill>
                <a:latin typeface="Times New Roman"/>
              </a:rPr>
              <a:t>backward fold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316736" y="1901952"/>
            <a:ext cx="269748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30" b="0" i="1">
                <a:solidFill>
                  <a:srgbClr val="A65E1A"/>
                </a:solidFill>
                <a:latin typeface="Times New Roman"/>
              </a:rPr>
              <a:t>y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j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 = (1 −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γ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h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)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h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j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 +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γ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h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 min{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h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j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,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y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j+1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},  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y</a:t>
            </a:r>
            <a:r>
              <a:rPr sz="630" b="0" i="0">
                <a:solidFill>
                  <a:srgbClr val="A65E1A"/>
                </a:solidFill>
                <a:latin typeface="Times New Roman"/>
              </a:rPr>
              <a:t> = </a:t>
            </a:r>
            <a:r>
              <a:rPr sz="630" b="0" i="1">
                <a:solidFill>
                  <a:srgbClr val="A65E1A"/>
                </a:solidFill>
                <a:latin typeface="Times New Roman"/>
              </a:rPr>
              <a:t>y</a:t>
            </a:r>
            <a:r>
              <a:rPr sz="630" b="0" i="1" baseline="-25000">
                <a:solidFill>
                  <a:srgbClr val="A65E1A"/>
                </a:solidFill>
                <a:latin typeface="Times New Roman"/>
              </a:rPr>
              <a:t>0</a:t>
            </a:r>
          </a:p>
        </p:txBody>
      </p:sp>
      <p:cxnSp>
        <p:nvCxnSpPr>
          <p:cNvPr id="174" name="Connector 173"/>
          <p:cNvCxnSpPr/>
          <p:nvPr/>
        </p:nvCxnSpPr>
        <p:spPr>
          <a:xfrm flipV="1">
            <a:off x="1371600" y="1024128"/>
            <a:ext cx="0" cy="402336"/>
          </a:xfrm>
          <a:prstGeom prst="line">
            <a:avLst/>
          </a:prstGeom>
          <a:ln w="11430">
            <a:solidFill>
              <a:srgbClr val="A65E1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1389888" y="1152144"/>
            <a:ext cx="36576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30" b="0" i="1">
                <a:solidFill>
                  <a:srgbClr val="A65E1A"/>
                </a:solidFill>
                <a:latin typeface="Times New Roman"/>
              </a:rPr>
              <a:t>y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024128" y="1517904"/>
            <a:ext cx="219456" cy="0"/>
          </a:xfrm>
          <a:prstGeom prst="line">
            <a:avLst/>
          </a:prstGeom>
          <a:ln w="11430">
            <a:solidFill>
              <a:srgbClr val="2E5A87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969264" y="1362456"/>
            <a:ext cx="292608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00" b="0" i="1">
                <a:solidFill>
                  <a:srgbClr val="2E5A87"/>
                </a:solidFill>
                <a:latin typeface="Times New Roman"/>
              </a:rPr>
              <a:t>c</a:t>
            </a:r>
            <a:r>
              <a:rPr sz="600" b="0" i="0">
                <a:solidFill>
                  <a:srgbClr val="2E5A87"/>
                </a:solidFill>
                <a:latin typeface="Times New Roman"/>
              </a:rPr>
              <a:t>, </a:t>
            </a:r>
            <a:r>
              <a:rPr sz="600" b="0" i="1">
                <a:solidFill>
                  <a:srgbClr val="2E5A87"/>
                </a:solidFill>
                <a:latin typeface="Times New Roman"/>
              </a:rPr>
              <a:t>w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69264" y="1536192"/>
            <a:ext cx="292608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00" b="0" i="1">
                <a:solidFill>
                  <a:srgbClr val="2E5A87"/>
                </a:solidFill>
                <a:latin typeface="Times New Roman"/>
              </a:rPr>
              <a:t>ξ</a:t>
            </a:r>
            <a:r>
              <a:rPr sz="600" b="0" i="1" baseline="-25000">
                <a:solidFill>
                  <a:srgbClr val="2E5A87"/>
                </a:solidFill>
                <a:latin typeface="Times New Roman"/>
              </a:rPr>
              <a:t>j</a:t>
            </a:r>
            <a:r>
              <a:rPr sz="600" b="0" i="0">
                <a:solidFill>
                  <a:srgbClr val="2E5A87"/>
                </a:solidFill>
                <a:latin typeface="Times New Roman"/>
              </a:rPr>
              <a:t>, </a:t>
            </a:r>
            <a:r>
              <a:rPr sz="600" b="0" i="1">
                <a:solidFill>
                  <a:srgbClr val="2E5A87"/>
                </a:solidFill>
                <a:latin typeface="Times New Roman"/>
              </a:rPr>
              <a:t>h</a:t>
            </a:r>
            <a:r>
              <a:rPr sz="600" b="0" i="1" baseline="-25000">
                <a:solidFill>
                  <a:srgbClr val="2E5A87"/>
                </a:solidFill>
                <a:latin typeface="Times New Roman"/>
              </a:rPr>
              <a:t>j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4151376" y="1133856"/>
            <a:ext cx="365760" cy="0"/>
          </a:xfrm>
          <a:prstGeom prst="line">
            <a:avLst/>
          </a:prstGeom>
          <a:ln w="1778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4133088" y="914400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50" b="0" i="0">
                <a:solidFill>
                  <a:srgbClr val="000000"/>
                </a:solidFill>
                <a:latin typeface="Times New Roman"/>
              </a:rPr>
              <a:t>deploy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133088" y="1188720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50" b="0" i="0">
                <a:solidFill>
                  <a:srgbClr val="6B6B6B"/>
                </a:solidFill>
                <a:latin typeface="Times New Roman"/>
              </a:rPr>
              <a:t>frozen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626864" y="384048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2F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000000"/>
                </a:solidFill>
                <a:latin typeface="Times New Roman"/>
              </a:rPr>
              <a:t>EKF</a:t>
            </a:r>
          </a:p>
        </p:txBody>
      </p:sp>
      <p:grpSp>
        <p:nvGrpSpPr>
          <p:cNvPr id="183" name="safety_policy_onboard"/>
          <p:cNvGrpSpPr/>
          <p:nvPr/>
        </p:nvGrpSpPr>
        <p:grpSpPr>
          <a:xfrm>
            <a:off x="5248656" y="365760"/>
            <a:ext cx="420624" cy="292608"/>
            <a:chOff x="5248656" y="365760"/>
            <a:chExt cx="420624" cy="292608"/>
          </a:xfrm>
        </p:grpSpPr>
        <p:sp>
          <p:nvSpPr>
            <p:cNvPr id="184" name="Rounded Rectangle 183"/>
            <p:cNvSpPr/>
            <p:nvPr/>
          </p:nvSpPr>
          <p:spPr>
            <a:xfrm>
              <a:off x="5248656" y="365760"/>
              <a:ext cx="420624" cy="29260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8890">
              <a:solidFill>
                <a:srgbClr val="A65E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5" name="Connector 184"/>
            <p:cNvCxnSpPr/>
            <p:nvPr/>
          </p:nvCxnSpPr>
          <p:spPr>
            <a:xfrm flipV="1">
              <a:off x="5312664" y="411480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>
              <a:off x="5312664" y="445008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>
              <a:off x="5312664" y="445008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>
              <a:off x="5312664" y="445008"/>
              <a:ext cx="146304" cy="1676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5312664" y="411480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5312664" y="478536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>
              <a:off x="5312664" y="512064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>
              <a:off x="5312664" y="512064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ctor 192"/>
            <p:cNvCxnSpPr/>
            <p:nvPr/>
          </p:nvCxnSpPr>
          <p:spPr>
            <a:xfrm flipV="1">
              <a:off x="5312664" y="411480"/>
              <a:ext cx="146304" cy="1676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or 193"/>
            <p:cNvCxnSpPr/>
            <p:nvPr/>
          </p:nvCxnSpPr>
          <p:spPr>
            <a:xfrm flipV="1">
              <a:off x="5312664" y="478536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ctor 194"/>
            <p:cNvCxnSpPr/>
            <p:nvPr/>
          </p:nvCxnSpPr>
          <p:spPr>
            <a:xfrm flipV="1">
              <a:off x="5312664" y="545592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5"/>
            <p:cNvCxnSpPr/>
            <p:nvPr/>
          </p:nvCxnSpPr>
          <p:spPr>
            <a:xfrm>
              <a:off x="5312664" y="579120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196"/>
            <p:cNvCxnSpPr/>
            <p:nvPr/>
          </p:nvCxnSpPr>
          <p:spPr>
            <a:xfrm>
              <a:off x="5458968" y="411480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 197"/>
            <p:cNvCxnSpPr/>
            <p:nvPr/>
          </p:nvCxnSpPr>
          <p:spPr>
            <a:xfrm>
              <a:off x="5458968" y="411480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98"/>
            <p:cNvCxnSpPr/>
            <p:nvPr/>
          </p:nvCxnSpPr>
          <p:spPr>
            <a:xfrm>
              <a:off x="5458968" y="411480"/>
              <a:ext cx="146304" cy="1676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99"/>
            <p:cNvCxnSpPr/>
            <p:nvPr/>
          </p:nvCxnSpPr>
          <p:spPr>
            <a:xfrm flipV="1">
              <a:off x="5458968" y="445008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200"/>
            <p:cNvCxnSpPr/>
            <p:nvPr/>
          </p:nvCxnSpPr>
          <p:spPr>
            <a:xfrm>
              <a:off x="5458968" y="478536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201"/>
            <p:cNvCxnSpPr/>
            <p:nvPr/>
          </p:nvCxnSpPr>
          <p:spPr>
            <a:xfrm>
              <a:off x="5458968" y="478536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or 202"/>
            <p:cNvCxnSpPr/>
            <p:nvPr/>
          </p:nvCxnSpPr>
          <p:spPr>
            <a:xfrm flipV="1">
              <a:off x="5458968" y="445008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 203"/>
            <p:cNvCxnSpPr/>
            <p:nvPr/>
          </p:nvCxnSpPr>
          <p:spPr>
            <a:xfrm flipV="1">
              <a:off x="5458968" y="512064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or 204"/>
            <p:cNvCxnSpPr/>
            <p:nvPr/>
          </p:nvCxnSpPr>
          <p:spPr>
            <a:xfrm>
              <a:off x="5458968" y="545592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 205"/>
            <p:cNvCxnSpPr/>
            <p:nvPr/>
          </p:nvCxnSpPr>
          <p:spPr>
            <a:xfrm flipV="1">
              <a:off x="5458968" y="445008"/>
              <a:ext cx="146304" cy="167640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206"/>
            <p:cNvCxnSpPr/>
            <p:nvPr/>
          </p:nvCxnSpPr>
          <p:spPr>
            <a:xfrm flipV="1">
              <a:off x="5458968" y="512064"/>
              <a:ext cx="146304" cy="100584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ctor 207"/>
            <p:cNvCxnSpPr/>
            <p:nvPr/>
          </p:nvCxnSpPr>
          <p:spPr>
            <a:xfrm flipV="1">
              <a:off x="5458968" y="579120"/>
              <a:ext cx="146304" cy="33528"/>
            </a:xfrm>
            <a:prstGeom prst="line">
              <a:avLst/>
            </a:prstGeom>
            <a:ln w="4445">
              <a:solidFill>
                <a:srgbClr val="E3B48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Oval 208"/>
            <p:cNvSpPr/>
            <p:nvPr/>
          </p:nvSpPr>
          <p:spPr>
            <a:xfrm>
              <a:off x="5295182" y="427526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Oval 209"/>
            <p:cNvSpPr/>
            <p:nvPr/>
          </p:nvSpPr>
          <p:spPr>
            <a:xfrm>
              <a:off x="5295182" y="494582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Oval 210"/>
            <p:cNvSpPr/>
            <p:nvPr/>
          </p:nvSpPr>
          <p:spPr>
            <a:xfrm>
              <a:off x="5295182" y="561638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5441486" y="393998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5441486" y="461054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Oval 213"/>
            <p:cNvSpPr/>
            <p:nvPr/>
          </p:nvSpPr>
          <p:spPr>
            <a:xfrm>
              <a:off x="5441486" y="528110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5441486" y="595166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Oval 215"/>
            <p:cNvSpPr/>
            <p:nvPr/>
          </p:nvSpPr>
          <p:spPr>
            <a:xfrm>
              <a:off x="5587790" y="427526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Oval 216"/>
            <p:cNvSpPr/>
            <p:nvPr/>
          </p:nvSpPr>
          <p:spPr>
            <a:xfrm>
              <a:off x="5587790" y="494582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5587790" y="561638"/>
              <a:ext cx="34962" cy="34962"/>
            </a:xfrm>
            <a:prstGeom prst="ellipse">
              <a:avLst/>
            </a:prstGeom>
            <a:solidFill>
              <a:srgbClr val="A65E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9" name="TextBox 218"/>
          <p:cNvSpPr txBox="1"/>
          <p:nvPr/>
        </p:nvSpPr>
        <p:spPr>
          <a:xfrm>
            <a:off x="5175504" y="667512"/>
            <a:ext cx="56692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" b="0" i="1">
                <a:solidFill>
                  <a:srgbClr val="000000"/>
                </a:solidFill>
                <a:latin typeface="Times New Roman"/>
              </a:rPr>
              <a:t>π</a:t>
            </a:r>
            <a:r>
              <a:rPr sz="660" b="0" i="1" baseline="-25000">
                <a:solidFill>
                  <a:srgbClr val="000000"/>
                </a:solidFill>
                <a:latin typeface="Times New Roman"/>
              </a:rPr>
              <a:t>h</a:t>
            </a:r>
            <a:r>
              <a:rPr sz="660" b="0" i="0">
                <a:solidFill>
                  <a:srgbClr val="000000"/>
                </a:solidFill>
                <a:latin typeface="Times New Roman"/>
              </a:rPr>
              <a:t>, </a:t>
            </a:r>
            <a:r>
              <a:rPr sz="660" b="0" i="1">
                <a:solidFill>
                  <a:srgbClr val="000000"/>
                </a:solidFill>
                <a:latin typeface="Times New Roman"/>
              </a:rPr>
              <a:t>Q</a:t>
            </a:r>
            <a:r>
              <a:rPr sz="660" b="0" i="1" baseline="-25000">
                <a:solidFill>
                  <a:srgbClr val="000000"/>
                </a:solidFill>
                <a:latin typeface="Times New Roman"/>
              </a:rPr>
              <a:t>h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815584" y="329184"/>
            <a:ext cx="60350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65E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0">
                <a:solidFill>
                  <a:srgbClr val="000000"/>
                </a:solidFill>
                <a:latin typeface="Times New Roman"/>
              </a:rPr>
              <a:t>legal gear</a:t>
            </a:r>
          </a:p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40" b="0" i="0">
                <a:solidFill>
                  <a:srgbClr val="000000"/>
                </a:solidFill>
                <a:latin typeface="Times New Roman"/>
              </a:rPr>
              <a:t>* = argmax </a:t>
            </a:r>
            <a:r>
              <a:rPr sz="640" b="0" i="1">
                <a:solidFill>
                  <a:srgbClr val="000000"/>
                </a:solidFill>
                <a:latin typeface="Times New Roman"/>
              </a:rPr>
              <a:t>q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5084064" y="521207"/>
            <a:ext cx="164592" cy="0"/>
          </a:xfrm>
          <a:prstGeom prst="line">
            <a:avLst/>
          </a:prstGeom>
          <a:ln w="11430">
            <a:solidFill>
              <a:srgbClr val="2F7D4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5669280" y="521207"/>
            <a:ext cx="146304" cy="0"/>
          </a:xfrm>
          <a:prstGeom prst="line">
            <a:avLst/>
          </a:prstGeom>
          <a:ln w="11430">
            <a:solidFill>
              <a:srgbClr val="2F7D4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3" name="photo_vessel" descr="fig1_vess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24128"/>
            <a:ext cx="1792224" cy="1105204"/>
          </a:xfrm>
          <a:prstGeom prst="rect">
            <a:avLst/>
          </a:prstGeom>
        </p:spPr>
      </p:pic>
      <p:cxnSp>
        <p:nvCxnSpPr>
          <p:cNvPr id="224" name="Connector 223"/>
          <p:cNvCxnSpPr/>
          <p:nvPr/>
        </p:nvCxnSpPr>
        <p:spPr>
          <a:xfrm>
            <a:off x="4690872" y="1115568"/>
            <a:ext cx="164592" cy="0"/>
          </a:xfrm>
          <a:prstGeom prst="line">
            <a:avLst/>
          </a:prstGeom>
          <a:ln w="10160">
            <a:solidFill>
              <a:srgbClr val="FFFF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690872" y="1170432"/>
            <a:ext cx="164592" cy="0"/>
          </a:xfrm>
          <a:prstGeom prst="line">
            <a:avLst/>
          </a:prstGeom>
          <a:ln w="10160">
            <a:solidFill>
              <a:srgbClr val="FFFF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690872" y="1225296"/>
            <a:ext cx="164592" cy="0"/>
          </a:xfrm>
          <a:prstGeom prst="line">
            <a:avLst/>
          </a:prstGeom>
          <a:ln w="10160">
            <a:solidFill>
              <a:srgbClr val="FFFF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4892040" y="1115568"/>
            <a:ext cx="27432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80" b="0" i="1">
                <a:solidFill>
                  <a:srgbClr val="FFFFFF"/>
                </a:solidFill>
                <a:latin typeface="Times New Roman"/>
              </a:rPr>
              <a:t>w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6117336" y="786384"/>
            <a:ext cx="0" cy="237744"/>
          </a:xfrm>
          <a:prstGeom prst="line">
            <a:avLst/>
          </a:prstGeom>
          <a:ln w="11430">
            <a:solidFill>
              <a:srgbClr val="2F7D4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6153912" y="841248"/>
            <a:ext cx="329184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60" b="0" i="1">
                <a:solidFill>
                  <a:srgbClr val="000000"/>
                </a:solidFill>
                <a:latin typeface="Times New Roman"/>
              </a:rPr>
              <a:t>g</a:t>
            </a:r>
            <a:r>
              <a:rPr sz="660" b="0" i="0">
                <a:solidFill>
                  <a:srgbClr val="000000"/>
                </a:solidFill>
                <a:latin typeface="Times New Roman"/>
              </a:rPr>
              <a:t>, </a:t>
            </a:r>
            <a:r>
              <a:rPr sz="660" b="0" i="1">
                <a:solidFill>
                  <a:srgbClr val="000000"/>
                </a:solidFill>
                <a:latin typeface="Times New Roman"/>
              </a:rPr>
              <a:t>δ</a:t>
            </a:r>
          </a:p>
        </p:txBody>
      </p:sp>
      <p:cxnSp>
        <p:nvCxnSpPr>
          <p:cNvPr id="230" name="Connector 229"/>
          <p:cNvCxnSpPr/>
          <p:nvPr/>
        </p:nvCxnSpPr>
        <p:spPr>
          <a:xfrm flipV="1">
            <a:off x="4855464" y="658368"/>
            <a:ext cx="0" cy="365760"/>
          </a:xfrm>
          <a:prstGeom prst="line">
            <a:avLst/>
          </a:prstGeom>
          <a:ln w="11430">
            <a:solidFill>
              <a:srgbClr val="2F7D4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4892040" y="841248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6B6B6B"/>
                </a:solidFill>
                <a:latin typeface="Times New Roman"/>
              </a:rPr>
              <a:t>GPS, AHRS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