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w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rate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w</a:t>
            </a:r>
          </a:p>
        </p:txBody>
      </p:sp>
      <p:sp>
        <p:nvSpPr>
          <p:cNvPr id="18" name="rl_smdp"/>
          <p:cNvSpPr/>
          <p:nvPr/>
        </p:nvSpPr>
        <p:spPr>
          <a:xfrm>
            <a:off x="1243584" y="310896"/>
            <a:ext cx="2816352" cy="1810512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Dwell constrained RIS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by adversarial RL with legality masking</a:t>
            </a:r>
          </a:p>
        </p:txBody>
      </p:sp>
      <p:grpSp>
        <p:nvGrpSpPr>
          <p:cNvPr id="20" name="critic_2"/>
          <p:cNvGrpSpPr/>
          <p:nvPr/>
        </p:nvGrpSpPr>
        <p:grpSpPr>
          <a:xfrm>
            <a:off x="1481328" y="585216"/>
            <a:ext cx="512064" cy="384048"/>
            <a:chOff x="1481328" y="585216"/>
            <a:chExt cx="512064" cy="384048"/>
          </a:xfrm>
        </p:grpSpPr>
        <p:sp>
          <p:nvSpPr>
            <p:cNvPr id="21" name="Rounded Rectangle 20"/>
            <p:cNvSpPr/>
            <p:nvPr/>
          </p:nvSpPr>
          <p:spPr>
            <a:xfrm>
              <a:off x="1481328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545336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545336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545336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545336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1545336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1545336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1545336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1545336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V="1">
              <a:off x="1545336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1545336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545336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545336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1737360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1737360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1737360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 flipV="1">
              <a:off x="1737360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1737360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737360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V="1">
              <a:off x="1737360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1737360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1737360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737360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1737360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1737360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/>
            <p:cNvSpPr/>
            <p:nvPr/>
          </p:nvSpPr>
          <p:spPr>
            <a:xfrm>
              <a:off x="1521131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21131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21131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713155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713155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713155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713155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90517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90517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90517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" name="critic_1"/>
          <p:cNvGrpSpPr/>
          <p:nvPr/>
        </p:nvGrpSpPr>
        <p:grpSpPr>
          <a:xfrm>
            <a:off x="1426464" y="640080"/>
            <a:ext cx="512064" cy="384048"/>
            <a:chOff x="1426464" y="640080"/>
            <a:chExt cx="512064" cy="384048"/>
          </a:xfrm>
        </p:grpSpPr>
        <p:sp>
          <p:nvSpPr>
            <p:cNvPr id="57" name="Rounded Rectangle 56"/>
            <p:cNvSpPr/>
            <p:nvPr/>
          </p:nvSpPr>
          <p:spPr>
            <a:xfrm>
              <a:off x="1426464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 flipV="1">
              <a:off x="1490472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>
              <a:off x="1490472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490472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490472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1490472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490472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>
              <a:off x="1490472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490472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V="1">
              <a:off x="1490472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490472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490472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1490472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682496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1682496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1682496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 flipV="1">
              <a:off x="1682496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1682496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1682496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1682496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1682496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1682496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 flipV="1">
              <a:off x="1682496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1682496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1682496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1466267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1466267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466267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658291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1658291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1658291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658291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85031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85031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185031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1335024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grpSp>
        <p:nvGrpSpPr>
          <p:cNvPr id="93" name="protagonist"/>
          <p:cNvGrpSpPr/>
          <p:nvPr/>
        </p:nvGrpSpPr>
        <p:grpSpPr>
          <a:xfrm>
            <a:off x="2286000" y="548640"/>
            <a:ext cx="402336" cy="274320"/>
            <a:chOff x="2286000" y="548640"/>
            <a:chExt cx="402336" cy="274320"/>
          </a:xfrm>
        </p:grpSpPr>
        <p:sp>
          <p:nvSpPr>
            <p:cNvPr id="94" name="Rounded Rectangle 93"/>
            <p:cNvSpPr/>
            <p:nvPr/>
          </p:nvSpPr>
          <p:spPr>
            <a:xfrm>
              <a:off x="2286000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2350008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V="1"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350008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V="1"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V="1"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>
              <a:off x="2350008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2487168" y="59436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487168" y="59436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V="1">
              <a:off x="2487168" y="64008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487168" y="68580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487168" y="64008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 flipV="1">
              <a:off x="2487168" y="73152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Oval 109"/>
            <p:cNvSpPr/>
            <p:nvPr/>
          </p:nvSpPr>
          <p:spPr>
            <a:xfrm>
              <a:off x="232849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232849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232849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46565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46565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46565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602812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602812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" name="adversary"/>
          <p:cNvGrpSpPr/>
          <p:nvPr/>
        </p:nvGrpSpPr>
        <p:grpSpPr>
          <a:xfrm>
            <a:off x="2286000" y="896112"/>
            <a:ext cx="402336" cy="274320"/>
            <a:chOff x="2286000" y="896112"/>
            <a:chExt cx="402336" cy="274320"/>
          </a:xfrm>
        </p:grpSpPr>
        <p:sp>
          <p:nvSpPr>
            <p:cNvPr id="119" name="Rounded Rectangle 118"/>
            <p:cNvSpPr/>
            <p:nvPr/>
          </p:nvSpPr>
          <p:spPr>
            <a:xfrm>
              <a:off x="2286000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2350008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 flipV="1"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350008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V="1"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V="1"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>
              <a:off x="2350008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>
              <a:off x="2487168" y="94183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487168" y="941831"/>
              <a:ext cx="137159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V="1">
              <a:off x="2487168" y="98755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487168" y="1033271"/>
              <a:ext cx="137159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487168" y="987551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 flipV="1">
              <a:off x="2487168" y="1078992"/>
              <a:ext cx="137159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Oval 134"/>
            <p:cNvSpPr/>
            <p:nvPr/>
          </p:nvSpPr>
          <p:spPr>
            <a:xfrm>
              <a:off x="232849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Oval 135"/>
            <p:cNvSpPr/>
            <p:nvPr/>
          </p:nvSpPr>
          <p:spPr>
            <a:xfrm>
              <a:off x="232849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232849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46565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46565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46565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602812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602812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3" name="TextBox 142"/>
          <p:cNvSpPr txBox="1"/>
          <p:nvPr/>
        </p:nvSpPr>
        <p:spPr>
          <a:xfrm>
            <a:off x="2706624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06624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5" name="Connector 144"/>
          <p:cNvCxnSpPr/>
          <p:nvPr/>
        </p:nvCxnSpPr>
        <p:spPr>
          <a:xfrm flipV="1">
            <a:off x="1993392" y="685800"/>
            <a:ext cx="292608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993392" y="896112"/>
            <a:ext cx="292608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29184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8328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47472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6732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758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2958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0954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463040" y="1243584"/>
            <a:ext cx="25603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0">
                <a:solidFill>
                  <a:srgbClr val="A65E1A"/>
                </a:solidFill>
                <a:latin typeface="Times New Roman"/>
              </a:rPr>
              <a:t>unroll over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n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≥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D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steps, legal gear chosen at every step</a:t>
            </a:r>
          </a:p>
        </p:txBody>
      </p:sp>
      <p:sp>
        <p:nvSpPr>
          <p:cNvPr id="155" name="unroll_step_0"/>
          <p:cNvSpPr/>
          <p:nvPr/>
        </p:nvSpPr>
        <p:spPr>
          <a:xfrm>
            <a:off x="146304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1" baseline="-25000">
                <a:solidFill>
                  <a:srgbClr val="000000"/>
                </a:solidFill>
                <a:latin typeface="Times New Roman"/>
              </a:rPr>
              <a:t>c</a:t>
            </a:r>
          </a:p>
        </p:txBody>
      </p:sp>
      <p:sp>
        <p:nvSpPr>
          <p:cNvPr id="156" name="unroll_step_1"/>
          <p:cNvSpPr/>
          <p:nvPr/>
        </p:nvSpPr>
        <p:spPr>
          <a:xfrm>
            <a:off x="1709928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</a:t>
            </a:r>
          </a:p>
        </p:txBody>
      </p:sp>
      <p:sp>
        <p:nvSpPr>
          <p:cNvPr id="157" name="unroll_step_2"/>
          <p:cNvSpPr/>
          <p:nvPr/>
        </p:nvSpPr>
        <p:spPr>
          <a:xfrm>
            <a:off x="1956816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</a:t>
            </a:r>
          </a:p>
        </p:txBody>
      </p:sp>
      <p:sp>
        <p:nvSpPr>
          <p:cNvPr id="158" name="unroll_step_3"/>
          <p:cNvSpPr/>
          <p:nvPr/>
        </p:nvSpPr>
        <p:spPr>
          <a:xfrm>
            <a:off x="2203704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</a:t>
            </a:r>
          </a:p>
        </p:txBody>
      </p:sp>
      <p:sp>
        <p:nvSpPr>
          <p:cNvPr id="159" name="unroll_step_4"/>
          <p:cNvSpPr/>
          <p:nvPr/>
        </p:nvSpPr>
        <p:spPr>
          <a:xfrm>
            <a:off x="2450592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</a:t>
            </a:r>
          </a:p>
        </p:txBody>
      </p:sp>
      <p:sp>
        <p:nvSpPr>
          <p:cNvPr id="160" name="unroll_step_5"/>
          <p:cNvSpPr/>
          <p:nvPr/>
        </p:nvSpPr>
        <p:spPr>
          <a:xfrm>
            <a:off x="269748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…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664208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11096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157984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04872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651760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44368" y="1517904"/>
            <a:ext cx="9144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ootstrap"/>
          <p:cNvSpPr/>
          <p:nvPr/>
        </p:nvSpPr>
        <p:spPr>
          <a:xfrm>
            <a:off x="3035808" y="1417320"/>
            <a:ext cx="27432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150108" y="1467612"/>
            <a:ext cx="64008" cy="0"/>
          </a:xfrm>
          <a:prstGeom prst="line">
            <a:avLst/>
          </a:prstGeom>
          <a:ln w="76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328416" y="1444752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580" b="0" i="0">
                <a:solidFill>
                  <a:srgbClr val="6B6B6B"/>
                </a:solidFill>
                <a:latin typeface="Times New Roman"/>
              </a:rPr>
              <a:t>bootstrap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63040" y="1618488"/>
            <a:ext cx="148132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1">
                <a:solidFill>
                  <a:srgbClr val="6B6B6B"/>
                </a:solidFill>
                <a:latin typeface="Times New Roman"/>
              </a:rPr>
              <a:t>π</a:t>
            </a:r>
            <a:r>
              <a:rPr sz="59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and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μ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act at every step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463040" y="1810512"/>
            <a:ext cx="1709928" cy="0"/>
          </a:xfrm>
          <a:prstGeom prst="line">
            <a:avLst/>
          </a:prstGeom>
          <a:ln w="1016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2011680" y="1801368"/>
            <a:ext cx="12801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0">
                <a:solidFill>
                  <a:srgbClr val="A65E1A"/>
                </a:solidFill>
                <a:latin typeface="Times New Roman"/>
              </a:rPr>
              <a:t>backward fold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16736" y="1901952"/>
            <a:ext cx="26974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j+1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},  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cxnSp>
        <p:nvCxnSpPr>
          <p:cNvPr id="174" name="Connector 173"/>
          <p:cNvCxnSpPr/>
          <p:nvPr/>
        </p:nvCxnSpPr>
        <p:spPr>
          <a:xfrm flipV="1">
            <a:off x="1371600" y="1024128"/>
            <a:ext cx="0" cy="402336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1389888" y="1152144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1024128" y="1517904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969264" y="1362456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c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w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9264" y="1536192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h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183" name="safety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184" name="Rounded Rectangle 183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5" name="Connector 184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ctor 192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or 193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ctor 194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ctor 195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196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ctor 197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98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Oval 210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9" name="TextBox 218"/>
          <p:cNvSpPr txBox="1"/>
          <p:nvPr/>
        </p:nvSpPr>
        <p:spPr>
          <a:xfrm>
            <a:off x="5175504" y="667512"/>
            <a:ext cx="5669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legal gear</a:t>
            </a:r>
          </a:p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 = argmax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q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3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24" name="Connector 223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w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30" name="Connector 229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GPS, AHRS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