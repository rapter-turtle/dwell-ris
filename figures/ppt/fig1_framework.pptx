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47104" cy="22402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gion_offline"/>
          <p:cNvSpPr/>
          <p:nvPr/>
        </p:nvSpPr>
        <p:spPr>
          <a:xfrm>
            <a:off x="36576" y="36576"/>
            <a:ext cx="4114800" cy="2167128"/>
          </a:xfrm>
          <a:prstGeom prst="roundRect">
            <a:avLst>
              <a:gd name="adj" fmla="val 3375"/>
            </a:avLst>
          </a:prstGeom>
          <a:solidFill>
            <a:srgbClr val="FBEFE3"/>
          </a:solidFill>
          <a:ln w="1270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gion_online"/>
          <p:cNvSpPr/>
          <p:nvPr/>
        </p:nvSpPr>
        <p:spPr>
          <a:xfrm>
            <a:off x="4517136" y="36576"/>
            <a:ext cx="1993392" cy="2167128"/>
          </a:xfrm>
          <a:prstGeom prst="roundRect">
            <a:avLst>
              <a:gd name="adj" fmla="val 3669"/>
            </a:avLst>
          </a:prstGeom>
          <a:solidFill>
            <a:srgbClr val="E7F3EC"/>
          </a:solidFill>
          <a:ln w="1270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" y="82296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A65E1A"/>
                </a:solidFill>
                <a:latin typeface="Times New Roman"/>
              </a:rPr>
              <a:t>Offline</a:t>
            </a:r>
            <a:r>
              <a:rPr sz="800" b="0" i="0">
                <a:solidFill>
                  <a:srgbClr val="A65E1A"/>
                </a:solidFill>
                <a:latin typeface="Times New Roman"/>
              </a:rPr>
              <a:t> RL training in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8576" y="82296"/>
            <a:ext cx="18288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2F7D4F"/>
                </a:solidFill>
                <a:latin typeface="Times New Roman"/>
              </a:rPr>
              <a:t>Online</a:t>
            </a:r>
            <a:r>
              <a:rPr sz="800" b="0" i="0">
                <a:solidFill>
                  <a:srgbClr val="2F7D4F"/>
                </a:solidFill>
                <a:latin typeface="Times New Roman"/>
              </a:rPr>
              <a:t> deployment on the vessel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329184"/>
            <a:ext cx="969264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2E5A87"/>
                </a:solidFill>
                <a:latin typeface="Times New Roman"/>
              </a:rPr>
              <a:t>Simulators </a:t>
            </a:r>
            <a:r>
              <a:rPr sz="700" b="0" i="0">
                <a:solidFill>
                  <a:srgbClr val="2E5A87"/>
                </a:solidFill>
                <a:latin typeface="Times New Roman"/>
              </a:rPr>
              <a:t>×</a:t>
            </a:r>
            <a:r>
              <a:rPr sz="700" b="0" i="1">
                <a:solidFill>
                  <a:srgbClr val="2E5A87"/>
                </a:solidFill>
                <a:latin typeface="Times New Roman"/>
              </a:rPr>
              <a:t>N</a:t>
            </a:r>
          </a:p>
        </p:txBody>
      </p:sp>
      <p:sp>
        <p:nvSpPr>
          <p:cNvPr id="7" name="sim_card_0"/>
          <p:cNvSpPr/>
          <p:nvPr/>
        </p:nvSpPr>
        <p:spPr>
          <a:xfrm>
            <a:off x="237744" y="640080"/>
            <a:ext cx="786384" cy="713232"/>
          </a:xfrm>
          <a:prstGeom prst="roundRect">
            <a:avLst>
              <a:gd name="adj" fmla="val 6410"/>
            </a:avLst>
          </a:prstGeom>
          <a:solidFill>
            <a:srgbClr val="D5E2E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m_card_1"/>
          <p:cNvSpPr/>
          <p:nvPr/>
        </p:nvSpPr>
        <p:spPr>
          <a:xfrm>
            <a:off x="182880" y="585215"/>
            <a:ext cx="786384" cy="713232"/>
          </a:xfrm>
          <a:prstGeom prst="roundRect">
            <a:avLst>
              <a:gd name="adj" fmla="val 6410"/>
            </a:avLst>
          </a:prstGeom>
          <a:solidFill>
            <a:srgbClr val="E8EFF6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m_card_2"/>
          <p:cNvSpPr/>
          <p:nvPr/>
        </p:nvSpPr>
        <p:spPr>
          <a:xfrm>
            <a:off x="128016" y="530352"/>
            <a:ext cx="786384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01168" y="640080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1168" y="690372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1168" y="740664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630936"/>
            <a:ext cx="45720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40" b="0" i="1">
                <a:solidFill>
                  <a:srgbClr val="6B6B6B"/>
                </a:solidFill>
                <a:latin typeface="Times New Roman"/>
              </a:rPr>
              <a:t>d</a:t>
            </a:r>
            <a:r>
              <a:rPr sz="640" b="0" i="0">
                <a:solidFill>
                  <a:srgbClr val="6B6B6B"/>
                </a:solidFill>
                <a:latin typeface="Times New Roman"/>
              </a:rPr>
              <a:t> ∈ </a:t>
            </a:r>
            <a:r>
              <a:rPr sz="640" b="0" i="0">
                <a:solidFill>
                  <a:srgbClr val="6B6B6B"/>
                </a:solidFill>
                <a:latin typeface="Cambria Math"/>
              </a:rPr>
              <a:t>𝒲</a:t>
            </a:r>
          </a:p>
        </p:txBody>
      </p:sp>
      <p:sp>
        <p:nvSpPr>
          <p:cNvPr id="14" name="boat_hull"/>
          <p:cNvSpPr/>
          <p:nvPr/>
        </p:nvSpPr>
        <p:spPr>
          <a:xfrm>
            <a:off x="274320" y="822960"/>
            <a:ext cx="530351" cy="182880"/>
          </a:xfrm>
          <a:custGeom>
            <a:avLst/>
            <a:gdLst/>
            <a:ahLst/>
            <a:cxnLst/>
            <a:rect l="l" t="t" r="r" b="b"/>
            <a:pathLst>
              <a:path w="530351" h="182880">
                <a:moveTo>
                  <a:pt x="0" y="21945"/>
                </a:moveTo>
                <a:lnTo>
                  <a:pt x="328818" y="0"/>
                </a:lnTo>
                <a:lnTo>
                  <a:pt x="456102" y="21945"/>
                </a:lnTo>
                <a:lnTo>
                  <a:pt x="530351" y="91440"/>
                </a:lnTo>
                <a:lnTo>
                  <a:pt x="456102" y="160934"/>
                </a:lnTo>
                <a:lnTo>
                  <a:pt x="328818" y="182880"/>
                </a:lnTo>
                <a:lnTo>
                  <a:pt x="0" y="160934"/>
                </a:lnTo>
                <a:close/>
              </a:path>
            </a:pathLst>
          </a:cu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oat_sterndrive"/>
          <p:cNvSpPr/>
          <p:nvPr/>
        </p:nvSpPr>
        <p:spPr>
          <a:xfrm>
            <a:off x="237195" y="892454"/>
            <a:ext cx="37125" cy="43891"/>
          </a:xfrm>
          <a:custGeom>
            <a:avLst/>
            <a:gdLst/>
            <a:ahLst/>
            <a:cxnLst/>
            <a:rect l="l" t="t" r="r" b="b"/>
            <a:pathLst>
              <a:path w="37125" h="43891">
                <a:moveTo>
                  <a:pt x="0" y="0"/>
                </a:moveTo>
                <a:lnTo>
                  <a:pt x="37125" y="0"/>
                </a:lnTo>
                <a:lnTo>
                  <a:pt x="37125" y="43891"/>
                </a:lnTo>
                <a:lnTo>
                  <a:pt x="0" y="43891"/>
                </a:lnTo>
                <a:close/>
              </a:path>
            </a:pathLst>
          </a:cu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" y="1069848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0">
                <a:solidFill>
                  <a:srgbClr val="2E5A87"/>
                </a:solidFill>
                <a:latin typeface="Times New Roman"/>
              </a:rPr>
              <a:t>dwell </a:t>
            </a:r>
            <a:r>
              <a:rPr sz="620" b="0" i="1">
                <a:solidFill>
                  <a:srgbClr val="2E5A87"/>
                </a:solidFill>
                <a:latin typeface="Times New Roman"/>
              </a:rPr>
              <a:t>D</a:t>
            </a:r>
            <a:r>
              <a:rPr sz="620" b="0" i="1" baseline="-25000">
                <a:solidFill>
                  <a:srgbClr val="2E5A87"/>
                </a:solidFill>
                <a:latin typeface="Times New Roman"/>
              </a:rPr>
              <a:t>g</a:t>
            </a:r>
            <a:r>
              <a:rPr sz="620" b="0" i="0">
                <a:solidFill>
                  <a:srgbClr val="2E5A87"/>
                </a:solidFill>
                <a:latin typeface="Times New Roman"/>
              </a:rPr>
              <a:t> masked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" y="1426464"/>
            <a:ext cx="1005840" cy="4754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gear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 ∈ {R, N, F}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steering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δ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wind and current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d</a:t>
            </a:r>
          </a:p>
        </p:txBody>
      </p:sp>
      <p:sp>
        <p:nvSpPr>
          <p:cNvPr id="18" name="stage1"/>
          <p:cNvSpPr/>
          <p:nvPr/>
        </p:nvSpPr>
        <p:spPr>
          <a:xfrm>
            <a:off x="1243584" y="310896"/>
            <a:ext cx="2816352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338328"/>
            <a:ext cx="26517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A65E1A"/>
                </a:solidFill>
                <a:latin typeface="Times New Roman"/>
              </a:rPr>
              <a:t>Stage 1</a:t>
            </a:r>
            <a:r>
              <a:rPr sz="700" b="0" i="0">
                <a:solidFill>
                  <a:srgbClr val="A65E1A"/>
                </a:solidFill>
                <a:latin typeface="Times New Roman"/>
              </a:rPr>
              <a:t>  dwell indexed RIS by adversarial RL</a:t>
            </a:r>
          </a:p>
        </p:txBody>
      </p:sp>
      <p:sp>
        <p:nvSpPr>
          <p:cNvPr id="20" name="replay_buffer"/>
          <p:cNvSpPr/>
          <p:nvPr/>
        </p:nvSpPr>
        <p:spPr>
          <a:xfrm>
            <a:off x="1335024" y="603504"/>
            <a:ext cx="402336" cy="475488"/>
          </a:xfrm>
          <a:prstGeom prst="can">
            <a:avLst/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000000"/>
                </a:solidFill>
                <a:latin typeface="Times New Roman"/>
              </a:rPr>
              <a:t>replay</a:t>
            </a:r>
          </a:p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000000"/>
                </a:solidFill>
                <a:latin typeface="Times New Roman"/>
              </a:rPr>
              <a:t>buffer</a:t>
            </a:r>
          </a:p>
        </p:txBody>
      </p:sp>
      <p:grpSp>
        <p:nvGrpSpPr>
          <p:cNvPr id="21" name="critic_2"/>
          <p:cNvGrpSpPr/>
          <p:nvPr/>
        </p:nvGrpSpPr>
        <p:grpSpPr>
          <a:xfrm>
            <a:off x="1956816" y="585216"/>
            <a:ext cx="512064" cy="384048"/>
            <a:chOff x="1956816" y="585216"/>
            <a:chExt cx="512064" cy="384048"/>
          </a:xfrm>
        </p:grpSpPr>
        <p:sp>
          <p:nvSpPr>
            <p:cNvPr id="22" name="Rounded Rectangle 21"/>
            <p:cNvSpPr/>
            <p:nvPr/>
          </p:nvSpPr>
          <p:spPr>
            <a:xfrm>
              <a:off x="1956816" y="585216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2020824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2020824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2020824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020824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 flipV="1">
              <a:off x="2020824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 flipV="1">
              <a:off x="2020824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2020824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2020824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 flipV="1">
              <a:off x="2020824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2020824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V="1">
              <a:off x="2020824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33"/>
            <p:cNvCxnSpPr/>
            <p:nvPr/>
          </p:nvCxnSpPr>
          <p:spPr>
            <a:xfrm>
              <a:off x="2020824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34"/>
            <p:cNvCxnSpPr/>
            <p:nvPr/>
          </p:nvCxnSpPr>
          <p:spPr>
            <a:xfrm>
              <a:off x="2212848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35"/>
            <p:cNvCxnSpPr/>
            <p:nvPr/>
          </p:nvCxnSpPr>
          <p:spPr>
            <a:xfrm>
              <a:off x="2212848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 36"/>
            <p:cNvCxnSpPr/>
            <p:nvPr/>
          </p:nvCxnSpPr>
          <p:spPr>
            <a:xfrm>
              <a:off x="2212848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37"/>
            <p:cNvCxnSpPr/>
            <p:nvPr/>
          </p:nvCxnSpPr>
          <p:spPr>
            <a:xfrm flipV="1">
              <a:off x="2212848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38"/>
            <p:cNvCxnSpPr/>
            <p:nvPr/>
          </p:nvCxnSpPr>
          <p:spPr>
            <a:xfrm>
              <a:off x="2212848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>
              <a:off x="2212848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V="1">
              <a:off x="2212848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V="1">
              <a:off x="2212848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42"/>
            <p:cNvCxnSpPr/>
            <p:nvPr/>
          </p:nvCxnSpPr>
          <p:spPr>
            <a:xfrm>
              <a:off x="2212848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2212848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 flipV="1">
              <a:off x="2212848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 flipV="1">
              <a:off x="2212848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Oval 46"/>
            <p:cNvSpPr/>
            <p:nvPr/>
          </p:nvSpPr>
          <p:spPr>
            <a:xfrm>
              <a:off x="1996619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1996619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996619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2188643" y="6067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2188643" y="7042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2188643" y="8018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2188643" y="89933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2380667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2380667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2380667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" name="critic_1"/>
          <p:cNvGrpSpPr/>
          <p:nvPr/>
        </p:nvGrpSpPr>
        <p:grpSpPr>
          <a:xfrm>
            <a:off x="1901952" y="640080"/>
            <a:ext cx="512064" cy="384048"/>
            <a:chOff x="1901952" y="640080"/>
            <a:chExt cx="512064" cy="384048"/>
          </a:xfrm>
        </p:grpSpPr>
        <p:sp>
          <p:nvSpPr>
            <p:cNvPr id="58" name="Rounded Rectangle 57"/>
            <p:cNvSpPr/>
            <p:nvPr/>
          </p:nvSpPr>
          <p:spPr>
            <a:xfrm>
              <a:off x="1901952" y="640080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Connector 58"/>
            <p:cNvCxnSpPr/>
            <p:nvPr/>
          </p:nvCxnSpPr>
          <p:spPr>
            <a:xfrm flipV="1">
              <a:off x="1965960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1965960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1965960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>
              <a:off x="1965960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1965960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 63"/>
            <p:cNvCxnSpPr/>
            <p:nvPr/>
          </p:nvCxnSpPr>
          <p:spPr>
            <a:xfrm flipV="1">
              <a:off x="1965960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4"/>
            <p:cNvCxnSpPr/>
            <p:nvPr/>
          </p:nvCxnSpPr>
          <p:spPr>
            <a:xfrm>
              <a:off x="1965960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5"/>
            <p:cNvCxnSpPr/>
            <p:nvPr/>
          </p:nvCxnSpPr>
          <p:spPr>
            <a:xfrm>
              <a:off x="1965960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6"/>
            <p:cNvCxnSpPr/>
            <p:nvPr/>
          </p:nvCxnSpPr>
          <p:spPr>
            <a:xfrm flipV="1">
              <a:off x="1965960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 flipV="1">
              <a:off x="1965960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 flipV="1">
              <a:off x="1965960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 69"/>
            <p:cNvCxnSpPr/>
            <p:nvPr/>
          </p:nvCxnSpPr>
          <p:spPr>
            <a:xfrm>
              <a:off x="1965960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or 70"/>
            <p:cNvCxnSpPr/>
            <p:nvPr/>
          </p:nvCxnSpPr>
          <p:spPr>
            <a:xfrm>
              <a:off x="2157984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1"/>
            <p:cNvCxnSpPr/>
            <p:nvPr/>
          </p:nvCxnSpPr>
          <p:spPr>
            <a:xfrm>
              <a:off x="2157984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72"/>
            <p:cNvCxnSpPr/>
            <p:nvPr/>
          </p:nvCxnSpPr>
          <p:spPr>
            <a:xfrm>
              <a:off x="2157984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/>
            <p:nvPr/>
          </p:nvCxnSpPr>
          <p:spPr>
            <a:xfrm flipV="1">
              <a:off x="2157984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or 74"/>
            <p:cNvCxnSpPr/>
            <p:nvPr/>
          </p:nvCxnSpPr>
          <p:spPr>
            <a:xfrm>
              <a:off x="2157984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or 75"/>
            <p:cNvCxnSpPr/>
            <p:nvPr/>
          </p:nvCxnSpPr>
          <p:spPr>
            <a:xfrm>
              <a:off x="2157984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 flipV="1">
              <a:off x="2157984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 flipV="1">
              <a:off x="2157984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or 78"/>
            <p:cNvCxnSpPr/>
            <p:nvPr/>
          </p:nvCxnSpPr>
          <p:spPr>
            <a:xfrm>
              <a:off x="2157984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 79"/>
            <p:cNvCxnSpPr/>
            <p:nvPr/>
          </p:nvCxnSpPr>
          <p:spPr>
            <a:xfrm flipV="1">
              <a:off x="2157984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80"/>
            <p:cNvCxnSpPr/>
            <p:nvPr/>
          </p:nvCxnSpPr>
          <p:spPr>
            <a:xfrm flipV="1">
              <a:off x="2157984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 81"/>
            <p:cNvCxnSpPr/>
            <p:nvPr/>
          </p:nvCxnSpPr>
          <p:spPr>
            <a:xfrm flipV="1">
              <a:off x="2157984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Oval 82"/>
            <p:cNvSpPr/>
            <p:nvPr/>
          </p:nvSpPr>
          <p:spPr>
            <a:xfrm>
              <a:off x="1941755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Oval 83"/>
            <p:cNvSpPr/>
            <p:nvPr/>
          </p:nvSpPr>
          <p:spPr>
            <a:xfrm>
              <a:off x="1941755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Oval 84"/>
            <p:cNvSpPr/>
            <p:nvPr/>
          </p:nvSpPr>
          <p:spPr>
            <a:xfrm>
              <a:off x="1941755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" name="Oval 85"/>
            <p:cNvSpPr/>
            <p:nvPr/>
          </p:nvSpPr>
          <p:spPr>
            <a:xfrm>
              <a:off x="2133779" y="66159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Oval 86"/>
            <p:cNvSpPr/>
            <p:nvPr/>
          </p:nvSpPr>
          <p:spPr>
            <a:xfrm>
              <a:off x="2133779" y="7591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Oval 87"/>
            <p:cNvSpPr/>
            <p:nvPr/>
          </p:nvSpPr>
          <p:spPr>
            <a:xfrm>
              <a:off x="2133779" y="8566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Oval 88"/>
            <p:cNvSpPr/>
            <p:nvPr/>
          </p:nvSpPr>
          <p:spPr>
            <a:xfrm>
              <a:off x="2133779" y="9542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Oval 89"/>
            <p:cNvSpPr/>
            <p:nvPr/>
          </p:nvSpPr>
          <p:spPr>
            <a:xfrm>
              <a:off x="2325803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Oval 90"/>
            <p:cNvSpPr/>
            <p:nvPr/>
          </p:nvSpPr>
          <p:spPr>
            <a:xfrm>
              <a:off x="2325803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Oval 91"/>
            <p:cNvSpPr/>
            <p:nvPr/>
          </p:nvSpPr>
          <p:spPr>
            <a:xfrm>
              <a:off x="2325803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3" name="TextBox 92"/>
          <p:cNvSpPr txBox="1"/>
          <p:nvPr/>
        </p:nvSpPr>
        <p:spPr>
          <a:xfrm>
            <a:off x="1810512" y="103327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h,1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h,2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737360" y="841247"/>
            <a:ext cx="164592" cy="0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protagonist"/>
          <p:cNvGrpSpPr/>
          <p:nvPr/>
        </p:nvGrpSpPr>
        <p:grpSpPr>
          <a:xfrm>
            <a:off x="2724912" y="548640"/>
            <a:ext cx="402336" cy="274320"/>
            <a:chOff x="2724912" y="548640"/>
            <a:chExt cx="402336" cy="274320"/>
          </a:xfrm>
        </p:grpSpPr>
        <p:sp>
          <p:nvSpPr>
            <p:cNvPr id="96" name="Rounded Rectangle 95"/>
            <p:cNvSpPr/>
            <p:nvPr/>
          </p:nvSpPr>
          <p:spPr>
            <a:xfrm>
              <a:off x="2724912" y="548640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Connector 96"/>
            <p:cNvCxnSpPr/>
            <p:nvPr/>
          </p:nvCxnSpPr>
          <p:spPr>
            <a:xfrm>
              <a:off x="2788920" y="59436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 97"/>
            <p:cNvCxnSpPr/>
            <p:nvPr/>
          </p:nvCxnSpPr>
          <p:spPr>
            <a:xfrm>
              <a:off x="2788920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or 98"/>
            <p:cNvCxnSpPr/>
            <p:nvPr/>
          </p:nvCxnSpPr>
          <p:spPr>
            <a:xfrm>
              <a:off x="2788920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V="1">
              <a:off x="2788920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>
              <a:off x="2788920" y="68580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>
              <a:off x="2788920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 flipV="1">
              <a:off x="2788920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 flipV="1">
              <a:off x="2788920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>
              <a:off x="2788920" y="77724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>
              <a:off x="2926080" y="594360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or 106"/>
            <p:cNvCxnSpPr/>
            <p:nvPr/>
          </p:nvCxnSpPr>
          <p:spPr>
            <a:xfrm>
              <a:off x="2926080" y="594360"/>
              <a:ext cx="137160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 107"/>
            <p:cNvCxnSpPr/>
            <p:nvPr/>
          </p:nvCxnSpPr>
          <p:spPr>
            <a:xfrm flipV="1">
              <a:off x="2926080" y="640080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or 108"/>
            <p:cNvCxnSpPr/>
            <p:nvPr/>
          </p:nvCxnSpPr>
          <p:spPr>
            <a:xfrm>
              <a:off x="2926080" y="685800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nector 109"/>
            <p:cNvCxnSpPr/>
            <p:nvPr/>
          </p:nvCxnSpPr>
          <p:spPr>
            <a:xfrm flipV="1">
              <a:off x="2926080" y="640080"/>
              <a:ext cx="137160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 110"/>
            <p:cNvCxnSpPr/>
            <p:nvPr/>
          </p:nvCxnSpPr>
          <p:spPr>
            <a:xfrm flipV="1">
              <a:off x="2926080" y="731520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Oval 111"/>
            <p:cNvSpPr/>
            <p:nvPr/>
          </p:nvSpPr>
          <p:spPr>
            <a:xfrm>
              <a:off x="2767404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>
              <a:off x="2767404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2767404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>
              <a:off x="2904564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2904564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2904564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>
              <a:off x="3041724" y="61856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Oval 118"/>
            <p:cNvSpPr/>
            <p:nvPr/>
          </p:nvSpPr>
          <p:spPr>
            <a:xfrm>
              <a:off x="3041724" y="71000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" name="adversary"/>
          <p:cNvGrpSpPr/>
          <p:nvPr/>
        </p:nvGrpSpPr>
        <p:grpSpPr>
          <a:xfrm>
            <a:off x="2724912" y="896112"/>
            <a:ext cx="402336" cy="274320"/>
            <a:chOff x="2724912" y="896112"/>
            <a:chExt cx="402336" cy="274320"/>
          </a:xfrm>
        </p:grpSpPr>
        <p:sp>
          <p:nvSpPr>
            <p:cNvPr id="121" name="Rounded Rectangle 120"/>
            <p:cNvSpPr/>
            <p:nvPr/>
          </p:nvSpPr>
          <p:spPr>
            <a:xfrm>
              <a:off x="2724912" y="896112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2" name="Connector 121"/>
            <p:cNvCxnSpPr/>
            <p:nvPr/>
          </p:nvCxnSpPr>
          <p:spPr>
            <a:xfrm>
              <a:off x="2788920" y="94183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or 122"/>
            <p:cNvCxnSpPr/>
            <p:nvPr/>
          </p:nvCxnSpPr>
          <p:spPr>
            <a:xfrm>
              <a:off x="2788920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or 123"/>
            <p:cNvCxnSpPr/>
            <p:nvPr/>
          </p:nvCxnSpPr>
          <p:spPr>
            <a:xfrm>
              <a:off x="2788920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ctor 124"/>
            <p:cNvCxnSpPr/>
            <p:nvPr/>
          </p:nvCxnSpPr>
          <p:spPr>
            <a:xfrm flipV="1">
              <a:off x="2788920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>
              <a:off x="2788920" y="103327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126"/>
            <p:cNvCxnSpPr/>
            <p:nvPr/>
          </p:nvCxnSpPr>
          <p:spPr>
            <a:xfrm>
              <a:off x="2788920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127"/>
            <p:cNvCxnSpPr/>
            <p:nvPr/>
          </p:nvCxnSpPr>
          <p:spPr>
            <a:xfrm flipV="1">
              <a:off x="2788920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ctor 128"/>
            <p:cNvCxnSpPr/>
            <p:nvPr/>
          </p:nvCxnSpPr>
          <p:spPr>
            <a:xfrm flipV="1">
              <a:off x="2788920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or 129"/>
            <p:cNvCxnSpPr/>
            <p:nvPr/>
          </p:nvCxnSpPr>
          <p:spPr>
            <a:xfrm>
              <a:off x="2788920" y="112471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130"/>
            <p:cNvCxnSpPr/>
            <p:nvPr/>
          </p:nvCxnSpPr>
          <p:spPr>
            <a:xfrm>
              <a:off x="2926080" y="941831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131"/>
            <p:cNvCxnSpPr/>
            <p:nvPr/>
          </p:nvCxnSpPr>
          <p:spPr>
            <a:xfrm>
              <a:off x="2926080" y="941831"/>
              <a:ext cx="137160" cy="137161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132"/>
            <p:cNvCxnSpPr/>
            <p:nvPr/>
          </p:nvCxnSpPr>
          <p:spPr>
            <a:xfrm flipV="1">
              <a:off x="2926080" y="987551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133"/>
            <p:cNvCxnSpPr/>
            <p:nvPr/>
          </p:nvCxnSpPr>
          <p:spPr>
            <a:xfrm>
              <a:off x="2926080" y="1033271"/>
              <a:ext cx="137160" cy="45721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ctor 134"/>
            <p:cNvCxnSpPr/>
            <p:nvPr/>
          </p:nvCxnSpPr>
          <p:spPr>
            <a:xfrm flipV="1">
              <a:off x="2926080" y="987551"/>
              <a:ext cx="137160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ctor 135"/>
            <p:cNvCxnSpPr/>
            <p:nvPr/>
          </p:nvCxnSpPr>
          <p:spPr>
            <a:xfrm flipV="1">
              <a:off x="2926080" y="1078992"/>
              <a:ext cx="137160" cy="45719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Oval 136"/>
            <p:cNvSpPr/>
            <p:nvPr/>
          </p:nvSpPr>
          <p:spPr>
            <a:xfrm>
              <a:off x="2767404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Oval 137"/>
            <p:cNvSpPr/>
            <p:nvPr/>
          </p:nvSpPr>
          <p:spPr>
            <a:xfrm>
              <a:off x="2767404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Oval 138"/>
            <p:cNvSpPr/>
            <p:nvPr/>
          </p:nvSpPr>
          <p:spPr>
            <a:xfrm>
              <a:off x="2767404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Oval 139"/>
            <p:cNvSpPr/>
            <p:nvPr/>
          </p:nvSpPr>
          <p:spPr>
            <a:xfrm>
              <a:off x="2904564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Oval 140"/>
            <p:cNvSpPr/>
            <p:nvPr/>
          </p:nvSpPr>
          <p:spPr>
            <a:xfrm>
              <a:off x="2904564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Oval 141"/>
            <p:cNvSpPr/>
            <p:nvPr/>
          </p:nvSpPr>
          <p:spPr>
            <a:xfrm>
              <a:off x="2904564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3" name="Oval 142"/>
            <p:cNvSpPr/>
            <p:nvPr/>
          </p:nvSpPr>
          <p:spPr>
            <a:xfrm>
              <a:off x="3041724" y="96603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Oval 143"/>
            <p:cNvSpPr/>
            <p:nvPr/>
          </p:nvSpPr>
          <p:spPr>
            <a:xfrm>
              <a:off x="3041724" y="105747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5" name="TextBox 144"/>
          <p:cNvSpPr txBox="1"/>
          <p:nvPr/>
        </p:nvSpPr>
        <p:spPr>
          <a:xfrm>
            <a:off x="3145536" y="539496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max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45536" y="886968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μ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min</a:t>
            </a:r>
          </a:p>
        </p:txBody>
      </p:sp>
      <p:cxnSp>
        <p:nvCxnSpPr>
          <p:cNvPr id="147" name="Connector 146"/>
          <p:cNvCxnSpPr/>
          <p:nvPr/>
        </p:nvCxnSpPr>
        <p:spPr>
          <a:xfrm flipV="1">
            <a:off x="2468880" y="685800"/>
            <a:ext cx="256032" cy="100584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468880" y="896112"/>
            <a:ext cx="256032" cy="137160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8"/>
          <p:cNvSpPr/>
          <p:nvPr/>
        </p:nvSpPr>
        <p:spPr>
          <a:xfrm>
            <a:off x="3429000" y="676656"/>
            <a:ext cx="566928" cy="365760"/>
          </a:xfrm>
          <a:prstGeom prst="ellipse">
            <a:avLst/>
          </a:prstGeom>
          <a:solidFill>
            <a:srgbClr val="A65E1A">
              <a:alpha val="16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520440" y="736092"/>
            <a:ext cx="384048" cy="246888"/>
          </a:xfrm>
          <a:prstGeom prst="ellipse">
            <a:avLst/>
          </a:prstGeom>
          <a:solidFill>
            <a:srgbClr val="A65E1A">
              <a:alpha val="30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11880" y="795527"/>
            <a:ext cx="201168" cy="128016"/>
          </a:xfrm>
          <a:prstGeom prst="ellipse">
            <a:avLst/>
          </a:prstGeom>
          <a:solidFill>
            <a:srgbClr val="A65E1A">
              <a:alpha val="55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90448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81304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666744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346704" y="53035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A65E1A"/>
                </a:solidFill>
                <a:latin typeface="Cambria Math"/>
              </a:rPr>
              <a:t>𝒮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(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τ</a:t>
            </a:r>
            <a:r>
              <a:rPr sz="650" b="0" i="1" baseline="-25000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35024" y="1161288"/>
            <a:ext cx="26517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A65E1A"/>
                </a:solidFill>
                <a:latin typeface="Times New Roman"/>
              </a:rPr>
              <a:t>one step target 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y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 = (1 −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4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)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 +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4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 min{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Q̄</a:t>
            </a:r>
            <a:r>
              <a:rPr sz="64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(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ξ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′)}</a:t>
            </a:r>
          </a:p>
        </p:txBody>
      </p:sp>
      <p:sp>
        <p:nvSpPr>
          <p:cNvPr id="157" name="stage2"/>
          <p:cNvSpPr/>
          <p:nvPr/>
        </p:nvSpPr>
        <p:spPr>
          <a:xfrm>
            <a:off x="1243584" y="1389888"/>
            <a:ext cx="2816352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316736" y="1417320"/>
            <a:ext cx="182880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A65E1A"/>
                </a:solidFill>
                <a:latin typeface="Times New Roman"/>
              </a:rPr>
              <a:t>Stage 2</a:t>
            </a:r>
            <a:r>
              <a:rPr sz="700" b="0" i="0">
                <a:solidFill>
                  <a:srgbClr val="A65E1A"/>
                </a:solidFill>
                <a:latin typeface="Times New Roman"/>
              </a:rPr>
              <a:t>  task policy by SAC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335024" y="1664208"/>
            <a:ext cx="914400" cy="32918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maximize reward</a:t>
            </a:r>
          </a:p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s.t.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 ≥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τ</a:t>
            </a:r>
          </a:p>
        </p:txBody>
      </p:sp>
      <p:grpSp>
        <p:nvGrpSpPr>
          <p:cNvPr id="160" name="task_policy"/>
          <p:cNvGrpSpPr/>
          <p:nvPr/>
        </p:nvGrpSpPr>
        <p:grpSpPr>
          <a:xfrm>
            <a:off x="2450592" y="1645920"/>
            <a:ext cx="457200" cy="329184"/>
            <a:chOff x="2450592" y="1645920"/>
            <a:chExt cx="457200" cy="329184"/>
          </a:xfrm>
        </p:grpSpPr>
        <p:sp>
          <p:nvSpPr>
            <p:cNvPr id="161" name="Rounded Rectangle 160"/>
            <p:cNvSpPr/>
            <p:nvPr/>
          </p:nvSpPr>
          <p:spPr>
            <a:xfrm>
              <a:off x="2450592" y="1645920"/>
              <a:ext cx="457200" cy="329184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2" name="Connector 161"/>
            <p:cNvCxnSpPr/>
            <p:nvPr/>
          </p:nvCxnSpPr>
          <p:spPr>
            <a:xfrm flipV="1">
              <a:off x="2514600" y="1691640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Connector 162"/>
            <p:cNvCxnSpPr/>
            <p:nvPr/>
          </p:nvCxnSpPr>
          <p:spPr>
            <a:xfrm>
              <a:off x="2514600" y="1731264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Connector 163"/>
            <p:cNvCxnSpPr/>
            <p:nvPr/>
          </p:nvCxnSpPr>
          <p:spPr>
            <a:xfrm>
              <a:off x="2514600" y="1731264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or 164"/>
            <p:cNvCxnSpPr/>
            <p:nvPr/>
          </p:nvCxnSpPr>
          <p:spPr>
            <a:xfrm>
              <a:off x="2514600" y="1731264"/>
              <a:ext cx="164592" cy="19812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nector 165"/>
            <p:cNvCxnSpPr/>
            <p:nvPr/>
          </p:nvCxnSpPr>
          <p:spPr>
            <a:xfrm flipV="1">
              <a:off x="2514600" y="1691640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 166"/>
            <p:cNvCxnSpPr/>
            <p:nvPr/>
          </p:nvCxnSpPr>
          <p:spPr>
            <a:xfrm flipV="1">
              <a:off x="2514600" y="1770888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or 167"/>
            <p:cNvCxnSpPr/>
            <p:nvPr/>
          </p:nvCxnSpPr>
          <p:spPr>
            <a:xfrm>
              <a:off x="2514600" y="1810512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or 168"/>
            <p:cNvCxnSpPr/>
            <p:nvPr/>
          </p:nvCxnSpPr>
          <p:spPr>
            <a:xfrm>
              <a:off x="2514600" y="1810512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 169"/>
            <p:cNvCxnSpPr/>
            <p:nvPr/>
          </p:nvCxnSpPr>
          <p:spPr>
            <a:xfrm flipV="1">
              <a:off x="2514600" y="1691640"/>
              <a:ext cx="164592" cy="198119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or 170"/>
            <p:cNvCxnSpPr/>
            <p:nvPr/>
          </p:nvCxnSpPr>
          <p:spPr>
            <a:xfrm flipV="1">
              <a:off x="2514600" y="1770888"/>
              <a:ext cx="164592" cy="118871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Connector 171"/>
            <p:cNvCxnSpPr/>
            <p:nvPr/>
          </p:nvCxnSpPr>
          <p:spPr>
            <a:xfrm flipV="1">
              <a:off x="2514600" y="1850136"/>
              <a:ext cx="164592" cy="39623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Connector 172"/>
            <p:cNvCxnSpPr/>
            <p:nvPr/>
          </p:nvCxnSpPr>
          <p:spPr>
            <a:xfrm>
              <a:off x="2514600" y="1889759"/>
              <a:ext cx="164592" cy="39625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or 173"/>
            <p:cNvCxnSpPr/>
            <p:nvPr/>
          </p:nvCxnSpPr>
          <p:spPr>
            <a:xfrm>
              <a:off x="2679192" y="1691640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74"/>
            <p:cNvCxnSpPr/>
            <p:nvPr/>
          </p:nvCxnSpPr>
          <p:spPr>
            <a:xfrm>
              <a:off x="2679192" y="1691640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ctor 175"/>
            <p:cNvCxnSpPr/>
            <p:nvPr/>
          </p:nvCxnSpPr>
          <p:spPr>
            <a:xfrm>
              <a:off x="2679192" y="1691640"/>
              <a:ext cx="164592" cy="198119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onnector 176"/>
            <p:cNvCxnSpPr/>
            <p:nvPr/>
          </p:nvCxnSpPr>
          <p:spPr>
            <a:xfrm flipV="1">
              <a:off x="2679192" y="1731264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Connector 177"/>
            <p:cNvCxnSpPr/>
            <p:nvPr/>
          </p:nvCxnSpPr>
          <p:spPr>
            <a:xfrm>
              <a:off x="2679192" y="1770888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ctor 178"/>
            <p:cNvCxnSpPr/>
            <p:nvPr/>
          </p:nvCxnSpPr>
          <p:spPr>
            <a:xfrm>
              <a:off x="2679192" y="1770888"/>
              <a:ext cx="164592" cy="118871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ctor 179"/>
            <p:cNvCxnSpPr/>
            <p:nvPr/>
          </p:nvCxnSpPr>
          <p:spPr>
            <a:xfrm flipV="1">
              <a:off x="2679192" y="1731264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Connector 180"/>
            <p:cNvCxnSpPr/>
            <p:nvPr/>
          </p:nvCxnSpPr>
          <p:spPr>
            <a:xfrm flipV="1">
              <a:off x="2679192" y="1810512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ctor 181"/>
            <p:cNvCxnSpPr/>
            <p:nvPr/>
          </p:nvCxnSpPr>
          <p:spPr>
            <a:xfrm>
              <a:off x="2679192" y="1850136"/>
              <a:ext cx="164592" cy="39623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ctor 182"/>
            <p:cNvCxnSpPr/>
            <p:nvPr/>
          </p:nvCxnSpPr>
          <p:spPr>
            <a:xfrm flipV="1">
              <a:off x="2679192" y="1731264"/>
              <a:ext cx="164592" cy="19812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Connector 183"/>
            <p:cNvCxnSpPr/>
            <p:nvPr/>
          </p:nvCxnSpPr>
          <p:spPr>
            <a:xfrm flipV="1">
              <a:off x="2679192" y="1810512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ctor 184"/>
            <p:cNvCxnSpPr/>
            <p:nvPr/>
          </p:nvCxnSpPr>
          <p:spPr>
            <a:xfrm flipV="1">
              <a:off x="2679192" y="1889759"/>
              <a:ext cx="164592" cy="39625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6" name="Oval 185"/>
            <p:cNvSpPr/>
            <p:nvPr/>
          </p:nvSpPr>
          <p:spPr>
            <a:xfrm>
              <a:off x="2494429" y="1711093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7" name="Oval 186"/>
            <p:cNvSpPr/>
            <p:nvPr/>
          </p:nvSpPr>
          <p:spPr>
            <a:xfrm>
              <a:off x="2494429" y="1790341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8" name="Oval 187"/>
            <p:cNvSpPr/>
            <p:nvPr/>
          </p:nvSpPr>
          <p:spPr>
            <a:xfrm>
              <a:off x="2494429" y="1869589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9" name="Oval 188"/>
            <p:cNvSpPr/>
            <p:nvPr/>
          </p:nvSpPr>
          <p:spPr>
            <a:xfrm>
              <a:off x="2659021" y="1671469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0" name="Oval 189"/>
            <p:cNvSpPr/>
            <p:nvPr/>
          </p:nvSpPr>
          <p:spPr>
            <a:xfrm>
              <a:off x="2659021" y="1750717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1" name="Oval 190"/>
            <p:cNvSpPr/>
            <p:nvPr/>
          </p:nvSpPr>
          <p:spPr>
            <a:xfrm>
              <a:off x="2659021" y="1829965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2" name="Oval 191"/>
            <p:cNvSpPr/>
            <p:nvPr/>
          </p:nvSpPr>
          <p:spPr>
            <a:xfrm>
              <a:off x="2659021" y="1909213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3" name="Oval 192"/>
            <p:cNvSpPr/>
            <p:nvPr/>
          </p:nvSpPr>
          <p:spPr>
            <a:xfrm>
              <a:off x="2823613" y="1711093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Oval 193"/>
            <p:cNvSpPr/>
            <p:nvPr/>
          </p:nvSpPr>
          <p:spPr>
            <a:xfrm>
              <a:off x="2823613" y="1790341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Oval 194"/>
            <p:cNvSpPr/>
            <p:nvPr/>
          </p:nvSpPr>
          <p:spPr>
            <a:xfrm>
              <a:off x="2823613" y="1869589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96" name="TextBox 195"/>
          <p:cNvSpPr txBox="1"/>
          <p:nvPr/>
        </p:nvSpPr>
        <p:spPr>
          <a:xfrm>
            <a:off x="2359152" y="1984248"/>
            <a:ext cx="64008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80" b="0" i="1" baseline="-25000">
                <a:solidFill>
                  <a:srgbClr val="000000"/>
                </a:solidFill>
                <a:latin typeface="Times New Roman"/>
              </a:rPr>
              <a:t>t</a:t>
            </a:r>
          </a:p>
        </p:txBody>
      </p:sp>
      <p:grpSp>
        <p:nvGrpSpPr>
          <p:cNvPr id="197" name="critic_frozen"/>
          <p:cNvGrpSpPr/>
          <p:nvPr/>
        </p:nvGrpSpPr>
        <p:grpSpPr>
          <a:xfrm>
            <a:off x="3401568" y="1645920"/>
            <a:ext cx="457200" cy="329184"/>
            <a:chOff x="3401568" y="1645920"/>
            <a:chExt cx="457200" cy="329184"/>
          </a:xfrm>
        </p:grpSpPr>
        <p:sp>
          <p:nvSpPr>
            <p:cNvPr id="198" name="Rounded Rectangle 197"/>
            <p:cNvSpPr/>
            <p:nvPr/>
          </p:nvSpPr>
          <p:spPr>
            <a:xfrm>
              <a:off x="3401568" y="1645920"/>
              <a:ext cx="457200" cy="329184"/>
            </a:xfrm>
            <a:prstGeom prst="roundRect">
              <a:avLst>
                <a:gd name="adj" fmla="val 15000"/>
              </a:avLst>
            </a:prstGeom>
            <a:solidFill>
              <a:srgbClr val="F2F2F2"/>
            </a:solidFill>
            <a:ln w="8890">
              <a:solidFill>
                <a:srgbClr val="6B6B6B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9" name="Connector 198"/>
            <p:cNvCxnSpPr/>
            <p:nvPr/>
          </p:nvCxnSpPr>
          <p:spPr>
            <a:xfrm flipV="1">
              <a:off x="3465575" y="1691640"/>
              <a:ext cx="164593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or 199"/>
            <p:cNvCxnSpPr/>
            <p:nvPr/>
          </p:nvCxnSpPr>
          <p:spPr>
            <a:xfrm>
              <a:off x="3465575" y="1731264"/>
              <a:ext cx="164593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ctor 200"/>
            <p:cNvCxnSpPr/>
            <p:nvPr/>
          </p:nvCxnSpPr>
          <p:spPr>
            <a:xfrm>
              <a:off x="3465575" y="1731264"/>
              <a:ext cx="164593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ctor 201"/>
            <p:cNvCxnSpPr/>
            <p:nvPr/>
          </p:nvCxnSpPr>
          <p:spPr>
            <a:xfrm>
              <a:off x="3465575" y="1731264"/>
              <a:ext cx="164593" cy="198120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or 202"/>
            <p:cNvCxnSpPr/>
            <p:nvPr/>
          </p:nvCxnSpPr>
          <p:spPr>
            <a:xfrm flipV="1">
              <a:off x="3465575" y="1691640"/>
              <a:ext cx="164593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ctor 203"/>
            <p:cNvCxnSpPr/>
            <p:nvPr/>
          </p:nvCxnSpPr>
          <p:spPr>
            <a:xfrm flipV="1">
              <a:off x="3465575" y="1770888"/>
              <a:ext cx="164593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ctor 204"/>
            <p:cNvCxnSpPr/>
            <p:nvPr/>
          </p:nvCxnSpPr>
          <p:spPr>
            <a:xfrm>
              <a:off x="3465575" y="1810512"/>
              <a:ext cx="164593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or 205"/>
            <p:cNvCxnSpPr/>
            <p:nvPr/>
          </p:nvCxnSpPr>
          <p:spPr>
            <a:xfrm>
              <a:off x="3465575" y="1810512"/>
              <a:ext cx="164593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206"/>
            <p:cNvCxnSpPr/>
            <p:nvPr/>
          </p:nvCxnSpPr>
          <p:spPr>
            <a:xfrm flipV="1">
              <a:off x="3465575" y="1691640"/>
              <a:ext cx="164593" cy="198119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or 207"/>
            <p:cNvCxnSpPr/>
            <p:nvPr/>
          </p:nvCxnSpPr>
          <p:spPr>
            <a:xfrm flipV="1">
              <a:off x="3465575" y="1770888"/>
              <a:ext cx="164593" cy="118871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or 208"/>
            <p:cNvCxnSpPr/>
            <p:nvPr/>
          </p:nvCxnSpPr>
          <p:spPr>
            <a:xfrm flipV="1">
              <a:off x="3465575" y="1850136"/>
              <a:ext cx="164593" cy="39623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Connector 209"/>
            <p:cNvCxnSpPr/>
            <p:nvPr/>
          </p:nvCxnSpPr>
          <p:spPr>
            <a:xfrm>
              <a:off x="3465575" y="1889759"/>
              <a:ext cx="164593" cy="39625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Connector 210"/>
            <p:cNvCxnSpPr/>
            <p:nvPr/>
          </p:nvCxnSpPr>
          <p:spPr>
            <a:xfrm>
              <a:off x="3630168" y="1691640"/>
              <a:ext cx="164591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ctor 211"/>
            <p:cNvCxnSpPr/>
            <p:nvPr/>
          </p:nvCxnSpPr>
          <p:spPr>
            <a:xfrm>
              <a:off x="3630168" y="1691640"/>
              <a:ext cx="164591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onnector 212"/>
            <p:cNvCxnSpPr/>
            <p:nvPr/>
          </p:nvCxnSpPr>
          <p:spPr>
            <a:xfrm>
              <a:off x="3630168" y="1691640"/>
              <a:ext cx="164591" cy="198119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onnector 213"/>
            <p:cNvCxnSpPr/>
            <p:nvPr/>
          </p:nvCxnSpPr>
          <p:spPr>
            <a:xfrm flipV="1">
              <a:off x="3630168" y="1731264"/>
              <a:ext cx="164591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or 214"/>
            <p:cNvCxnSpPr/>
            <p:nvPr/>
          </p:nvCxnSpPr>
          <p:spPr>
            <a:xfrm>
              <a:off x="3630168" y="1770888"/>
              <a:ext cx="164591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Connector 215"/>
            <p:cNvCxnSpPr/>
            <p:nvPr/>
          </p:nvCxnSpPr>
          <p:spPr>
            <a:xfrm>
              <a:off x="3630168" y="1770888"/>
              <a:ext cx="164591" cy="118871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Connector 216"/>
            <p:cNvCxnSpPr/>
            <p:nvPr/>
          </p:nvCxnSpPr>
          <p:spPr>
            <a:xfrm flipV="1">
              <a:off x="3630168" y="1731264"/>
              <a:ext cx="164591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Connector 217"/>
            <p:cNvCxnSpPr/>
            <p:nvPr/>
          </p:nvCxnSpPr>
          <p:spPr>
            <a:xfrm flipV="1">
              <a:off x="3630168" y="1810512"/>
              <a:ext cx="164591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Connector 218"/>
            <p:cNvCxnSpPr/>
            <p:nvPr/>
          </p:nvCxnSpPr>
          <p:spPr>
            <a:xfrm>
              <a:off x="3630168" y="1850136"/>
              <a:ext cx="164591" cy="39623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Connector 219"/>
            <p:cNvCxnSpPr/>
            <p:nvPr/>
          </p:nvCxnSpPr>
          <p:spPr>
            <a:xfrm flipV="1">
              <a:off x="3630168" y="1731264"/>
              <a:ext cx="164591" cy="198120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Connector 220"/>
            <p:cNvCxnSpPr/>
            <p:nvPr/>
          </p:nvCxnSpPr>
          <p:spPr>
            <a:xfrm flipV="1">
              <a:off x="3630168" y="1810512"/>
              <a:ext cx="164591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Connector 221"/>
            <p:cNvCxnSpPr/>
            <p:nvPr/>
          </p:nvCxnSpPr>
          <p:spPr>
            <a:xfrm flipV="1">
              <a:off x="3630168" y="1889759"/>
              <a:ext cx="164591" cy="39625"/>
            </a:xfrm>
            <a:prstGeom prst="line">
              <a:avLst/>
            </a:prstGeom>
            <a:ln w="4445">
              <a:solidFill>
                <a:srgbClr val="C8C8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3" name="Oval 222"/>
            <p:cNvSpPr/>
            <p:nvPr/>
          </p:nvSpPr>
          <p:spPr>
            <a:xfrm>
              <a:off x="3445405" y="1711093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4" name="Oval 223"/>
            <p:cNvSpPr/>
            <p:nvPr/>
          </p:nvSpPr>
          <p:spPr>
            <a:xfrm>
              <a:off x="3445405" y="1790341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5" name="Oval 224"/>
            <p:cNvSpPr/>
            <p:nvPr/>
          </p:nvSpPr>
          <p:spPr>
            <a:xfrm>
              <a:off x="3445405" y="1869589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6" name="Oval 225"/>
            <p:cNvSpPr/>
            <p:nvPr/>
          </p:nvSpPr>
          <p:spPr>
            <a:xfrm>
              <a:off x="3609997" y="1671469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7" name="Oval 226"/>
            <p:cNvSpPr/>
            <p:nvPr/>
          </p:nvSpPr>
          <p:spPr>
            <a:xfrm>
              <a:off x="3609997" y="1750717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8" name="Oval 227"/>
            <p:cNvSpPr/>
            <p:nvPr/>
          </p:nvSpPr>
          <p:spPr>
            <a:xfrm>
              <a:off x="3609997" y="1829965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Oval 228"/>
            <p:cNvSpPr/>
            <p:nvPr/>
          </p:nvSpPr>
          <p:spPr>
            <a:xfrm>
              <a:off x="3609997" y="1909213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Oval 229"/>
            <p:cNvSpPr/>
            <p:nvPr/>
          </p:nvSpPr>
          <p:spPr>
            <a:xfrm>
              <a:off x="3774589" y="1711093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Oval 230"/>
            <p:cNvSpPr/>
            <p:nvPr/>
          </p:nvSpPr>
          <p:spPr>
            <a:xfrm>
              <a:off x="3774589" y="1790341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Oval 231"/>
            <p:cNvSpPr/>
            <p:nvPr/>
          </p:nvSpPr>
          <p:spPr>
            <a:xfrm>
              <a:off x="3774589" y="1869589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3" name="TextBox 232"/>
          <p:cNvSpPr txBox="1"/>
          <p:nvPr/>
        </p:nvSpPr>
        <p:spPr>
          <a:xfrm>
            <a:off x="3264408" y="1984248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1">
                <a:solidFill>
                  <a:srgbClr val="6B6B6B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6B6B6B"/>
                </a:solidFill>
                <a:latin typeface="Times New Roman"/>
              </a:rPr>
              <a:t>h</a:t>
            </a:r>
            <a:r>
              <a:rPr sz="650" b="0" i="0">
                <a:solidFill>
                  <a:srgbClr val="6B6B6B"/>
                </a:solidFill>
                <a:latin typeface="Times New Roman"/>
              </a:rPr>
              <a:t> frozen</a:t>
            </a:r>
          </a:p>
        </p:txBody>
      </p:sp>
      <p:cxnSp>
        <p:nvCxnSpPr>
          <p:cNvPr id="234" name="Connector 233"/>
          <p:cNvCxnSpPr/>
          <p:nvPr/>
        </p:nvCxnSpPr>
        <p:spPr>
          <a:xfrm flipH="1">
            <a:off x="2907792" y="1810512"/>
            <a:ext cx="493776" cy="0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TextBox 234"/>
          <p:cNvSpPr txBox="1"/>
          <p:nvPr/>
        </p:nvSpPr>
        <p:spPr>
          <a:xfrm>
            <a:off x="2907792" y="1636776"/>
            <a:ext cx="49377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1">
                <a:solidFill>
                  <a:srgbClr val="000000"/>
                </a:solidFill>
                <a:latin typeface="Times New Roman"/>
              </a:rPr>
              <a:t>λ</a:t>
            </a:r>
            <a:r>
              <a:rPr sz="620" b="0" i="0">
                <a:solidFill>
                  <a:srgbClr val="000000"/>
                </a:solidFill>
                <a:latin typeface="Times New Roman"/>
              </a:rPr>
              <a:t> ≥ </a:t>
            </a:r>
            <a:r>
              <a:rPr sz="620" b="0" i="1">
                <a:solidFill>
                  <a:srgbClr val="000000"/>
                </a:solidFill>
                <a:latin typeface="Times New Roman"/>
              </a:rPr>
              <a:t>λ</a:t>
            </a:r>
            <a:r>
              <a:rPr sz="620" b="0" i="0" baseline="-25000">
                <a:solidFill>
                  <a:srgbClr val="000000"/>
                </a:solidFill>
                <a:latin typeface="Times New Roman"/>
              </a:rPr>
              <a:t>min</a:t>
            </a:r>
          </a:p>
        </p:txBody>
      </p:sp>
      <p:cxnSp>
        <p:nvCxnSpPr>
          <p:cNvPr id="236" name="Connector 235"/>
          <p:cNvCxnSpPr/>
          <p:nvPr/>
        </p:nvCxnSpPr>
        <p:spPr>
          <a:xfrm>
            <a:off x="3712464" y="1316736"/>
            <a:ext cx="0" cy="329184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3749040" y="1426464"/>
            <a:ext cx="45720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6B6B6B"/>
                </a:solidFill>
                <a:latin typeface="Times New Roman"/>
              </a:rPr>
              <a:t>freeze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1024128" y="841247"/>
            <a:ext cx="219456" cy="0"/>
          </a:xfrm>
          <a:prstGeom prst="line">
            <a:avLst/>
          </a:prstGeom>
          <a:ln w="11430">
            <a:solidFill>
              <a:srgbClr val="2E5A87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005840" y="685799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c, d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05840" y="859536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ξ′, h</a:t>
            </a:r>
          </a:p>
        </p:txBody>
      </p:sp>
      <p:cxnSp>
        <p:nvCxnSpPr>
          <p:cNvPr id="241" name="Connector 240"/>
          <p:cNvCxnSpPr/>
          <p:nvPr/>
        </p:nvCxnSpPr>
        <p:spPr>
          <a:xfrm>
            <a:off x="1024128" y="1755648"/>
            <a:ext cx="219456" cy="0"/>
          </a:xfrm>
          <a:prstGeom prst="line">
            <a:avLst/>
          </a:prstGeom>
          <a:ln w="11430">
            <a:solidFill>
              <a:srgbClr val="2E5A87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/>
          <p:cNvSpPr txBox="1"/>
          <p:nvPr/>
        </p:nvSpPr>
        <p:spPr>
          <a:xfrm>
            <a:off x="1005840" y="1600200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a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005840" y="1773936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ξ′, r</a:t>
            </a:r>
          </a:p>
        </p:txBody>
      </p:sp>
      <p:cxnSp>
        <p:nvCxnSpPr>
          <p:cNvPr id="244" name="Connector 243"/>
          <p:cNvCxnSpPr/>
          <p:nvPr/>
        </p:nvCxnSpPr>
        <p:spPr>
          <a:xfrm>
            <a:off x="4151376" y="1133856"/>
            <a:ext cx="365760" cy="0"/>
          </a:xfrm>
          <a:prstGeom prst="line">
            <a:avLst/>
          </a:prstGeom>
          <a:ln w="1778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TextBox 244"/>
          <p:cNvSpPr txBox="1"/>
          <p:nvPr/>
        </p:nvSpPr>
        <p:spPr>
          <a:xfrm>
            <a:off x="4133088" y="91440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deploy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4133088" y="118872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6B6B6B"/>
                </a:solidFill>
                <a:latin typeface="Times New Roman"/>
              </a:rPr>
              <a:t>frozen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4626864" y="384048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889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EKF</a:t>
            </a:r>
          </a:p>
        </p:txBody>
      </p:sp>
      <p:grpSp>
        <p:nvGrpSpPr>
          <p:cNvPr id="248" name="task_policy_onboard"/>
          <p:cNvGrpSpPr/>
          <p:nvPr/>
        </p:nvGrpSpPr>
        <p:grpSpPr>
          <a:xfrm>
            <a:off x="5248656" y="365760"/>
            <a:ext cx="420624" cy="292608"/>
            <a:chOff x="5248656" y="365760"/>
            <a:chExt cx="420624" cy="292608"/>
          </a:xfrm>
        </p:grpSpPr>
        <p:sp>
          <p:nvSpPr>
            <p:cNvPr id="249" name="Rounded Rectangle 248"/>
            <p:cNvSpPr/>
            <p:nvPr/>
          </p:nvSpPr>
          <p:spPr>
            <a:xfrm>
              <a:off x="5248656" y="365760"/>
              <a:ext cx="420624" cy="29260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0" name="Connector 249"/>
            <p:cNvCxnSpPr/>
            <p:nvPr/>
          </p:nvCxnSpPr>
          <p:spPr>
            <a:xfrm flipV="1">
              <a:off x="5312664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Connector 250"/>
            <p:cNvCxnSpPr/>
            <p:nvPr/>
          </p:nvCxnSpPr>
          <p:spPr>
            <a:xfrm>
              <a:off x="5312664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Connector 251"/>
            <p:cNvCxnSpPr/>
            <p:nvPr/>
          </p:nvCxnSpPr>
          <p:spPr>
            <a:xfrm>
              <a:off x="5312664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Connector 252"/>
            <p:cNvCxnSpPr/>
            <p:nvPr/>
          </p:nvCxnSpPr>
          <p:spPr>
            <a:xfrm>
              <a:off x="5312664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Connector 253"/>
            <p:cNvCxnSpPr/>
            <p:nvPr/>
          </p:nvCxnSpPr>
          <p:spPr>
            <a:xfrm flipV="1">
              <a:off x="5312664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Connector 254"/>
            <p:cNvCxnSpPr/>
            <p:nvPr/>
          </p:nvCxnSpPr>
          <p:spPr>
            <a:xfrm flipV="1">
              <a:off x="5312664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Connector 255"/>
            <p:cNvCxnSpPr/>
            <p:nvPr/>
          </p:nvCxnSpPr>
          <p:spPr>
            <a:xfrm>
              <a:off x="5312664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Connector 256"/>
            <p:cNvCxnSpPr/>
            <p:nvPr/>
          </p:nvCxnSpPr>
          <p:spPr>
            <a:xfrm>
              <a:off x="5312664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Connector 257"/>
            <p:cNvCxnSpPr/>
            <p:nvPr/>
          </p:nvCxnSpPr>
          <p:spPr>
            <a:xfrm flipV="1">
              <a:off x="5312664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Connector 258"/>
            <p:cNvCxnSpPr/>
            <p:nvPr/>
          </p:nvCxnSpPr>
          <p:spPr>
            <a:xfrm flipV="1">
              <a:off x="5312664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Connector 259"/>
            <p:cNvCxnSpPr/>
            <p:nvPr/>
          </p:nvCxnSpPr>
          <p:spPr>
            <a:xfrm flipV="1">
              <a:off x="5312664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Connector 260"/>
            <p:cNvCxnSpPr/>
            <p:nvPr/>
          </p:nvCxnSpPr>
          <p:spPr>
            <a:xfrm>
              <a:off x="5312664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Connector 261"/>
            <p:cNvCxnSpPr/>
            <p:nvPr/>
          </p:nvCxnSpPr>
          <p:spPr>
            <a:xfrm>
              <a:off x="5458968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Connector 262"/>
            <p:cNvCxnSpPr/>
            <p:nvPr/>
          </p:nvCxnSpPr>
          <p:spPr>
            <a:xfrm>
              <a:off x="5458968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Connector 263"/>
            <p:cNvCxnSpPr/>
            <p:nvPr/>
          </p:nvCxnSpPr>
          <p:spPr>
            <a:xfrm>
              <a:off x="5458968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Connector 264"/>
            <p:cNvCxnSpPr/>
            <p:nvPr/>
          </p:nvCxnSpPr>
          <p:spPr>
            <a:xfrm flipV="1">
              <a:off x="5458968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Connector 265"/>
            <p:cNvCxnSpPr/>
            <p:nvPr/>
          </p:nvCxnSpPr>
          <p:spPr>
            <a:xfrm>
              <a:off x="5458968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Connector 266"/>
            <p:cNvCxnSpPr/>
            <p:nvPr/>
          </p:nvCxnSpPr>
          <p:spPr>
            <a:xfrm>
              <a:off x="5458968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Connector 267"/>
            <p:cNvCxnSpPr/>
            <p:nvPr/>
          </p:nvCxnSpPr>
          <p:spPr>
            <a:xfrm flipV="1">
              <a:off x="5458968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Connector 268"/>
            <p:cNvCxnSpPr/>
            <p:nvPr/>
          </p:nvCxnSpPr>
          <p:spPr>
            <a:xfrm flipV="1">
              <a:off x="5458968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Connector 269"/>
            <p:cNvCxnSpPr/>
            <p:nvPr/>
          </p:nvCxnSpPr>
          <p:spPr>
            <a:xfrm>
              <a:off x="5458968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Connector 270"/>
            <p:cNvCxnSpPr/>
            <p:nvPr/>
          </p:nvCxnSpPr>
          <p:spPr>
            <a:xfrm flipV="1">
              <a:off x="5458968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Connector 271"/>
            <p:cNvCxnSpPr/>
            <p:nvPr/>
          </p:nvCxnSpPr>
          <p:spPr>
            <a:xfrm flipV="1">
              <a:off x="5458968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Connector 272"/>
            <p:cNvCxnSpPr/>
            <p:nvPr/>
          </p:nvCxnSpPr>
          <p:spPr>
            <a:xfrm flipV="1">
              <a:off x="5458968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4" name="Oval 273"/>
            <p:cNvSpPr/>
            <p:nvPr/>
          </p:nvSpPr>
          <p:spPr>
            <a:xfrm>
              <a:off x="5295182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5" name="Oval 274"/>
            <p:cNvSpPr/>
            <p:nvPr/>
          </p:nvSpPr>
          <p:spPr>
            <a:xfrm>
              <a:off x="5295182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6" name="Oval 275"/>
            <p:cNvSpPr/>
            <p:nvPr/>
          </p:nvSpPr>
          <p:spPr>
            <a:xfrm>
              <a:off x="5295182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7" name="Oval 276"/>
            <p:cNvSpPr/>
            <p:nvPr/>
          </p:nvSpPr>
          <p:spPr>
            <a:xfrm>
              <a:off x="5441486" y="39399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8" name="Oval 277"/>
            <p:cNvSpPr/>
            <p:nvPr/>
          </p:nvSpPr>
          <p:spPr>
            <a:xfrm>
              <a:off x="5441486" y="461054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9" name="Oval 278"/>
            <p:cNvSpPr/>
            <p:nvPr/>
          </p:nvSpPr>
          <p:spPr>
            <a:xfrm>
              <a:off x="5441486" y="528110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0" name="Oval 279"/>
            <p:cNvSpPr/>
            <p:nvPr/>
          </p:nvSpPr>
          <p:spPr>
            <a:xfrm>
              <a:off x="5441486" y="59516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1" name="Oval 280"/>
            <p:cNvSpPr/>
            <p:nvPr/>
          </p:nvSpPr>
          <p:spPr>
            <a:xfrm>
              <a:off x="5587790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2" name="Oval 281"/>
            <p:cNvSpPr/>
            <p:nvPr/>
          </p:nvSpPr>
          <p:spPr>
            <a:xfrm>
              <a:off x="5587790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3" name="Oval 282"/>
            <p:cNvSpPr/>
            <p:nvPr/>
          </p:nvSpPr>
          <p:spPr>
            <a:xfrm>
              <a:off x="5587790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84" name="TextBox 283"/>
          <p:cNvSpPr txBox="1"/>
          <p:nvPr/>
        </p:nvSpPr>
        <p:spPr>
          <a:xfrm>
            <a:off x="5248656" y="667512"/>
            <a:ext cx="420624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t</a:t>
            </a:r>
          </a:p>
        </p:txBody>
      </p:sp>
      <p:sp>
        <p:nvSpPr>
          <p:cNvPr id="285" name="Rounded Rectangle 284"/>
          <p:cNvSpPr/>
          <p:nvPr/>
        </p:nvSpPr>
        <p:spPr>
          <a:xfrm>
            <a:off x="5815584" y="329184"/>
            <a:ext cx="60350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0">
                <a:solidFill>
                  <a:srgbClr val="000000"/>
                </a:solidFill>
                <a:latin typeface="Times New Roman"/>
              </a:rPr>
              <a:t>Shield</a:t>
            </a:r>
          </a:p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 ≥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τ</a:t>
            </a:r>
          </a:p>
          <a:p>
            <a:pPr algn="ctr">
              <a:lnSpc>
                <a:spcPct val="105000"/>
              </a:lnSpc>
            </a:pPr>
            <a:r>
              <a:rPr sz="660" b="0" i="0">
                <a:solidFill>
                  <a:srgbClr val="000000"/>
                </a:solidFill>
                <a:latin typeface="Times New Roman"/>
              </a:rPr>
              <a:t>else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</p:txBody>
      </p:sp>
      <p:cxnSp>
        <p:nvCxnSpPr>
          <p:cNvPr id="286" name="Connector 285"/>
          <p:cNvCxnSpPr/>
          <p:nvPr/>
        </p:nvCxnSpPr>
        <p:spPr>
          <a:xfrm>
            <a:off x="5084064" y="521207"/>
            <a:ext cx="164592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5669280" y="521207"/>
            <a:ext cx="146304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8" name="photo_vessel" descr="fig1_ves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024128"/>
            <a:ext cx="1792224" cy="1105204"/>
          </a:xfrm>
          <a:prstGeom prst="rect">
            <a:avLst/>
          </a:prstGeom>
        </p:spPr>
      </p:pic>
      <p:cxnSp>
        <p:nvCxnSpPr>
          <p:cNvPr id="289" name="Connector 288"/>
          <p:cNvCxnSpPr/>
          <p:nvPr/>
        </p:nvCxnSpPr>
        <p:spPr>
          <a:xfrm>
            <a:off x="4690872" y="1115568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4690872" y="1170432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4690872" y="1225296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TextBox 291"/>
          <p:cNvSpPr txBox="1"/>
          <p:nvPr/>
        </p:nvSpPr>
        <p:spPr>
          <a:xfrm>
            <a:off x="4892040" y="1115568"/>
            <a:ext cx="2743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FFFFFF"/>
                </a:solidFill>
                <a:latin typeface="Times New Roman"/>
              </a:rPr>
              <a:t>d</a:t>
            </a:r>
          </a:p>
        </p:txBody>
      </p:sp>
      <p:cxnSp>
        <p:nvCxnSpPr>
          <p:cNvPr id="293" name="Connector 292"/>
          <p:cNvCxnSpPr/>
          <p:nvPr/>
        </p:nvCxnSpPr>
        <p:spPr>
          <a:xfrm>
            <a:off x="6117336" y="786384"/>
            <a:ext cx="0" cy="237744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/>
          <p:cNvSpPr txBox="1"/>
          <p:nvPr/>
        </p:nvSpPr>
        <p:spPr>
          <a:xfrm>
            <a:off x="6153912" y="841248"/>
            <a:ext cx="3291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δ</a:t>
            </a:r>
          </a:p>
        </p:txBody>
      </p:sp>
      <p:cxnSp>
        <p:nvCxnSpPr>
          <p:cNvPr id="295" name="Connector 294"/>
          <p:cNvCxnSpPr/>
          <p:nvPr/>
        </p:nvCxnSpPr>
        <p:spPr>
          <a:xfrm flipV="1">
            <a:off x="4855464" y="658368"/>
            <a:ext cx="0" cy="36576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TextBox 295"/>
          <p:cNvSpPr txBox="1"/>
          <p:nvPr/>
        </p:nvSpPr>
        <p:spPr>
          <a:xfrm>
            <a:off x="4892040" y="841248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6B6B6B"/>
                </a:solidFill>
                <a:latin typeface="Times New Roman"/>
              </a:rPr>
              <a:t>GNSS, IMU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