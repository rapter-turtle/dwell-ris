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547104" cy="22402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gion_offline"/>
          <p:cNvSpPr/>
          <p:nvPr/>
        </p:nvSpPr>
        <p:spPr>
          <a:xfrm>
            <a:off x="36576" y="36576"/>
            <a:ext cx="4114800" cy="2167128"/>
          </a:xfrm>
          <a:prstGeom prst="roundRect">
            <a:avLst>
              <a:gd name="adj" fmla="val 3375"/>
            </a:avLst>
          </a:prstGeom>
          <a:solidFill>
            <a:srgbClr val="FBEFE3"/>
          </a:solidFill>
          <a:ln w="1270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gion_online"/>
          <p:cNvSpPr/>
          <p:nvPr/>
        </p:nvSpPr>
        <p:spPr>
          <a:xfrm>
            <a:off x="4517136" y="36576"/>
            <a:ext cx="1993392" cy="2167128"/>
          </a:xfrm>
          <a:prstGeom prst="roundRect">
            <a:avLst>
              <a:gd name="adj" fmla="val 3669"/>
            </a:avLst>
          </a:prstGeom>
          <a:solidFill>
            <a:srgbClr val="E7F3EC"/>
          </a:solidFill>
          <a:ln w="12700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" y="82296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A65E1A"/>
                </a:solidFill>
                <a:latin typeface="Times New Roman"/>
              </a:rPr>
              <a:t>Offline</a:t>
            </a:r>
            <a:r>
              <a:rPr sz="800" b="0" i="0">
                <a:solidFill>
                  <a:srgbClr val="A65E1A"/>
                </a:solidFill>
                <a:latin typeface="Times New Roman"/>
              </a:rPr>
              <a:t> RL training in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8576" y="82296"/>
            <a:ext cx="18288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2F7D4F"/>
                </a:solidFill>
                <a:latin typeface="Times New Roman"/>
              </a:rPr>
              <a:t>Online</a:t>
            </a:r>
            <a:r>
              <a:rPr sz="800" b="0" i="0">
                <a:solidFill>
                  <a:srgbClr val="2F7D4F"/>
                </a:solidFill>
                <a:latin typeface="Times New Roman"/>
              </a:rPr>
              <a:t> deployment on the vessel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" y="329184"/>
            <a:ext cx="969264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2E5A87"/>
                </a:solidFill>
                <a:latin typeface="Times New Roman"/>
              </a:rPr>
              <a:t>Simulators </a:t>
            </a:r>
            <a:r>
              <a:rPr sz="700" b="0" i="0">
                <a:solidFill>
                  <a:srgbClr val="2E5A87"/>
                </a:solidFill>
                <a:latin typeface="Times New Roman"/>
              </a:rPr>
              <a:t>×</a:t>
            </a:r>
            <a:r>
              <a:rPr sz="700" b="0" i="1">
                <a:solidFill>
                  <a:srgbClr val="2E5A87"/>
                </a:solidFill>
                <a:latin typeface="Times New Roman"/>
              </a:rPr>
              <a:t>N</a:t>
            </a:r>
          </a:p>
        </p:txBody>
      </p:sp>
      <p:sp>
        <p:nvSpPr>
          <p:cNvPr id="7" name="sim_card_0"/>
          <p:cNvSpPr/>
          <p:nvPr/>
        </p:nvSpPr>
        <p:spPr>
          <a:xfrm>
            <a:off x="237744" y="640080"/>
            <a:ext cx="786384" cy="713232"/>
          </a:xfrm>
          <a:prstGeom prst="roundRect">
            <a:avLst>
              <a:gd name="adj" fmla="val 6410"/>
            </a:avLst>
          </a:prstGeom>
          <a:solidFill>
            <a:srgbClr val="D5E2EF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im_card_1"/>
          <p:cNvSpPr/>
          <p:nvPr/>
        </p:nvSpPr>
        <p:spPr>
          <a:xfrm>
            <a:off x="182880" y="585215"/>
            <a:ext cx="786384" cy="713232"/>
          </a:xfrm>
          <a:prstGeom prst="roundRect">
            <a:avLst>
              <a:gd name="adj" fmla="val 6410"/>
            </a:avLst>
          </a:prstGeom>
          <a:solidFill>
            <a:srgbClr val="E8EFF6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im_card_2"/>
          <p:cNvSpPr/>
          <p:nvPr/>
        </p:nvSpPr>
        <p:spPr>
          <a:xfrm>
            <a:off x="128016" y="530352"/>
            <a:ext cx="786384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201168" y="640080"/>
            <a:ext cx="128016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1168" y="690372"/>
            <a:ext cx="128016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1168" y="740664"/>
            <a:ext cx="128016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630936"/>
            <a:ext cx="45720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40" b="0" i="1">
                <a:solidFill>
                  <a:srgbClr val="6B6B6B"/>
                </a:solidFill>
                <a:latin typeface="Times New Roman"/>
              </a:rPr>
              <a:t>d</a:t>
            </a:r>
            <a:r>
              <a:rPr sz="640" b="0" i="0">
                <a:solidFill>
                  <a:srgbClr val="6B6B6B"/>
                </a:solidFill>
                <a:latin typeface="Times New Roman"/>
              </a:rPr>
              <a:t> ∈ </a:t>
            </a:r>
            <a:r>
              <a:rPr sz="640" b="0" i="0">
                <a:solidFill>
                  <a:srgbClr val="6B6B6B"/>
                </a:solidFill>
                <a:latin typeface="Cambria Math"/>
              </a:rPr>
              <a:t>𝒲</a:t>
            </a:r>
          </a:p>
        </p:txBody>
      </p:sp>
      <p:sp>
        <p:nvSpPr>
          <p:cNvPr id="14" name="boat_hull"/>
          <p:cNvSpPr/>
          <p:nvPr/>
        </p:nvSpPr>
        <p:spPr>
          <a:xfrm>
            <a:off x="274320" y="822960"/>
            <a:ext cx="530351" cy="182880"/>
          </a:xfrm>
          <a:custGeom>
            <a:avLst/>
            <a:gdLst/>
            <a:ahLst/>
            <a:cxnLst/>
            <a:rect l="l" t="t" r="r" b="b"/>
            <a:pathLst>
              <a:path w="530351" h="182880">
                <a:moveTo>
                  <a:pt x="0" y="21945"/>
                </a:moveTo>
                <a:lnTo>
                  <a:pt x="328818" y="0"/>
                </a:lnTo>
                <a:lnTo>
                  <a:pt x="456102" y="21945"/>
                </a:lnTo>
                <a:lnTo>
                  <a:pt x="530351" y="91440"/>
                </a:lnTo>
                <a:lnTo>
                  <a:pt x="456102" y="160934"/>
                </a:lnTo>
                <a:lnTo>
                  <a:pt x="328818" y="182880"/>
                </a:lnTo>
                <a:lnTo>
                  <a:pt x="0" y="160934"/>
                </a:lnTo>
                <a:close/>
              </a:path>
            </a:pathLst>
          </a:cu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boat_sterndrive"/>
          <p:cNvSpPr/>
          <p:nvPr/>
        </p:nvSpPr>
        <p:spPr>
          <a:xfrm>
            <a:off x="237195" y="892454"/>
            <a:ext cx="37125" cy="43891"/>
          </a:xfrm>
          <a:custGeom>
            <a:avLst/>
            <a:gdLst/>
            <a:ahLst/>
            <a:cxnLst/>
            <a:rect l="l" t="t" r="r" b="b"/>
            <a:pathLst>
              <a:path w="37125" h="43891">
                <a:moveTo>
                  <a:pt x="0" y="0"/>
                </a:moveTo>
                <a:lnTo>
                  <a:pt x="37125" y="0"/>
                </a:lnTo>
                <a:lnTo>
                  <a:pt x="37125" y="43891"/>
                </a:lnTo>
                <a:lnTo>
                  <a:pt x="0" y="43891"/>
                </a:lnTo>
                <a:close/>
              </a:path>
            </a:pathLst>
          </a:cu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" y="1069848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20" b="0" i="0">
                <a:solidFill>
                  <a:srgbClr val="2E5A87"/>
                </a:solidFill>
                <a:latin typeface="Times New Roman"/>
              </a:rPr>
              <a:t>dwell </a:t>
            </a:r>
            <a:r>
              <a:rPr sz="620" b="0" i="1">
                <a:solidFill>
                  <a:srgbClr val="2E5A87"/>
                </a:solidFill>
                <a:latin typeface="Times New Roman"/>
              </a:rPr>
              <a:t>D</a:t>
            </a:r>
            <a:r>
              <a:rPr sz="620" b="0" i="1" baseline="-25000">
                <a:solidFill>
                  <a:srgbClr val="2E5A87"/>
                </a:solidFill>
                <a:latin typeface="Times New Roman"/>
              </a:rPr>
              <a:t>g</a:t>
            </a:r>
            <a:r>
              <a:rPr sz="620" b="0" i="0">
                <a:solidFill>
                  <a:srgbClr val="2E5A87"/>
                </a:solidFill>
                <a:latin typeface="Times New Roman"/>
              </a:rPr>
              <a:t> masked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" y="1426464"/>
            <a:ext cx="1005840" cy="4754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gear </a:t>
            </a:r>
            <a:r>
              <a:rPr sz="64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40" b="0" i="0">
                <a:solidFill>
                  <a:srgbClr val="000000"/>
                </a:solidFill>
                <a:latin typeface="Times New Roman"/>
              </a:rPr>
              <a:t> ∈ {R, N, F}</a:t>
            </a:r>
          </a:p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steering </a:t>
            </a:r>
            <a:r>
              <a:rPr sz="640" b="0" i="1">
                <a:solidFill>
                  <a:srgbClr val="000000"/>
                </a:solidFill>
                <a:latin typeface="Times New Roman"/>
              </a:rPr>
              <a:t>δ</a:t>
            </a:r>
          </a:p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wind and current </a:t>
            </a:r>
            <a:r>
              <a:rPr sz="640" b="0" i="1">
                <a:solidFill>
                  <a:srgbClr val="000000"/>
                </a:solidFill>
                <a:latin typeface="Times New Roman"/>
              </a:rPr>
              <a:t>d</a:t>
            </a:r>
          </a:p>
        </p:txBody>
      </p:sp>
      <p:sp>
        <p:nvSpPr>
          <p:cNvPr id="18" name="rl_smdp"/>
          <p:cNvSpPr/>
          <p:nvPr/>
        </p:nvSpPr>
        <p:spPr>
          <a:xfrm>
            <a:off x="1243584" y="310896"/>
            <a:ext cx="2816352" cy="1810512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338328"/>
            <a:ext cx="2651760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700" b="1" i="0">
                <a:solidFill>
                  <a:srgbClr val="A65E1A"/>
                </a:solidFill>
                <a:latin typeface="Times New Roman"/>
              </a:rPr>
              <a:t>Dwell constrained RIS</a:t>
            </a:r>
            <a:r>
              <a:rPr sz="700" b="0" i="0">
                <a:solidFill>
                  <a:srgbClr val="A65E1A"/>
                </a:solidFill>
                <a:latin typeface="Times New Roman"/>
              </a:rPr>
              <a:t>  by adversarial RL on the SMDP</a:t>
            </a:r>
          </a:p>
        </p:txBody>
      </p:sp>
      <p:grpSp>
        <p:nvGrpSpPr>
          <p:cNvPr id="20" name="critic_2"/>
          <p:cNvGrpSpPr/>
          <p:nvPr/>
        </p:nvGrpSpPr>
        <p:grpSpPr>
          <a:xfrm>
            <a:off x="1481328" y="585216"/>
            <a:ext cx="512064" cy="384048"/>
            <a:chOff x="1481328" y="585216"/>
            <a:chExt cx="512064" cy="384048"/>
          </a:xfrm>
        </p:grpSpPr>
        <p:sp>
          <p:nvSpPr>
            <p:cNvPr id="21" name="Rounded Rectangle 20"/>
            <p:cNvSpPr/>
            <p:nvPr/>
          </p:nvSpPr>
          <p:spPr>
            <a:xfrm>
              <a:off x="1481328" y="585216"/>
              <a:ext cx="512064" cy="384048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Connector 21"/>
            <p:cNvCxnSpPr/>
            <p:nvPr/>
          </p:nvCxnSpPr>
          <p:spPr>
            <a:xfrm flipV="1">
              <a:off x="1545336" y="630936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1545336" y="679704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1545336" y="679704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545336" y="679704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 flipV="1">
              <a:off x="1545336" y="6309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 flipV="1">
              <a:off x="1545336" y="728472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1545336" y="7772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1545336" y="77724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 flipV="1">
              <a:off x="1545336" y="630936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 flipV="1">
              <a:off x="1545336" y="728472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 flipV="1">
              <a:off x="1545336" y="826007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 32"/>
            <p:cNvCxnSpPr/>
            <p:nvPr/>
          </p:nvCxnSpPr>
          <p:spPr>
            <a:xfrm>
              <a:off x="1545336" y="874775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or 33"/>
            <p:cNvCxnSpPr/>
            <p:nvPr/>
          </p:nvCxnSpPr>
          <p:spPr>
            <a:xfrm>
              <a:off x="1737360" y="630936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or 34"/>
            <p:cNvCxnSpPr/>
            <p:nvPr/>
          </p:nvCxnSpPr>
          <p:spPr>
            <a:xfrm>
              <a:off x="1737360" y="6309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 35"/>
            <p:cNvCxnSpPr/>
            <p:nvPr/>
          </p:nvCxnSpPr>
          <p:spPr>
            <a:xfrm>
              <a:off x="1737360" y="630936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 36"/>
            <p:cNvCxnSpPr/>
            <p:nvPr/>
          </p:nvCxnSpPr>
          <p:spPr>
            <a:xfrm flipV="1">
              <a:off x="1737360" y="679704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 37"/>
            <p:cNvCxnSpPr/>
            <p:nvPr/>
          </p:nvCxnSpPr>
          <p:spPr>
            <a:xfrm>
              <a:off x="1737360" y="728472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or 38"/>
            <p:cNvCxnSpPr/>
            <p:nvPr/>
          </p:nvCxnSpPr>
          <p:spPr>
            <a:xfrm>
              <a:off x="1737360" y="728472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/>
            <p:nvPr/>
          </p:nvCxnSpPr>
          <p:spPr>
            <a:xfrm flipV="1">
              <a:off x="1737360" y="679704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40"/>
            <p:cNvCxnSpPr/>
            <p:nvPr/>
          </p:nvCxnSpPr>
          <p:spPr>
            <a:xfrm flipV="1">
              <a:off x="1737360" y="7772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41"/>
            <p:cNvCxnSpPr/>
            <p:nvPr/>
          </p:nvCxnSpPr>
          <p:spPr>
            <a:xfrm>
              <a:off x="1737360" y="826007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 42"/>
            <p:cNvCxnSpPr/>
            <p:nvPr/>
          </p:nvCxnSpPr>
          <p:spPr>
            <a:xfrm flipV="1">
              <a:off x="1737360" y="679704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or 43"/>
            <p:cNvCxnSpPr/>
            <p:nvPr/>
          </p:nvCxnSpPr>
          <p:spPr>
            <a:xfrm flipV="1">
              <a:off x="1737360" y="77724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44"/>
            <p:cNvCxnSpPr/>
            <p:nvPr/>
          </p:nvCxnSpPr>
          <p:spPr>
            <a:xfrm flipV="1">
              <a:off x="1737360" y="874775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Oval 45"/>
            <p:cNvSpPr/>
            <p:nvPr/>
          </p:nvSpPr>
          <p:spPr>
            <a:xfrm>
              <a:off x="1521131" y="6554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1521131" y="7530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1521131" y="85057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1713155" y="60673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1713155" y="704267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1713155" y="80180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1713155" y="89933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1905179" y="6554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1905179" y="7530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Oval 54"/>
            <p:cNvSpPr/>
            <p:nvPr/>
          </p:nvSpPr>
          <p:spPr>
            <a:xfrm>
              <a:off x="1905179" y="85057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6" name="critic_1"/>
          <p:cNvGrpSpPr/>
          <p:nvPr/>
        </p:nvGrpSpPr>
        <p:grpSpPr>
          <a:xfrm>
            <a:off x="1426464" y="640080"/>
            <a:ext cx="512064" cy="384048"/>
            <a:chOff x="1426464" y="640080"/>
            <a:chExt cx="512064" cy="384048"/>
          </a:xfrm>
        </p:grpSpPr>
        <p:sp>
          <p:nvSpPr>
            <p:cNvPr id="57" name="Rounded Rectangle 56"/>
            <p:cNvSpPr/>
            <p:nvPr/>
          </p:nvSpPr>
          <p:spPr>
            <a:xfrm>
              <a:off x="1426464" y="640080"/>
              <a:ext cx="512064" cy="384048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8" name="Connector 57"/>
            <p:cNvCxnSpPr/>
            <p:nvPr/>
          </p:nvCxnSpPr>
          <p:spPr>
            <a:xfrm flipV="1">
              <a:off x="1490472" y="68580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or 58"/>
            <p:cNvCxnSpPr/>
            <p:nvPr/>
          </p:nvCxnSpPr>
          <p:spPr>
            <a:xfrm>
              <a:off x="1490472" y="734567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9"/>
            <p:cNvCxnSpPr/>
            <p:nvPr/>
          </p:nvCxnSpPr>
          <p:spPr>
            <a:xfrm>
              <a:off x="1490472" y="734567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60"/>
            <p:cNvCxnSpPr/>
            <p:nvPr/>
          </p:nvCxnSpPr>
          <p:spPr>
            <a:xfrm>
              <a:off x="1490472" y="734567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61"/>
            <p:cNvCxnSpPr/>
            <p:nvPr/>
          </p:nvCxnSpPr>
          <p:spPr>
            <a:xfrm flipV="1">
              <a:off x="1490472" y="68580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or 62"/>
            <p:cNvCxnSpPr/>
            <p:nvPr/>
          </p:nvCxnSpPr>
          <p:spPr>
            <a:xfrm flipV="1">
              <a:off x="1490472" y="783336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ctor 63"/>
            <p:cNvCxnSpPr/>
            <p:nvPr/>
          </p:nvCxnSpPr>
          <p:spPr>
            <a:xfrm>
              <a:off x="1490472" y="832103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ctor 64"/>
            <p:cNvCxnSpPr/>
            <p:nvPr/>
          </p:nvCxnSpPr>
          <p:spPr>
            <a:xfrm>
              <a:off x="1490472" y="832103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 65"/>
            <p:cNvCxnSpPr/>
            <p:nvPr/>
          </p:nvCxnSpPr>
          <p:spPr>
            <a:xfrm flipV="1">
              <a:off x="1490472" y="685800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 66"/>
            <p:cNvCxnSpPr/>
            <p:nvPr/>
          </p:nvCxnSpPr>
          <p:spPr>
            <a:xfrm flipV="1">
              <a:off x="1490472" y="7833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or 67"/>
            <p:cNvCxnSpPr/>
            <p:nvPr/>
          </p:nvCxnSpPr>
          <p:spPr>
            <a:xfrm flipV="1">
              <a:off x="1490472" y="880871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or 68"/>
            <p:cNvCxnSpPr/>
            <p:nvPr/>
          </p:nvCxnSpPr>
          <p:spPr>
            <a:xfrm>
              <a:off x="1490472" y="9296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or 69"/>
            <p:cNvCxnSpPr/>
            <p:nvPr/>
          </p:nvCxnSpPr>
          <p:spPr>
            <a:xfrm>
              <a:off x="1682496" y="68580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ctor 70"/>
            <p:cNvCxnSpPr/>
            <p:nvPr/>
          </p:nvCxnSpPr>
          <p:spPr>
            <a:xfrm>
              <a:off x="1682496" y="68580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ctor 71"/>
            <p:cNvCxnSpPr/>
            <p:nvPr/>
          </p:nvCxnSpPr>
          <p:spPr>
            <a:xfrm>
              <a:off x="1682496" y="685800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ctor 72"/>
            <p:cNvCxnSpPr/>
            <p:nvPr/>
          </p:nvCxnSpPr>
          <p:spPr>
            <a:xfrm flipV="1">
              <a:off x="1682496" y="734567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ctor 73"/>
            <p:cNvCxnSpPr/>
            <p:nvPr/>
          </p:nvCxnSpPr>
          <p:spPr>
            <a:xfrm>
              <a:off x="1682496" y="783336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or 74"/>
            <p:cNvCxnSpPr/>
            <p:nvPr/>
          </p:nvCxnSpPr>
          <p:spPr>
            <a:xfrm>
              <a:off x="1682496" y="7833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or 75"/>
            <p:cNvCxnSpPr/>
            <p:nvPr/>
          </p:nvCxnSpPr>
          <p:spPr>
            <a:xfrm flipV="1">
              <a:off x="1682496" y="734567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or 76"/>
            <p:cNvCxnSpPr/>
            <p:nvPr/>
          </p:nvCxnSpPr>
          <p:spPr>
            <a:xfrm flipV="1">
              <a:off x="1682496" y="832103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or 77"/>
            <p:cNvCxnSpPr/>
            <p:nvPr/>
          </p:nvCxnSpPr>
          <p:spPr>
            <a:xfrm>
              <a:off x="1682496" y="880871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or 78"/>
            <p:cNvCxnSpPr/>
            <p:nvPr/>
          </p:nvCxnSpPr>
          <p:spPr>
            <a:xfrm flipV="1">
              <a:off x="1682496" y="734567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or 79"/>
            <p:cNvCxnSpPr/>
            <p:nvPr/>
          </p:nvCxnSpPr>
          <p:spPr>
            <a:xfrm flipV="1">
              <a:off x="1682496" y="832103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or 80"/>
            <p:cNvCxnSpPr/>
            <p:nvPr/>
          </p:nvCxnSpPr>
          <p:spPr>
            <a:xfrm flipV="1">
              <a:off x="1682496" y="9296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Oval 81"/>
            <p:cNvSpPr/>
            <p:nvPr/>
          </p:nvSpPr>
          <p:spPr>
            <a:xfrm>
              <a:off x="1466267" y="71036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Oval 82"/>
            <p:cNvSpPr/>
            <p:nvPr/>
          </p:nvSpPr>
          <p:spPr>
            <a:xfrm>
              <a:off x="1466267" y="8078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" name="Oval 83"/>
            <p:cNvSpPr/>
            <p:nvPr/>
          </p:nvSpPr>
          <p:spPr>
            <a:xfrm>
              <a:off x="1466267" y="9054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" name="Oval 84"/>
            <p:cNvSpPr/>
            <p:nvPr/>
          </p:nvSpPr>
          <p:spPr>
            <a:xfrm>
              <a:off x="1658291" y="66159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" name="Oval 85"/>
            <p:cNvSpPr/>
            <p:nvPr/>
          </p:nvSpPr>
          <p:spPr>
            <a:xfrm>
              <a:off x="1658291" y="75913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" name="Oval 86"/>
            <p:cNvSpPr/>
            <p:nvPr/>
          </p:nvSpPr>
          <p:spPr>
            <a:xfrm>
              <a:off x="1658291" y="856667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" name="Oval 87"/>
            <p:cNvSpPr/>
            <p:nvPr/>
          </p:nvSpPr>
          <p:spPr>
            <a:xfrm>
              <a:off x="1658291" y="95420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" name="Oval 88"/>
            <p:cNvSpPr/>
            <p:nvPr/>
          </p:nvSpPr>
          <p:spPr>
            <a:xfrm>
              <a:off x="1850315" y="71036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" name="Oval 89"/>
            <p:cNvSpPr/>
            <p:nvPr/>
          </p:nvSpPr>
          <p:spPr>
            <a:xfrm>
              <a:off x="1850315" y="8078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" name="Oval 90"/>
            <p:cNvSpPr/>
            <p:nvPr/>
          </p:nvSpPr>
          <p:spPr>
            <a:xfrm>
              <a:off x="1850315" y="9054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2" name="TextBox 91"/>
          <p:cNvSpPr txBox="1"/>
          <p:nvPr/>
        </p:nvSpPr>
        <p:spPr>
          <a:xfrm>
            <a:off x="1335024" y="1033272"/>
            <a:ext cx="7315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50" b="0" i="1" baseline="-25000">
                <a:solidFill>
                  <a:srgbClr val="000000"/>
                </a:solidFill>
                <a:latin typeface="Times New Roman"/>
              </a:rPr>
              <a:t>h,1</a:t>
            </a:r>
            <a:r>
              <a:rPr sz="65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65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50" b="0" i="1" baseline="-25000">
                <a:solidFill>
                  <a:srgbClr val="000000"/>
                </a:solidFill>
                <a:latin typeface="Times New Roman"/>
              </a:rPr>
              <a:t>h,2</a:t>
            </a:r>
          </a:p>
        </p:txBody>
      </p:sp>
      <p:grpSp>
        <p:nvGrpSpPr>
          <p:cNvPr id="93" name="protagonist"/>
          <p:cNvGrpSpPr/>
          <p:nvPr/>
        </p:nvGrpSpPr>
        <p:grpSpPr>
          <a:xfrm>
            <a:off x="2286000" y="548640"/>
            <a:ext cx="402336" cy="274320"/>
            <a:chOff x="2286000" y="548640"/>
            <a:chExt cx="402336" cy="274320"/>
          </a:xfrm>
        </p:grpSpPr>
        <p:sp>
          <p:nvSpPr>
            <p:cNvPr id="94" name="Rounded Rectangle 93"/>
            <p:cNvSpPr/>
            <p:nvPr/>
          </p:nvSpPr>
          <p:spPr>
            <a:xfrm>
              <a:off x="2286000" y="548640"/>
              <a:ext cx="402336" cy="274320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5" name="Connector 94"/>
            <p:cNvCxnSpPr/>
            <p:nvPr/>
          </p:nvCxnSpPr>
          <p:spPr>
            <a:xfrm>
              <a:off x="2350008" y="594360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nector 95"/>
            <p:cNvCxnSpPr/>
            <p:nvPr/>
          </p:nvCxnSpPr>
          <p:spPr>
            <a:xfrm>
              <a:off x="2350008" y="59436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nector 96"/>
            <p:cNvCxnSpPr/>
            <p:nvPr/>
          </p:nvCxnSpPr>
          <p:spPr>
            <a:xfrm>
              <a:off x="2350008" y="594360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nector 97"/>
            <p:cNvCxnSpPr/>
            <p:nvPr/>
          </p:nvCxnSpPr>
          <p:spPr>
            <a:xfrm flipV="1">
              <a:off x="2350008" y="59436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ctor 98"/>
            <p:cNvCxnSpPr/>
            <p:nvPr/>
          </p:nvCxnSpPr>
          <p:spPr>
            <a:xfrm>
              <a:off x="2350008" y="685800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 99"/>
            <p:cNvCxnSpPr/>
            <p:nvPr/>
          </p:nvCxnSpPr>
          <p:spPr>
            <a:xfrm>
              <a:off x="2350008" y="68580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or 100"/>
            <p:cNvCxnSpPr/>
            <p:nvPr/>
          </p:nvCxnSpPr>
          <p:spPr>
            <a:xfrm flipV="1">
              <a:off x="2350008" y="594360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ctor 101"/>
            <p:cNvCxnSpPr/>
            <p:nvPr/>
          </p:nvCxnSpPr>
          <p:spPr>
            <a:xfrm flipV="1">
              <a:off x="2350008" y="68580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nector 102"/>
            <p:cNvCxnSpPr/>
            <p:nvPr/>
          </p:nvCxnSpPr>
          <p:spPr>
            <a:xfrm>
              <a:off x="2350008" y="777240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ctor 103"/>
            <p:cNvCxnSpPr/>
            <p:nvPr/>
          </p:nvCxnSpPr>
          <p:spPr>
            <a:xfrm>
              <a:off x="2487168" y="594360"/>
              <a:ext cx="137159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or 104"/>
            <p:cNvCxnSpPr/>
            <p:nvPr/>
          </p:nvCxnSpPr>
          <p:spPr>
            <a:xfrm>
              <a:off x="2487168" y="594360"/>
              <a:ext cx="137159" cy="13716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or 105"/>
            <p:cNvCxnSpPr/>
            <p:nvPr/>
          </p:nvCxnSpPr>
          <p:spPr>
            <a:xfrm flipV="1">
              <a:off x="2487168" y="640080"/>
              <a:ext cx="137159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nector 106"/>
            <p:cNvCxnSpPr/>
            <p:nvPr/>
          </p:nvCxnSpPr>
          <p:spPr>
            <a:xfrm>
              <a:off x="2487168" y="685800"/>
              <a:ext cx="137159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ctor 107"/>
            <p:cNvCxnSpPr/>
            <p:nvPr/>
          </p:nvCxnSpPr>
          <p:spPr>
            <a:xfrm flipV="1">
              <a:off x="2487168" y="640080"/>
              <a:ext cx="137159" cy="13716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or 108"/>
            <p:cNvCxnSpPr/>
            <p:nvPr/>
          </p:nvCxnSpPr>
          <p:spPr>
            <a:xfrm flipV="1">
              <a:off x="2487168" y="731520"/>
              <a:ext cx="137159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Oval 109"/>
            <p:cNvSpPr/>
            <p:nvPr/>
          </p:nvSpPr>
          <p:spPr>
            <a:xfrm>
              <a:off x="2328492" y="57284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" name="Oval 110"/>
            <p:cNvSpPr/>
            <p:nvPr/>
          </p:nvSpPr>
          <p:spPr>
            <a:xfrm>
              <a:off x="2328492" y="66428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" name="Oval 111"/>
            <p:cNvSpPr/>
            <p:nvPr/>
          </p:nvSpPr>
          <p:spPr>
            <a:xfrm>
              <a:off x="2328492" y="75572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Oval 112"/>
            <p:cNvSpPr/>
            <p:nvPr/>
          </p:nvSpPr>
          <p:spPr>
            <a:xfrm>
              <a:off x="2465652" y="57284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Oval 113"/>
            <p:cNvSpPr/>
            <p:nvPr/>
          </p:nvSpPr>
          <p:spPr>
            <a:xfrm>
              <a:off x="2465652" y="66428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Oval 114"/>
            <p:cNvSpPr/>
            <p:nvPr/>
          </p:nvSpPr>
          <p:spPr>
            <a:xfrm>
              <a:off x="2465652" y="75572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" name="Oval 115"/>
            <p:cNvSpPr/>
            <p:nvPr/>
          </p:nvSpPr>
          <p:spPr>
            <a:xfrm>
              <a:off x="2602812" y="61856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Oval 116"/>
            <p:cNvSpPr/>
            <p:nvPr/>
          </p:nvSpPr>
          <p:spPr>
            <a:xfrm>
              <a:off x="2602812" y="71000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8" name="adversary"/>
          <p:cNvGrpSpPr/>
          <p:nvPr/>
        </p:nvGrpSpPr>
        <p:grpSpPr>
          <a:xfrm>
            <a:off x="2286000" y="896112"/>
            <a:ext cx="402336" cy="274320"/>
            <a:chOff x="2286000" y="896112"/>
            <a:chExt cx="402336" cy="274320"/>
          </a:xfrm>
        </p:grpSpPr>
        <p:sp>
          <p:nvSpPr>
            <p:cNvPr id="119" name="Rounded Rectangle 118"/>
            <p:cNvSpPr/>
            <p:nvPr/>
          </p:nvSpPr>
          <p:spPr>
            <a:xfrm>
              <a:off x="2286000" y="896112"/>
              <a:ext cx="402336" cy="274320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0" name="Connector 119"/>
            <p:cNvCxnSpPr/>
            <p:nvPr/>
          </p:nvCxnSpPr>
          <p:spPr>
            <a:xfrm>
              <a:off x="2350008" y="941831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nector 120"/>
            <p:cNvCxnSpPr/>
            <p:nvPr/>
          </p:nvCxnSpPr>
          <p:spPr>
            <a:xfrm>
              <a:off x="2350008" y="94183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nector 121"/>
            <p:cNvCxnSpPr/>
            <p:nvPr/>
          </p:nvCxnSpPr>
          <p:spPr>
            <a:xfrm>
              <a:off x="2350008" y="941831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nector 122"/>
            <p:cNvCxnSpPr/>
            <p:nvPr/>
          </p:nvCxnSpPr>
          <p:spPr>
            <a:xfrm flipV="1">
              <a:off x="2350008" y="94183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nector 123"/>
            <p:cNvCxnSpPr/>
            <p:nvPr/>
          </p:nvCxnSpPr>
          <p:spPr>
            <a:xfrm>
              <a:off x="2350008" y="1033271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nector 124"/>
            <p:cNvCxnSpPr/>
            <p:nvPr/>
          </p:nvCxnSpPr>
          <p:spPr>
            <a:xfrm>
              <a:off x="2350008" y="103327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nector 125"/>
            <p:cNvCxnSpPr/>
            <p:nvPr/>
          </p:nvCxnSpPr>
          <p:spPr>
            <a:xfrm flipV="1">
              <a:off x="2350008" y="941831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nector 126"/>
            <p:cNvCxnSpPr/>
            <p:nvPr/>
          </p:nvCxnSpPr>
          <p:spPr>
            <a:xfrm flipV="1">
              <a:off x="2350008" y="103327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nector 127"/>
            <p:cNvCxnSpPr/>
            <p:nvPr/>
          </p:nvCxnSpPr>
          <p:spPr>
            <a:xfrm>
              <a:off x="2350008" y="1124711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Connector 128"/>
            <p:cNvCxnSpPr/>
            <p:nvPr/>
          </p:nvCxnSpPr>
          <p:spPr>
            <a:xfrm>
              <a:off x="2487168" y="941831"/>
              <a:ext cx="137159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Connector 129"/>
            <p:cNvCxnSpPr/>
            <p:nvPr/>
          </p:nvCxnSpPr>
          <p:spPr>
            <a:xfrm>
              <a:off x="2487168" y="941831"/>
              <a:ext cx="137159" cy="137161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or 130"/>
            <p:cNvCxnSpPr/>
            <p:nvPr/>
          </p:nvCxnSpPr>
          <p:spPr>
            <a:xfrm flipV="1">
              <a:off x="2487168" y="987551"/>
              <a:ext cx="137159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or 131"/>
            <p:cNvCxnSpPr/>
            <p:nvPr/>
          </p:nvCxnSpPr>
          <p:spPr>
            <a:xfrm>
              <a:off x="2487168" y="1033271"/>
              <a:ext cx="137159" cy="45721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or 132"/>
            <p:cNvCxnSpPr/>
            <p:nvPr/>
          </p:nvCxnSpPr>
          <p:spPr>
            <a:xfrm flipV="1">
              <a:off x="2487168" y="987551"/>
              <a:ext cx="137159" cy="13716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ctor 133"/>
            <p:cNvCxnSpPr/>
            <p:nvPr/>
          </p:nvCxnSpPr>
          <p:spPr>
            <a:xfrm flipV="1">
              <a:off x="2487168" y="1078992"/>
              <a:ext cx="137159" cy="4571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Oval 134"/>
            <p:cNvSpPr/>
            <p:nvPr/>
          </p:nvSpPr>
          <p:spPr>
            <a:xfrm>
              <a:off x="2328492" y="92031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6" name="Oval 135"/>
            <p:cNvSpPr/>
            <p:nvPr/>
          </p:nvSpPr>
          <p:spPr>
            <a:xfrm>
              <a:off x="2328492" y="101175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7" name="Oval 136"/>
            <p:cNvSpPr/>
            <p:nvPr/>
          </p:nvSpPr>
          <p:spPr>
            <a:xfrm>
              <a:off x="2328492" y="110319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8" name="Oval 137"/>
            <p:cNvSpPr/>
            <p:nvPr/>
          </p:nvSpPr>
          <p:spPr>
            <a:xfrm>
              <a:off x="2465652" y="92031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9" name="Oval 138"/>
            <p:cNvSpPr/>
            <p:nvPr/>
          </p:nvSpPr>
          <p:spPr>
            <a:xfrm>
              <a:off x="2465652" y="101175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0" name="Oval 139"/>
            <p:cNvSpPr/>
            <p:nvPr/>
          </p:nvSpPr>
          <p:spPr>
            <a:xfrm>
              <a:off x="2465652" y="110319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1" name="Oval 140"/>
            <p:cNvSpPr/>
            <p:nvPr/>
          </p:nvSpPr>
          <p:spPr>
            <a:xfrm>
              <a:off x="2602812" y="96603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2" name="Oval 141"/>
            <p:cNvSpPr/>
            <p:nvPr/>
          </p:nvSpPr>
          <p:spPr>
            <a:xfrm>
              <a:off x="2602812" y="105747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43" name="TextBox 142"/>
          <p:cNvSpPr txBox="1"/>
          <p:nvPr/>
        </p:nvSpPr>
        <p:spPr>
          <a:xfrm>
            <a:off x="2706624" y="539496"/>
            <a:ext cx="384048" cy="2926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5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650" b="0" i="1" baseline="-25000">
                <a:solidFill>
                  <a:srgbClr val="000000"/>
                </a:solidFill>
                <a:latin typeface="Times New Roman"/>
              </a:rPr>
              <a:t>h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max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706624" y="886968"/>
            <a:ext cx="384048" cy="2926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50" b="0" i="1">
                <a:solidFill>
                  <a:srgbClr val="000000"/>
                </a:solidFill>
                <a:latin typeface="Times New Roman"/>
              </a:rPr>
              <a:t>μ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min</a:t>
            </a:r>
          </a:p>
        </p:txBody>
      </p:sp>
      <p:cxnSp>
        <p:nvCxnSpPr>
          <p:cNvPr id="145" name="Connector 144"/>
          <p:cNvCxnSpPr/>
          <p:nvPr/>
        </p:nvCxnSpPr>
        <p:spPr>
          <a:xfrm flipV="1">
            <a:off x="1993392" y="685800"/>
            <a:ext cx="292608" cy="100584"/>
          </a:xfrm>
          <a:prstGeom prst="line">
            <a:avLst/>
          </a:prstGeom>
          <a:ln w="11430">
            <a:solidFill>
              <a:srgbClr val="A65E1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1993392" y="896112"/>
            <a:ext cx="292608" cy="137160"/>
          </a:xfrm>
          <a:prstGeom prst="line">
            <a:avLst/>
          </a:prstGeom>
          <a:ln w="11430">
            <a:solidFill>
              <a:srgbClr val="A65E1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3291840" y="676656"/>
            <a:ext cx="566928" cy="365760"/>
          </a:xfrm>
          <a:prstGeom prst="ellipse">
            <a:avLst/>
          </a:prstGeom>
          <a:solidFill>
            <a:srgbClr val="A65E1A">
              <a:alpha val="16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383280" y="736092"/>
            <a:ext cx="384048" cy="246888"/>
          </a:xfrm>
          <a:prstGeom prst="ellipse">
            <a:avLst/>
          </a:prstGeom>
          <a:solidFill>
            <a:srgbClr val="A65E1A">
              <a:alpha val="30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3474720" y="795527"/>
            <a:ext cx="201168" cy="128016"/>
          </a:xfrm>
          <a:prstGeom prst="ellipse">
            <a:avLst/>
          </a:prstGeom>
          <a:solidFill>
            <a:srgbClr val="A65E1A">
              <a:alpha val="55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767328" y="795527"/>
            <a:ext cx="9144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80" b="0" i="0">
                <a:solidFill>
                  <a:srgbClr val="A65E1A"/>
                </a:solidFill>
                <a:latin typeface="Times New Roman"/>
              </a:rP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675888" y="795527"/>
            <a:ext cx="9144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80" b="0" i="0">
                <a:solidFill>
                  <a:srgbClr val="A65E1A"/>
                </a:solidFill>
                <a:latin typeface="Times New Roman"/>
              </a:rP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529584" y="795527"/>
            <a:ext cx="9144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80" b="0" i="0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209544" y="530352"/>
            <a:ext cx="7315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A65E1A"/>
                </a:solidFill>
                <a:latin typeface="Cambria Math"/>
              </a:rPr>
              <a:t>𝒮</a:t>
            </a:r>
            <a:r>
              <a:rPr sz="650" b="0" i="0">
                <a:solidFill>
                  <a:srgbClr val="A65E1A"/>
                </a:solidFill>
                <a:latin typeface="Times New Roman"/>
              </a:rPr>
              <a:t>(</a:t>
            </a:r>
            <a:r>
              <a:rPr sz="650" b="0" i="1">
                <a:solidFill>
                  <a:srgbClr val="A65E1A"/>
                </a:solidFill>
                <a:latin typeface="Times New Roman"/>
              </a:rPr>
              <a:t>g</a:t>
            </a:r>
            <a:r>
              <a:rPr sz="650" b="0" i="0">
                <a:solidFill>
                  <a:srgbClr val="A65E1A"/>
                </a:solidFill>
                <a:latin typeface="Times New Roman"/>
              </a:rPr>
              <a:t>, </a:t>
            </a:r>
            <a:r>
              <a:rPr sz="650" b="0" i="1">
                <a:solidFill>
                  <a:srgbClr val="A65E1A"/>
                </a:solidFill>
                <a:latin typeface="Times New Roman"/>
              </a:rPr>
              <a:t>τ</a:t>
            </a:r>
            <a:r>
              <a:rPr sz="650" b="0" i="1" baseline="-25000">
                <a:solidFill>
                  <a:srgbClr val="A65E1A"/>
                </a:solidFill>
                <a:latin typeface="Times New Roman"/>
              </a:rPr>
              <a:t>g</a:t>
            </a:r>
            <a:r>
              <a:rPr sz="650" b="0" i="0">
                <a:solidFill>
                  <a:srgbClr val="A65E1A"/>
                </a:solidFill>
                <a:latin typeface="Times New Roman"/>
              </a:rPr>
              <a:t>)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463040" y="1243584"/>
            <a:ext cx="256032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30" b="0" i="0">
                <a:solidFill>
                  <a:srgbClr val="A65E1A"/>
                </a:solidFill>
                <a:latin typeface="Times New Roman"/>
              </a:rPr>
              <a:t>one gear decision = option, gear held for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D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g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 steps</a:t>
            </a:r>
          </a:p>
        </p:txBody>
      </p:sp>
      <p:sp>
        <p:nvSpPr>
          <p:cNvPr id="155" name="option_step_0"/>
          <p:cNvSpPr/>
          <p:nvPr/>
        </p:nvSpPr>
        <p:spPr>
          <a:xfrm>
            <a:off x="1463040" y="1426464"/>
            <a:ext cx="201168" cy="182880"/>
          </a:xfrm>
          <a:prstGeom prst="roundRect">
            <a:avLst>
              <a:gd name="adj" fmla="val 20000"/>
            </a:avLst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ĝ</a:t>
            </a:r>
          </a:p>
        </p:txBody>
      </p:sp>
      <p:sp>
        <p:nvSpPr>
          <p:cNvPr id="156" name="option_step_1"/>
          <p:cNvSpPr/>
          <p:nvPr/>
        </p:nvSpPr>
        <p:spPr>
          <a:xfrm>
            <a:off x="1709928" y="1426464"/>
            <a:ext cx="201168" cy="182880"/>
          </a:xfrm>
          <a:prstGeom prst="roundRect">
            <a:avLst>
              <a:gd name="adj" fmla="val 20000"/>
            </a:avLst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ĝ</a:t>
            </a:r>
          </a:p>
        </p:txBody>
      </p:sp>
      <p:sp>
        <p:nvSpPr>
          <p:cNvPr id="157" name="option_step_2"/>
          <p:cNvSpPr/>
          <p:nvPr/>
        </p:nvSpPr>
        <p:spPr>
          <a:xfrm>
            <a:off x="1956816" y="1426464"/>
            <a:ext cx="201168" cy="182880"/>
          </a:xfrm>
          <a:prstGeom prst="roundRect">
            <a:avLst>
              <a:gd name="adj" fmla="val 20000"/>
            </a:avLst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ĝ</a:t>
            </a:r>
          </a:p>
        </p:txBody>
      </p:sp>
      <p:sp>
        <p:nvSpPr>
          <p:cNvPr id="158" name="option_step_3"/>
          <p:cNvSpPr/>
          <p:nvPr/>
        </p:nvSpPr>
        <p:spPr>
          <a:xfrm>
            <a:off x="2203704" y="1426464"/>
            <a:ext cx="201168" cy="182880"/>
          </a:xfrm>
          <a:prstGeom prst="roundRect">
            <a:avLst>
              <a:gd name="adj" fmla="val 20000"/>
            </a:avLst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ĝ</a:t>
            </a:r>
          </a:p>
        </p:txBody>
      </p:sp>
      <p:sp>
        <p:nvSpPr>
          <p:cNvPr id="159" name="option_step_4"/>
          <p:cNvSpPr/>
          <p:nvPr/>
        </p:nvSpPr>
        <p:spPr>
          <a:xfrm>
            <a:off x="2450592" y="1426464"/>
            <a:ext cx="201168" cy="182880"/>
          </a:xfrm>
          <a:prstGeom prst="roundRect">
            <a:avLst>
              <a:gd name="adj" fmla="val 20000"/>
            </a:avLst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ĝ</a:t>
            </a:r>
          </a:p>
        </p:txBody>
      </p:sp>
      <p:sp>
        <p:nvSpPr>
          <p:cNvPr id="160" name="option_step_5"/>
          <p:cNvSpPr/>
          <p:nvPr/>
        </p:nvSpPr>
        <p:spPr>
          <a:xfrm>
            <a:off x="2697480" y="1426464"/>
            <a:ext cx="201168" cy="182880"/>
          </a:xfrm>
          <a:prstGeom prst="roundRect">
            <a:avLst>
              <a:gd name="adj" fmla="val 20000"/>
            </a:avLst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ĝ</a:t>
            </a:r>
          </a:p>
        </p:txBody>
      </p:sp>
      <p:cxnSp>
        <p:nvCxnSpPr>
          <p:cNvPr id="161" name="Connector 160"/>
          <p:cNvCxnSpPr/>
          <p:nvPr/>
        </p:nvCxnSpPr>
        <p:spPr>
          <a:xfrm>
            <a:off x="1664208" y="1517904"/>
            <a:ext cx="45720" cy="0"/>
          </a:xfrm>
          <a:prstGeom prst="line">
            <a:avLst/>
          </a:prstGeom>
          <a:ln w="762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1911096" y="1517904"/>
            <a:ext cx="45720" cy="0"/>
          </a:xfrm>
          <a:prstGeom prst="line">
            <a:avLst/>
          </a:prstGeom>
          <a:ln w="762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2157984" y="1517904"/>
            <a:ext cx="45720" cy="0"/>
          </a:xfrm>
          <a:prstGeom prst="line">
            <a:avLst/>
          </a:prstGeom>
          <a:ln w="762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2404872" y="1517904"/>
            <a:ext cx="45720" cy="0"/>
          </a:xfrm>
          <a:prstGeom prst="line">
            <a:avLst/>
          </a:prstGeom>
          <a:ln w="762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2651760" y="1517904"/>
            <a:ext cx="45720" cy="0"/>
          </a:xfrm>
          <a:prstGeom prst="line">
            <a:avLst/>
          </a:prstGeom>
          <a:ln w="762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2944368" y="1517904"/>
            <a:ext cx="91440" cy="0"/>
          </a:xfrm>
          <a:prstGeom prst="line">
            <a:avLst/>
          </a:prstGeom>
          <a:ln w="762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bootstrap"/>
          <p:cNvSpPr/>
          <p:nvPr/>
        </p:nvSpPr>
        <p:spPr>
          <a:xfrm>
            <a:off x="3035808" y="1417320"/>
            <a:ext cx="274320" cy="20116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60" b="0" i="1">
                <a:solidFill>
                  <a:srgbClr val="000000"/>
                </a:solidFill>
                <a:latin typeface="Times New Roman"/>
              </a:rPr>
              <a:t>V</a:t>
            </a:r>
          </a:p>
        </p:txBody>
      </p:sp>
      <p:cxnSp>
        <p:nvCxnSpPr>
          <p:cNvPr id="168" name="Connector 167"/>
          <p:cNvCxnSpPr/>
          <p:nvPr/>
        </p:nvCxnSpPr>
        <p:spPr>
          <a:xfrm>
            <a:off x="3150108" y="1467612"/>
            <a:ext cx="64008" cy="0"/>
          </a:xfrm>
          <a:prstGeom prst="line">
            <a:avLst/>
          </a:prstGeom>
          <a:ln w="76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3328416" y="1444752"/>
            <a:ext cx="5486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580" b="0" i="0">
                <a:solidFill>
                  <a:srgbClr val="6B6B6B"/>
                </a:solidFill>
                <a:latin typeface="Times New Roman"/>
              </a:rPr>
              <a:t>bootstrap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463040" y="1618488"/>
            <a:ext cx="148132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90" b="0" i="1">
                <a:solidFill>
                  <a:srgbClr val="6B6B6B"/>
                </a:solidFill>
                <a:latin typeface="Times New Roman"/>
              </a:rPr>
              <a:t>δ</a:t>
            </a:r>
            <a:r>
              <a:rPr sz="590" b="0" i="0">
                <a:solidFill>
                  <a:srgbClr val="6B6B6B"/>
                </a:solidFill>
                <a:latin typeface="Times New Roman"/>
              </a:rPr>
              <a:t> = </a:t>
            </a:r>
            <a:r>
              <a:rPr sz="590" b="0" i="1">
                <a:solidFill>
                  <a:srgbClr val="6B6B6B"/>
                </a:solidFill>
                <a:latin typeface="Times New Roman"/>
              </a:rPr>
              <a:t>π</a:t>
            </a:r>
            <a:r>
              <a:rPr sz="590" b="0" i="1" baseline="-25000">
                <a:solidFill>
                  <a:srgbClr val="6B6B6B"/>
                </a:solidFill>
                <a:latin typeface="Times New Roman"/>
              </a:rPr>
              <a:t>h</a:t>
            </a:r>
            <a:r>
              <a:rPr sz="590" b="0" i="0">
                <a:solidFill>
                  <a:srgbClr val="6B6B6B"/>
                </a:solidFill>
                <a:latin typeface="Times New Roman"/>
              </a:rPr>
              <a:t>,  </a:t>
            </a:r>
            <a:r>
              <a:rPr sz="590" b="0" i="1">
                <a:solidFill>
                  <a:srgbClr val="6B6B6B"/>
                </a:solidFill>
                <a:latin typeface="Times New Roman"/>
              </a:rPr>
              <a:t>d</a:t>
            </a:r>
            <a:r>
              <a:rPr sz="590" b="0" i="0">
                <a:solidFill>
                  <a:srgbClr val="6B6B6B"/>
                </a:solidFill>
                <a:latin typeface="Times New Roman"/>
              </a:rPr>
              <a:t> = </a:t>
            </a:r>
            <a:r>
              <a:rPr sz="590" b="0" i="1">
                <a:solidFill>
                  <a:srgbClr val="6B6B6B"/>
                </a:solidFill>
                <a:latin typeface="Times New Roman"/>
              </a:rPr>
              <a:t>μ</a:t>
            </a:r>
            <a:r>
              <a:rPr sz="590" b="0" i="0">
                <a:solidFill>
                  <a:srgbClr val="6B6B6B"/>
                </a:solidFill>
                <a:latin typeface="Times New Roman"/>
              </a:rPr>
              <a:t>  at every step</a:t>
            </a:r>
          </a:p>
        </p:txBody>
      </p:sp>
      <p:cxnSp>
        <p:nvCxnSpPr>
          <p:cNvPr id="171" name="Connector 170"/>
          <p:cNvCxnSpPr/>
          <p:nvPr/>
        </p:nvCxnSpPr>
        <p:spPr>
          <a:xfrm flipH="1">
            <a:off x="1463040" y="1810512"/>
            <a:ext cx="1709928" cy="0"/>
          </a:xfrm>
          <a:prstGeom prst="line">
            <a:avLst/>
          </a:prstGeom>
          <a:ln w="1016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TextBox 171"/>
          <p:cNvSpPr txBox="1"/>
          <p:nvPr/>
        </p:nvSpPr>
        <p:spPr>
          <a:xfrm>
            <a:off x="2011680" y="1801368"/>
            <a:ext cx="128016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90" b="0" i="0">
                <a:solidFill>
                  <a:srgbClr val="A65E1A"/>
                </a:solidFill>
                <a:latin typeface="Times New Roman"/>
              </a:rPr>
              <a:t>backward fold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16736" y="1901952"/>
            <a:ext cx="269748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30" b="0" i="1">
                <a:solidFill>
                  <a:srgbClr val="A65E1A"/>
                </a:solidFill>
                <a:latin typeface="Times New Roman"/>
              </a:rPr>
              <a:t>g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j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 = (1 −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γ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h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)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h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j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 +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γ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h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 min{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h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j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,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g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j+1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},  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y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 =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g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0</a:t>
            </a:r>
          </a:p>
        </p:txBody>
      </p:sp>
      <p:cxnSp>
        <p:nvCxnSpPr>
          <p:cNvPr id="174" name="Connector 173"/>
          <p:cNvCxnSpPr/>
          <p:nvPr/>
        </p:nvCxnSpPr>
        <p:spPr>
          <a:xfrm flipV="1">
            <a:off x="1371600" y="1024128"/>
            <a:ext cx="0" cy="402336"/>
          </a:xfrm>
          <a:prstGeom prst="line">
            <a:avLst/>
          </a:prstGeom>
          <a:ln w="1143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TextBox 174"/>
          <p:cNvSpPr txBox="1"/>
          <p:nvPr/>
        </p:nvSpPr>
        <p:spPr>
          <a:xfrm>
            <a:off x="1389888" y="1152144"/>
            <a:ext cx="36576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30" b="0" i="1">
                <a:solidFill>
                  <a:srgbClr val="A65E1A"/>
                </a:solidFill>
                <a:latin typeface="Times New Roman"/>
              </a:rPr>
              <a:t>y</a:t>
            </a:r>
          </a:p>
        </p:txBody>
      </p:sp>
      <p:cxnSp>
        <p:nvCxnSpPr>
          <p:cNvPr id="176" name="Connector 175"/>
          <p:cNvCxnSpPr/>
          <p:nvPr/>
        </p:nvCxnSpPr>
        <p:spPr>
          <a:xfrm>
            <a:off x="1024128" y="1517904"/>
            <a:ext cx="219456" cy="0"/>
          </a:xfrm>
          <a:prstGeom prst="line">
            <a:avLst/>
          </a:prstGeom>
          <a:ln w="11430">
            <a:solidFill>
              <a:srgbClr val="2E5A87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TextBox 176"/>
          <p:cNvSpPr txBox="1"/>
          <p:nvPr/>
        </p:nvSpPr>
        <p:spPr>
          <a:xfrm>
            <a:off x="969264" y="1362456"/>
            <a:ext cx="292608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1">
                <a:solidFill>
                  <a:srgbClr val="2E5A87"/>
                </a:solidFill>
                <a:latin typeface="Times New Roman"/>
              </a:rPr>
              <a:t>ĝ</a:t>
            </a:r>
            <a:r>
              <a:rPr sz="600" b="0" i="0">
                <a:solidFill>
                  <a:srgbClr val="2E5A87"/>
                </a:solidFill>
                <a:latin typeface="Times New Roman"/>
              </a:rPr>
              <a:t>, </a:t>
            </a:r>
            <a:r>
              <a:rPr sz="600" b="0" i="1">
                <a:solidFill>
                  <a:srgbClr val="2E5A87"/>
                </a:solidFill>
                <a:latin typeface="Times New Roman"/>
              </a:rPr>
              <a:t>δ</a:t>
            </a:r>
            <a:r>
              <a:rPr sz="600" b="0" i="0">
                <a:solidFill>
                  <a:srgbClr val="2E5A87"/>
                </a:solidFill>
                <a:latin typeface="Times New Roman"/>
              </a:rPr>
              <a:t>, </a:t>
            </a:r>
            <a:r>
              <a:rPr sz="600" b="0" i="1">
                <a:solidFill>
                  <a:srgbClr val="2E5A87"/>
                </a:solidFill>
                <a:latin typeface="Times New Roman"/>
              </a:rPr>
              <a:t>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69264" y="1536192"/>
            <a:ext cx="292608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1">
                <a:solidFill>
                  <a:srgbClr val="2E5A87"/>
                </a:solidFill>
                <a:latin typeface="Times New Roman"/>
              </a:rPr>
              <a:t>ξ</a:t>
            </a:r>
            <a:r>
              <a:rPr sz="600" b="0" i="1" baseline="-25000">
                <a:solidFill>
                  <a:srgbClr val="2E5A87"/>
                </a:solidFill>
                <a:latin typeface="Times New Roman"/>
              </a:rPr>
              <a:t>j</a:t>
            </a:r>
            <a:r>
              <a:rPr sz="600" b="0" i="0">
                <a:solidFill>
                  <a:srgbClr val="2E5A87"/>
                </a:solidFill>
                <a:latin typeface="Times New Roman"/>
              </a:rPr>
              <a:t>, </a:t>
            </a:r>
            <a:r>
              <a:rPr sz="600" b="0" i="1">
                <a:solidFill>
                  <a:srgbClr val="2E5A87"/>
                </a:solidFill>
                <a:latin typeface="Times New Roman"/>
              </a:rPr>
              <a:t>h</a:t>
            </a:r>
            <a:r>
              <a:rPr sz="600" b="0" i="1" baseline="-25000">
                <a:solidFill>
                  <a:srgbClr val="2E5A87"/>
                </a:solidFill>
                <a:latin typeface="Times New Roman"/>
              </a:rPr>
              <a:t>j</a:t>
            </a:r>
          </a:p>
        </p:txBody>
      </p:sp>
      <p:cxnSp>
        <p:nvCxnSpPr>
          <p:cNvPr id="179" name="Connector 178"/>
          <p:cNvCxnSpPr/>
          <p:nvPr/>
        </p:nvCxnSpPr>
        <p:spPr>
          <a:xfrm>
            <a:off x="4151376" y="1133856"/>
            <a:ext cx="365760" cy="0"/>
          </a:xfrm>
          <a:prstGeom prst="line">
            <a:avLst/>
          </a:prstGeom>
          <a:ln w="1778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TextBox 179"/>
          <p:cNvSpPr txBox="1"/>
          <p:nvPr/>
        </p:nvSpPr>
        <p:spPr>
          <a:xfrm>
            <a:off x="4133088" y="914400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deploy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133088" y="1188720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6B6B6B"/>
                </a:solidFill>
                <a:latin typeface="Times New Roman"/>
              </a:rPr>
              <a:t>frozen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4626864" y="384048"/>
            <a:ext cx="4572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8890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EKF</a:t>
            </a:r>
          </a:p>
        </p:txBody>
      </p:sp>
      <p:grpSp>
        <p:nvGrpSpPr>
          <p:cNvPr id="183" name="safety_policy_onboard"/>
          <p:cNvGrpSpPr/>
          <p:nvPr/>
        </p:nvGrpSpPr>
        <p:grpSpPr>
          <a:xfrm>
            <a:off x="5248656" y="365760"/>
            <a:ext cx="420624" cy="292608"/>
            <a:chOff x="5248656" y="365760"/>
            <a:chExt cx="420624" cy="292608"/>
          </a:xfrm>
        </p:grpSpPr>
        <p:sp>
          <p:nvSpPr>
            <p:cNvPr id="184" name="Rounded Rectangle 183"/>
            <p:cNvSpPr/>
            <p:nvPr/>
          </p:nvSpPr>
          <p:spPr>
            <a:xfrm>
              <a:off x="5248656" y="365760"/>
              <a:ext cx="420624" cy="292608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85" name="Connector 184"/>
            <p:cNvCxnSpPr/>
            <p:nvPr/>
          </p:nvCxnSpPr>
          <p:spPr>
            <a:xfrm flipV="1">
              <a:off x="5312664" y="41148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Connector 185"/>
            <p:cNvCxnSpPr/>
            <p:nvPr/>
          </p:nvCxnSpPr>
          <p:spPr>
            <a:xfrm>
              <a:off x="5312664" y="445008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Connector 186"/>
            <p:cNvCxnSpPr/>
            <p:nvPr/>
          </p:nvCxnSpPr>
          <p:spPr>
            <a:xfrm>
              <a:off x="5312664" y="445008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ctor 187"/>
            <p:cNvCxnSpPr/>
            <p:nvPr/>
          </p:nvCxnSpPr>
          <p:spPr>
            <a:xfrm>
              <a:off x="5312664" y="445008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Connector 188"/>
            <p:cNvCxnSpPr/>
            <p:nvPr/>
          </p:nvCxnSpPr>
          <p:spPr>
            <a:xfrm flipV="1">
              <a:off x="5312664" y="411480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ctor 189"/>
            <p:cNvCxnSpPr/>
            <p:nvPr/>
          </p:nvCxnSpPr>
          <p:spPr>
            <a:xfrm flipV="1">
              <a:off x="5312664" y="478536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or 190"/>
            <p:cNvCxnSpPr/>
            <p:nvPr/>
          </p:nvCxnSpPr>
          <p:spPr>
            <a:xfrm>
              <a:off x="5312664" y="512064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Connector 191"/>
            <p:cNvCxnSpPr/>
            <p:nvPr/>
          </p:nvCxnSpPr>
          <p:spPr>
            <a:xfrm>
              <a:off x="5312664" y="512064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Connector 192"/>
            <p:cNvCxnSpPr/>
            <p:nvPr/>
          </p:nvCxnSpPr>
          <p:spPr>
            <a:xfrm flipV="1">
              <a:off x="5312664" y="411480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Connector 193"/>
            <p:cNvCxnSpPr/>
            <p:nvPr/>
          </p:nvCxnSpPr>
          <p:spPr>
            <a:xfrm flipV="1">
              <a:off x="5312664" y="478536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Connector 194"/>
            <p:cNvCxnSpPr/>
            <p:nvPr/>
          </p:nvCxnSpPr>
          <p:spPr>
            <a:xfrm flipV="1">
              <a:off x="5312664" y="545592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Connector 195"/>
            <p:cNvCxnSpPr/>
            <p:nvPr/>
          </p:nvCxnSpPr>
          <p:spPr>
            <a:xfrm>
              <a:off x="5312664" y="57912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Connector 196"/>
            <p:cNvCxnSpPr/>
            <p:nvPr/>
          </p:nvCxnSpPr>
          <p:spPr>
            <a:xfrm>
              <a:off x="5458968" y="41148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Connector 197"/>
            <p:cNvCxnSpPr/>
            <p:nvPr/>
          </p:nvCxnSpPr>
          <p:spPr>
            <a:xfrm>
              <a:off x="5458968" y="411480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Connector 198"/>
            <p:cNvCxnSpPr/>
            <p:nvPr/>
          </p:nvCxnSpPr>
          <p:spPr>
            <a:xfrm>
              <a:off x="5458968" y="411480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Connector 199"/>
            <p:cNvCxnSpPr/>
            <p:nvPr/>
          </p:nvCxnSpPr>
          <p:spPr>
            <a:xfrm flipV="1">
              <a:off x="5458968" y="445008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Connector 200"/>
            <p:cNvCxnSpPr/>
            <p:nvPr/>
          </p:nvCxnSpPr>
          <p:spPr>
            <a:xfrm>
              <a:off x="5458968" y="478536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Connector 201"/>
            <p:cNvCxnSpPr/>
            <p:nvPr/>
          </p:nvCxnSpPr>
          <p:spPr>
            <a:xfrm>
              <a:off x="5458968" y="478536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Connector 202"/>
            <p:cNvCxnSpPr/>
            <p:nvPr/>
          </p:nvCxnSpPr>
          <p:spPr>
            <a:xfrm flipV="1">
              <a:off x="5458968" y="445008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Connector 203"/>
            <p:cNvCxnSpPr/>
            <p:nvPr/>
          </p:nvCxnSpPr>
          <p:spPr>
            <a:xfrm flipV="1">
              <a:off x="5458968" y="512064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Connector 204"/>
            <p:cNvCxnSpPr/>
            <p:nvPr/>
          </p:nvCxnSpPr>
          <p:spPr>
            <a:xfrm>
              <a:off x="5458968" y="545592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onnector 205"/>
            <p:cNvCxnSpPr/>
            <p:nvPr/>
          </p:nvCxnSpPr>
          <p:spPr>
            <a:xfrm flipV="1">
              <a:off x="5458968" y="445008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ctor 206"/>
            <p:cNvCxnSpPr/>
            <p:nvPr/>
          </p:nvCxnSpPr>
          <p:spPr>
            <a:xfrm flipV="1">
              <a:off x="5458968" y="512064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Connector 207"/>
            <p:cNvCxnSpPr/>
            <p:nvPr/>
          </p:nvCxnSpPr>
          <p:spPr>
            <a:xfrm flipV="1">
              <a:off x="5458968" y="57912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9" name="Oval 208"/>
            <p:cNvSpPr/>
            <p:nvPr/>
          </p:nvSpPr>
          <p:spPr>
            <a:xfrm>
              <a:off x="5295182" y="427526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0" name="Oval 209"/>
            <p:cNvSpPr/>
            <p:nvPr/>
          </p:nvSpPr>
          <p:spPr>
            <a:xfrm>
              <a:off x="5295182" y="494582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1" name="Oval 210"/>
            <p:cNvSpPr/>
            <p:nvPr/>
          </p:nvSpPr>
          <p:spPr>
            <a:xfrm>
              <a:off x="5295182" y="561638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2" name="Oval 211"/>
            <p:cNvSpPr/>
            <p:nvPr/>
          </p:nvSpPr>
          <p:spPr>
            <a:xfrm>
              <a:off x="5441486" y="393998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3" name="Oval 212"/>
            <p:cNvSpPr/>
            <p:nvPr/>
          </p:nvSpPr>
          <p:spPr>
            <a:xfrm>
              <a:off x="5441486" y="461054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4" name="Oval 213"/>
            <p:cNvSpPr/>
            <p:nvPr/>
          </p:nvSpPr>
          <p:spPr>
            <a:xfrm>
              <a:off x="5441486" y="528110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5" name="Oval 214"/>
            <p:cNvSpPr/>
            <p:nvPr/>
          </p:nvSpPr>
          <p:spPr>
            <a:xfrm>
              <a:off x="5441486" y="595166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6" name="Oval 215"/>
            <p:cNvSpPr/>
            <p:nvPr/>
          </p:nvSpPr>
          <p:spPr>
            <a:xfrm>
              <a:off x="5587790" y="427526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7" name="Oval 216"/>
            <p:cNvSpPr/>
            <p:nvPr/>
          </p:nvSpPr>
          <p:spPr>
            <a:xfrm>
              <a:off x="5587790" y="494582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8" name="Oval 217"/>
            <p:cNvSpPr/>
            <p:nvPr/>
          </p:nvSpPr>
          <p:spPr>
            <a:xfrm>
              <a:off x="5587790" y="561638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19" name="TextBox 218"/>
          <p:cNvSpPr txBox="1"/>
          <p:nvPr/>
        </p:nvSpPr>
        <p:spPr>
          <a:xfrm>
            <a:off x="5175504" y="667512"/>
            <a:ext cx="566928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6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660" b="0" i="1" baseline="-25000">
                <a:solidFill>
                  <a:srgbClr val="000000"/>
                </a:solidFill>
                <a:latin typeface="Times New Roman"/>
              </a:rPr>
              <a:t>h</a:t>
            </a:r>
            <a:r>
              <a:rPr sz="66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66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60" b="0" i="1" baseline="-25000">
                <a:solidFill>
                  <a:srgbClr val="000000"/>
                </a:solidFill>
                <a:latin typeface="Times New Roman"/>
              </a:rPr>
              <a:t>h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5815584" y="329184"/>
            <a:ext cx="60350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legal gear</a:t>
            </a:r>
          </a:p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40" b="0" i="0">
                <a:solidFill>
                  <a:srgbClr val="000000"/>
                </a:solidFill>
                <a:latin typeface="Times New Roman"/>
              </a:rPr>
              <a:t>* = argmax </a:t>
            </a:r>
            <a:r>
              <a:rPr sz="640" b="0" i="1">
                <a:solidFill>
                  <a:srgbClr val="000000"/>
                </a:solidFill>
                <a:latin typeface="Times New Roman"/>
              </a:rPr>
              <a:t>q</a:t>
            </a:r>
          </a:p>
        </p:txBody>
      </p:sp>
      <p:cxnSp>
        <p:nvCxnSpPr>
          <p:cNvPr id="221" name="Connector 220"/>
          <p:cNvCxnSpPr/>
          <p:nvPr/>
        </p:nvCxnSpPr>
        <p:spPr>
          <a:xfrm>
            <a:off x="5084064" y="521207"/>
            <a:ext cx="164592" cy="0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5669280" y="521207"/>
            <a:ext cx="146304" cy="0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3" name="photo_vessel" descr="fig1_vess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024128"/>
            <a:ext cx="1792224" cy="1105204"/>
          </a:xfrm>
          <a:prstGeom prst="rect">
            <a:avLst/>
          </a:prstGeom>
        </p:spPr>
      </p:pic>
      <p:cxnSp>
        <p:nvCxnSpPr>
          <p:cNvPr id="224" name="Connector 223"/>
          <p:cNvCxnSpPr/>
          <p:nvPr/>
        </p:nvCxnSpPr>
        <p:spPr>
          <a:xfrm>
            <a:off x="4690872" y="1115568"/>
            <a:ext cx="164592" cy="0"/>
          </a:xfrm>
          <a:prstGeom prst="line">
            <a:avLst/>
          </a:prstGeom>
          <a:ln w="10160">
            <a:solidFill>
              <a:srgbClr val="FFFFF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4690872" y="1170432"/>
            <a:ext cx="164592" cy="0"/>
          </a:xfrm>
          <a:prstGeom prst="line">
            <a:avLst/>
          </a:prstGeom>
          <a:ln w="10160">
            <a:solidFill>
              <a:srgbClr val="FFFFF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4690872" y="1225296"/>
            <a:ext cx="164592" cy="0"/>
          </a:xfrm>
          <a:prstGeom prst="line">
            <a:avLst/>
          </a:prstGeom>
          <a:ln w="10160">
            <a:solidFill>
              <a:srgbClr val="FFFFF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4892040" y="1115568"/>
            <a:ext cx="2743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80" b="0" i="1">
                <a:solidFill>
                  <a:srgbClr val="FFFFFF"/>
                </a:solidFill>
                <a:latin typeface="Times New Roman"/>
              </a:rPr>
              <a:t>d</a:t>
            </a:r>
          </a:p>
        </p:txBody>
      </p:sp>
      <p:cxnSp>
        <p:nvCxnSpPr>
          <p:cNvPr id="228" name="Connector 227"/>
          <p:cNvCxnSpPr/>
          <p:nvPr/>
        </p:nvCxnSpPr>
        <p:spPr>
          <a:xfrm>
            <a:off x="6117336" y="786384"/>
            <a:ext cx="0" cy="237744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TextBox 228"/>
          <p:cNvSpPr txBox="1"/>
          <p:nvPr/>
        </p:nvSpPr>
        <p:spPr>
          <a:xfrm>
            <a:off x="6153912" y="841248"/>
            <a:ext cx="329184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6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6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660" b="0" i="1">
                <a:solidFill>
                  <a:srgbClr val="000000"/>
                </a:solidFill>
                <a:latin typeface="Times New Roman"/>
              </a:rPr>
              <a:t>δ</a:t>
            </a:r>
          </a:p>
        </p:txBody>
      </p:sp>
      <p:cxnSp>
        <p:nvCxnSpPr>
          <p:cNvPr id="230" name="Connector 229"/>
          <p:cNvCxnSpPr/>
          <p:nvPr/>
        </p:nvCxnSpPr>
        <p:spPr>
          <a:xfrm flipV="1">
            <a:off x="4855464" y="658368"/>
            <a:ext cx="0" cy="365760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TextBox 230"/>
          <p:cNvSpPr txBox="1"/>
          <p:nvPr/>
        </p:nvSpPr>
        <p:spPr>
          <a:xfrm>
            <a:off x="4892040" y="841248"/>
            <a:ext cx="7315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00" b="0" i="0">
                <a:solidFill>
                  <a:srgbClr val="6B6B6B"/>
                </a:solidFill>
                <a:latin typeface="Times New Roman"/>
              </a:rPr>
              <a:t>GPS, AHRS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