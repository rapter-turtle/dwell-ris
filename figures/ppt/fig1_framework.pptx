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sp>
        <p:nvSpPr>
          <p:cNvPr id="18" name="stage1"/>
          <p:cNvSpPr/>
          <p:nvPr/>
        </p:nvSpPr>
        <p:spPr>
          <a:xfrm>
            <a:off x="1243584" y="310896"/>
            <a:ext cx="2816352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1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dwell indexed RIS by adversarial RL</a:t>
            </a:r>
          </a:p>
        </p:txBody>
      </p:sp>
      <p:sp>
        <p:nvSpPr>
          <p:cNvPr id="20" name="replay_buffer"/>
          <p:cNvSpPr/>
          <p:nvPr/>
        </p:nvSpPr>
        <p:spPr>
          <a:xfrm>
            <a:off x="1335024" y="603504"/>
            <a:ext cx="402336" cy="475488"/>
          </a:xfrm>
          <a:prstGeom prst="can">
            <a:avLst/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replay</a:t>
            </a:r>
          </a:p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buffer</a:t>
            </a:r>
          </a:p>
        </p:txBody>
      </p:sp>
      <p:grpSp>
        <p:nvGrpSpPr>
          <p:cNvPr id="21" name="critic_2"/>
          <p:cNvGrpSpPr/>
          <p:nvPr/>
        </p:nvGrpSpPr>
        <p:grpSpPr>
          <a:xfrm>
            <a:off x="1956816" y="585216"/>
            <a:ext cx="512064" cy="384048"/>
            <a:chOff x="1956816" y="585216"/>
            <a:chExt cx="512064" cy="384048"/>
          </a:xfrm>
        </p:grpSpPr>
        <p:sp>
          <p:nvSpPr>
            <p:cNvPr id="22" name="Rounded Rectangle 21"/>
            <p:cNvSpPr/>
            <p:nvPr/>
          </p:nvSpPr>
          <p:spPr>
            <a:xfrm>
              <a:off x="1956816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2020824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020824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020824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020824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2020824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2020824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2020824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2020824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2020824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2020824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2020824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2020824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2212848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2212848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>
              <a:off x="2212848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 flipV="1">
              <a:off x="2212848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2212848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2212848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2212848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V="1">
              <a:off x="2212848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2212848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2212848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2212848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 flipV="1">
              <a:off x="2212848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199661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99661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99661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2188643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2188643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2188643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2188643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380667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2380667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2380667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" name="critic_1"/>
          <p:cNvGrpSpPr/>
          <p:nvPr/>
        </p:nvGrpSpPr>
        <p:grpSpPr>
          <a:xfrm>
            <a:off x="1901952" y="640080"/>
            <a:ext cx="512064" cy="384048"/>
            <a:chOff x="1901952" y="640080"/>
            <a:chExt cx="512064" cy="384048"/>
          </a:xfrm>
        </p:grpSpPr>
        <p:sp>
          <p:nvSpPr>
            <p:cNvPr id="58" name="Rounded Rectangle 57"/>
            <p:cNvSpPr/>
            <p:nvPr/>
          </p:nvSpPr>
          <p:spPr>
            <a:xfrm>
              <a:off x="1901952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58"/>
            <p:cNvCxnSpPr/>
            <p:nvPr/>
          </p:nvCxnSpPr>
          <p:spPr>
            <a:xfrm flipV="1">
              <a:off x="1965960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965960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965960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>
              <a:off x="1965960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965960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 flipV="1">
              <a:off x="1965960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965960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>
              <a:off x="1965960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965960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965960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1965960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965960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2157984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2157984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2157984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2157984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2157984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>
              <a:off x="2157984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2157984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2157984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2157984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2157984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2157984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 flipV="1">
              <a:off x="2157984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Oval 82"/>
            <p:cNvSpPr/>
            <p:nvPr/>
          </p:nvSpPr>
          <p:spPr>
            <a:xfrm>
              <a:off x="194175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94175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94175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2133779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2133779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2133779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779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2325803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2325803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2325803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3" name="TextBox 92"/>
          <p:cNvSpPr txBox="1"/>
          <p:nvPr/>
        </p:nvSpPr>
        <p:spPr>
          <a:xfrm>
            <a:off x="1810512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37360" y="841247"/>
            <a:ext cx="164592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protagonist"/>
          <p:cNvGrpSpPr/>
          <p:nvPr/>
        </p:nvGrpSpPr>
        <p:grpSpPr>
          <a:xfrm>
            <a:off x="2724912" y="548640"/>
            <a:ext cx="402336" cy="274320"/>
            <a:chOff x="2724912" y="548640"/>
            <a:chExt cx="402336" cy="274320"/>
          </a:xfrm>
        </p:grpSpPr>
        <p:sp>
          <p:nvSpPr>
            <p:cNvPr id="96" name="Rounded Rectangle 95"/>
            <p:cNvSpPr/>
            <p:nvPr/>
          </p:nvSpPr>
          <p:spPr>
            <a:xfrm>
              <a:off x="2724912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2788920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V="1"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2788920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V="1"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V="1"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788920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>
              <a:off x="2926080" y="59436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926080" y="59436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926080" y="64008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>
              <a:off x="2926080" y="68580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ctor 109"/>
            <p:cNvCxnSpPr/>
            <p:nvPr/>
          </p:nvCxnSpPr>
          <p:spPr>
            <a:xfrm flipV="1">
              <a:off x="2926080" y="64008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 110"/>
            <p:cNvCxnSpPr/>
            <p:nvPr/>
          </p:nvCxnSpPr>
          <p:spPr>
            <a:xfrm flipV="1">
              <a:off x="2926080" y="73152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Oval 111"/>
            <p:cNvSpPr/>
            <p:nvPr/>
          </p:nvSpPr>
          <p:spPr>
            <a:xfrm>
              <a:off x="276740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76740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76740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90456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90456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90456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3041724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3041724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adversary"/>
          <p:cNvGrpSpPr/>
          <p:nvPr/>
        </p:nvGrpSpPr>
        <p:grpSpPr>
          <a:xfrm>
            <a:off x="2724912" y="896112"/>
            <a:ext cx="402336" cy="274320"/>
            <a:chOff x="2724912" y="896112"/>
            <a:chExt cx="402336" cy="274320"/>
          </a:xfrm>
        </p:grpSpPr>
        <p:sp>
          <p:nvSpPr>
            <p:cNvPr id="121" name="Rounded Rectangle 120"/>
            <p:cNvSpPr/>
            <p:nvPr/>
          </p:nvSpPr>
          <p:spPr>
            <a:xfrm>
              <a:off x="2724912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2" name="Connector 121"/>
            <p:cNvCxnSpPr/>
            <p:nvPr/>
          </p:nvCxnSpPr>
          <p:spPr>
            <a:xfrm>
              <a:off x="2788920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 flipV="1"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>
              <a:off x="2788920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V="1"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 flipV="1"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788920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>
              <a:off x="2926080" y="94183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926080" y="941831"/>
              <a:ext cx="137160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926080" y="98755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>
              <a:off x="2926080" y="1033271"/>
              <a:ext cx="137160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134"/>
            <p:cNvCxnSpPr/>
            <p:nvPr/>
          </p:nvCxnSpPr>
          <p:spPr>
            <a:xfrm flipV="1">
              <a:off x="2926080" y="987551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135"/>
            <p:cNvCxnSpPr/>
            <p:nvPr/>
          </p:nvCxnSpPr>
          <p:spPr>
            <a:xfrm flipV="1">
              <a:off x="2926080" y="1078992"/>
              <a:ext cx="137160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/>
            <p:cNvSpPr/>
            <p:nvPr/>
          </p:nvSpPr>
          <p:spPr>
            <a:xfrm>
              <a:off x="276740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76740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76740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90456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90456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90456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Oval 142"/>
            <p:cNvSpPr/>
            <p:nvPr/>
          </p:nvSpPr>
          <p:spPr>
            <a:xfrm>
              <a:off x="3041724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Oval 143"/>
            <p:cNvSpPr/>
            <p:nvPr/>
          </p:nvSpPr>
          <p:spPr>
            <a:xfrm>
              <a:off x="3041724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5" name="TextBox 144"/>
          <p:cNvSpPr txBox="1"/>
          <p:nvPr/>
        </p:nvSpPr>
        <p:spPr>
          <a:xfrm>
            <a:off x="3145536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45536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2468880" y="685800"/>
            <a:ext cx="256032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68880" y="896112"/>
            <a:ext cx="256032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342900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52044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1188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9044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1304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6674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4670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35024" y="1161288"/>
            <a:ext cx="2651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A65E1A"/>
                </a:solidFill>
                <a:latin typeface="Times New Roman"/>
              </a:rPr>
              <a:t>one step target 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Q̄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ξ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′)}</a:t>
            </a:r>
          </a:p>
        </p:txBody>
      </p:sp>
      <p:sp>
        <p:nvSpPr>
          <p:cNvPr id="157" name="stage2"/>
          <p:cNvSpPr/>
          <p:nvPr/>
        </p:nvSpPr>
        <p:spPr>
          <a:xfrm>
            <a:off x="1243584" y="1389888"/>
            <a:ext cx="2816352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316736" y="14173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2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task policy by SAC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335024" y="1664208"/>
            <a:ext cx="914400" cy="32918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maximize reward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s.t.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τ</a:t>
            </a:r>
          </a:p>
        </p:txBody>
      </p:sp>
      <p:grpSp>
        <p:nvGrpSpPr>
          <p:cNvPr id="160" name="task_policy"/>
          <p:cNvGrpSpPr/>
          <p:nvPr/>
        </p:nvGrpSpPr>
        <p:grpSpPr>
          <a:xfrm>
            <a:off x="2450592" y="1645920"/>
            <a:ext cx="457200" cy="329184"/>
            <a:chOff x="2450592" y="1645920"/>
            <a:chExt cx="457200" cy="329184"/>
          </a:xfrm>
        </p:grpSpPr>
        <p:sp>
          <p:nvSpPr>
            <p:cNvPr id="161" name="Rounded Rectangle 160"/>
            <p:cNvSpPr/>
            <p:nvPr/>
          </p:nvSpPr>
          <p:spPr>
            <a:xfrm>
              <a:off x="2450592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2" name="Connector 161"/>
            <p:cNvCxnSpPr/>
            <p:nvPr/>
          </p:nvCxnSpPr>
          <p:spPr>
            <a:xfrm flipV="1">
              <a:off x="2514600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or 162"/>
            <p:cNvCxnSpPr/>
            <p:nvPr/>
          </p:nvCxnSpPr>
          <p:spPr>
            <a:xfrm>
              <a:off x="2514600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or 163"/>
            <p:cNvCxnSpPr/>
            <p:nvPr/>
          </p:nvCxnSpPr>
          <p:spPr>
            <a:xfrm>
              <a:off x="2514600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 164"/>
            <p:cNvCxnSpPr/>
            <p:nvPr/>
          </p:nvCxnSpPr>
          <p:spPr>
            <a:xfrm>
              <a:off x="2514600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ctor 165"/>
            <p:cNvCxnSpPr/>
            <p:nvPr/>
          </p:nvCxnSpPr>
          <p:spPr>
            <a:xfrm flipV="1">
              <a:off x="2514600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66"/>
            <p:cNvCxnSpPr/>
            <p:nvPr/>
          </p:nvCxnSpPr>
          <p:spPr>
            <a:xfrm flipV="1">
              <a:off x="2514600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or 167"/>
            <p:cNvCxnSpPr/>
            <p:nvPr/>
          </p:nvCxnSpPr>
          <p:spPr>
            <a:xfrm>
              <a:off x="2514600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>
              <a:off x="2514600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 flipV="1">
              <a:off x="2514600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 flipV="1">
              <a:off x="2514600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ctor 171"/>
            <p:cNvCxnSpPr/>
            <p:nvPr/>
          </p:nvCxnSpPr>
          <p:spPr>
            <a:xfrm flipV="1">
              <a:off x="2514600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 172"/>
            <p:cNvCxnSpPr/>
            <p:nvPr/>
          </p:nvCxnSpPr>
          <p:spPr>
            <a:xfrm>
              <a:off x="2514600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2679192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>
              <a:off x="2679192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>
              <a:off x="2679192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ctor 176"/>
            <p:cNvCxnSpPr/>
            <p:nvPr/>
          </p:nvCxnSpPr>
          <p:spPr>
            <a:xfrm flipV="1">
              <a:off x="2679192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ctor 177"/>
            <p:cNvCxnSpPr/>
            <p:nvPr/>
          </p:nvCxnSpPr>
          <p:spPr>
            <a:xfrm>
              <a:off x="2679192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or 178"/>
            <p:cNvCxnSpPr/>
            <p:nvPr/>
          </p:nvCxnSpPr>
          <p:spPr>
            <a:xfrm>
              <a:off x="2679192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2679192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ctor 180"/>
            <p:cNvCxnSpPr/>
            <p:nvPr/>
          </p:nvCxnSpPr>
          <p:spPr>
            <a:xfrm flipV="1">
              <a:off x="2679192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or 181"/>
            <p:cNvCxnSpPr/>
            <p:nvPr/>
          </p:nvCxnSpPr>
          <p:spPr>
            <a:xfrm>
              <a:off x="2679192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82"/>
            <p:cNvCxnSpPr/>
            <p:nvPr/>
          </p:nvCxnSpPr>
          <p:spPr>
            <a:xfrm flipV="1">
              <a:off x="2679192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or 183"/>
            <p:cNvCxnSpPr/>
            <p:nvPr/>
          </p:nvCxnSpPr>
          <p:spPr>
            <a:xfrm flipV="1">
              <a:off x="2679192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or 184"/>
            <p:cNvCxnSpPr/>
            <p:nvPr/>
          </p:nvCxnSpPr>
          <p:spPr>
            <a:xfrm flipV="1">
              <a:off x="2679192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Oval 185"/>
            <p:cNvSpPr/>
            <p:nvPr/>
          </p:nvSpPr>
          <p:spPr>
            <a:xfrm>
              <a:off x="2494429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Oval 186"/>
            <p:cNvSpPr/>
            <p:nvPr/>
          </p:nvSpPr>
          <p:spPr>
            <a:xfrm>
              <a:off x="2494429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Oval 187"/>
            <p:cNvSpPr/>
            <p:nvPr/>
          </p:nvSpPr>
          <p:spPr>
            <a:xfrm>
              <a:off x="2494429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Oval 188"/>
            <p:cNvSpPr/>
            <p:nvPr/>
          </p:nvSpPr>
          <p:spPr>
            <a:xfrm>
              <a:off x="2659021" y="167146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Oval 189"/>
            <p:cNvSpPr/>
            <p:nvPr/>
          </p:nvSpPr>
          <p:spPr>
            <a:xfrm>
              <a:off x="2659021" y="1750717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Oval 190"/>
            <p:cNvSpPr/>
            <p:nvPr/>
          </p:nvSpPr>
          <p:spPr>
            <a:xfrm>
              <a:off x="2659021" y="1829965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Oval 191"/>
            <p:cNvSpPr/>
            <p:nvPr/>
          </p:nvSpPr>
          <p:spPr>
            <a:xfrm>
              <a:off x="2659021" y="190921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Oval 192"/>
            <p:cNvSpPr/>
            <p:nvPr/>
          </p:nvSpPr>
          <p:spPr>
            <a:xfrm>
              <a:off x="2823613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2823613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2823613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6" name="TextBox 195"/>
          <p:cNvSpPr txBox="1"/>
          <p:nvPr/>
        </p:nvSpPr>
        <p:spPr>
          <a:xfrm>
            <a:off x="2359152" y="1984248"/>
            <a:ext cx="6400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8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grpSp>
        <p:nvGrpSpPr>
          <p:cNvPr id="197" name="critic_frozen"/>
          <p:cNvGrpSpPr/>
          <p:nvPr/>
        </p:nvGrpSpPr>
        <p:grpSpPr>
          <a:xfrm>
            <a:off x="3401568" y="1645920"/>
            <a:ext cx="457200" cy="329184"/>
            <a:chOff x="3401568" y="1645920"/>
            <a:chExt cx="457200" cy="329184"/>
          </a:xfrm>
        </p:grpSpPr>
        <p:sp>
          <p:nvSpPr>
            <p:cNvPr id="198" name="Rounded Rectangle 197"/>
            <p:cNvSpPr/>
            <p:nvPr/>
          </p:nvSpPr>
          <p:spPr>
            <a:xfrm>
              <a:off x="3401568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2F2F2"/>
            </a:solidFill>
            <a:ln w="889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Connector 198"/>
            <p:cNvCxnSpPr/>
            <p:nvPr/>
          </p:nvCxnSpPr>
          <p:spPr>
            <a:xfrm flipV="1">
              <a:off x="3465575" y="1691640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>
              <a:off x="3465575" y="1731264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3465575" y="1731264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3465575" y="1731264"/>
              <a:ext cx="164593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3465575" y="1691640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3465575" y="1770888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3465575" y="1810512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>
              <a:off x="3465575" y="1810512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3465575" y="1691640"/>
              <a:ext cx="164593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3465575" y="1770888"/>
              <a:ext cx="164593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or 208"/>
            <p:cNvCxnSpPr/>
            <p:nvPr/>
          </p:nvCxnSpPr>
          <p:spPr>
            <a:xfrm flipV="1">
              <a:off x="3465575" y="1850136"/>
              <a:ext cx="164593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ctor 209"/>
            <p:cNvCxnSpPr/>
            <p:nvPr/>
          </p:nvCxnSpPr>
          <p:spPr>
            <a:xfrm>
              <a:off x="3465575" y="1889759"/>
              <a:ext cx="164593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ctor 210"/>
            <p:cNvCxnSpPr/>
            <p:nvPr/>
          </p:nvCxnSpPr>
          <p:spPr>
            <a:xfrm>
              <a:off x="3630168" y="1691640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 211"/>
            <p:cNvCxnSpPr/>
            <p:nvPr/>
          </p:nvCxnSpPr>
          <p:spPr>
            <a:xfrm>
              <a:off x="3630168" y="1691640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ctor 212"/>
            <p:cNvCxnSpPr/>
            <p:nvPr/>
          </p:nvCxnSpPr>
          <p:spPr>
            <a:xfrm>
              <a:off x="3630168" y="1691640"/>
              <a:ext cx="164591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ctor 213"/>
            <p:cNvCxnSpPr/>
            <p:nvPr/>
          </p:nvCxnSpPr>
          <p:spPr>
            <a:xfrm flipV="1">
              <a:off x="3630168" y="1731264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214"/>
            <p:cNvCxnSpPr/>
            <p:nvPr/>
          </p:nvCxnSpPr>
          <p:spPr>
            <a:xfrm>
              <a:off x="3630168" y="1770888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ctor 215"/>
            <p:cNvCxnSpPr/>
            <p:nvPr/>
          </p:nvCxnSpPr>
          <p:spPr>
            <a:xfrm>
              <a:off x="3630168" y="1770888"/>
              <a:ext cx="164591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ctor 216"/>
            <p:cNvCxnSpPr/>
            <p:nvPr/>
          </p:nvCxnSpPr>
          <p:spPr>
            <a:xfrm flipV="1">
              <a:off x="3630168" y="1731264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ctor 217"/>
            <p:cNvCxnSpPr/>
            <p:nvPr/>
          </p:nvCxnSpPr>
          <p:spPr>
            <a:xfrm flipV="1">
              <a:off x="3630168" y="1810512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ctor 218"/>
            <p:cNvCxnSpPr/>
            <p:nvPr/>
          </p:nvCxnSpPr>
          <p:spPr>
            <a:xfrm>
              <a:off x="3630168" y="1850136"/>
              <a:ext cx="164591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ctor 219"/>
            <p:cNvCxnSpPr/>
            <p:nvPr/>
          </p:nvCxnSpPr>
          <p:spPr>
            <a:xfrm flipV="1">
              <a:off x="3630168" y="1731264"/>
              <a:ext cx="164591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ctor 220"/>
            <p:cNvCxnSpPr/>
            <p:nvPr/>
          </p:nvCxnSpPr>
          <p:spPr>
            <a:xfrm flipV="1">
              <a:off x="3630168" y="1810512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ctor 221"/>
            <p:cNvCxnSpPr/>
            <p:nvPr/>
          </p:nvCxnSpPr>
          <p:spPr>
            <a:xfrm flipV="1">
              <a:off x="3630168" y="1889759"/>
              <a:ext cx="164591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Oval 222"/>
            <p:cNvSpPr/>
            <p:nvPr/>
          </p:nvSpPr>
          <p:spPr>
            <a:xfrm>
              <a:off x="3445405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45405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3445405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3609997" y="167146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3609997" y="1750717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3609997" y="1829965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3609997" y="190921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3774589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3774589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3774589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3" name="TextBox 232"/>
          <p:cNvSpPr txBox="1"/>
          <p:nvPr/>
        </p:nvSpPr>
        <p:spPr>
          <a:xfrm>
            <a:off x="3264408" y="1984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6B6B6B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650" b="0" i="0">
                <a:solidFill>
                  <a:srgbClr val="6B6B6B"/>
                </a:solidFill>
                <a:latin typeface="Times New Roman"/>
              </a:rPr>
              <a:t> frozen</a:t>
            </a:r>
          </a:p>
        </p:txBody>
      </p:sp>
      <p:cxnSp>
        <p:nvCxnSpPr>
          <p:cNvPr id="234" name="Connector 233"/>
          <p:cNvCxnSpPr/>
          <p:nvPr/>
        </p:nvCxnSpPr>
        <p:spPr>
          <a:xfrm flipH="1">
            <a:off x="2907792" y="1810512"/>
            <a:ext cx="493776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2907792" y="1636776"/>
            <a:ext cx="49377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 baseline="-2500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3712464" y="1316736"/>
            <a:ext cx="0" cy="329184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749040" y="1426464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freeze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1024128" y="841247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005840" y="685799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c, d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05840" y="8595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h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1024128" y="1755648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1005840" y="1600200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05840" y="17739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r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TextBox 244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248" name="task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249" name="Rounded Rectangle 248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0" name="Connector 249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ctor 250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or 251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ctor 252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ctor 253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or 254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ctor 255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ctor 256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ctor 257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ctor 258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ctor 259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ctor 260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 261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ctor 262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ctor 263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or 264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or 265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or 266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ctor 267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ctor 268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ctor 269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ctor 270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or 271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ctor 272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4" name="Oval 273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Oval 274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Oval 275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Oval 276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Oval 277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Oval 278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Oval 279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Oval 280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Oval 281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Oval 282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84" name="TextBox 283"/>
          <p:cNvSpPr txBox="1"/>
          <p:nvPr/>
        </p:nvSpPr>
        <p:spPr>
          <a:xfrm>
            <a:off x="5248656" y="667512"/>
            <a:ext cx="420624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sp>
        <p:nvSpPr>
          <p:cNvPr id="285" name="Rounded Rectangle 284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Shield</a:t>
            </a:r>
          </a:p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τ</a:t>
            </a:r>
          </a:p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else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286" name="Connector 285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8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89" name="Connector 288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95" name="Connector 294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TextBox 295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GNSS, IMU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