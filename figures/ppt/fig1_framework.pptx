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547104" cy="26060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" y="301752"/>
            <a:ext cx="1481328" cy="1920240"/>
          </a:xfrm>
          <a:prstGeom prst="roundRect">
            <a:avLst>
              <a:gd name="adj" fmla="val 3703"/>
            </a:avLst>
          </a:prstGeom>
          <a:solidFill>
            <a:srgbClr val="E8EFF6"/>
          </a:solidFill>
          <a:ln w="1143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" y="342011"/>
            <a:ext cx="1481328" cy="13893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60" b="1" i="0">
                <a:solidFill>
                  <a:srgbClr val="2E5A87"/>
                </a:solidFill>
                <a:latin typeface="Times New Roman"/>
              </a:rPr>
              <a:t>Vessel with gear shift dwell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539496"/>
            <a:ext cx="1316736" cy="36575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Gear shift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 ∈ {R, N, F}</a:t>
            </a:r>
          </a:p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held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D</a:t>
            </a:r>
            <a:r>
              <a:rPr sz="700" b="0" i="1" baseline="-25000">
                <a:solidFill>
                  <a:srgbClr val="000000"/>
                </a:solidFill>
                <a:latin typeface="Times New Roman"/>
              </a:rPr>
              <a:t>g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 = 6 steps (3 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996696"/>
            <a:ext cx="1316736" cy="36575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Sterndrive steering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δ</a:t>
            </a:r>
          </a:p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rate limited, no dwell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1453896"/>
            <a:ext cx="1316736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Disturbance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d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 ∈ </a:t>
            </a:r>
            <a:r>
              <a:rPr sz="700" b="0" i="0">
                <a:solidFill>
                  <a:srgbClr val="000000"/>
                </a:solidFill>
                <a:latin typeface="Cambria Math"/>
              </a:rPr>
              <a:t>𝒲</a:t>
            </a:r>
          </a:p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wind and current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903730"/>
            <a:ext cx="1481328" cy="2341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9B2222"/>
                </a:solidFill>
                <a:latin typeface="Times New Roman"/>
              </a:rPr>
              <a:t>Locked in N, thrust and</a:t>
            </a:r>
          </a:p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9B2222"/>
                </a:solidFill>
                <a:latin typeface="Times New Roman"/>
              </a:rPr>
              <a:t>steering force both vanish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64792" y="301752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BEFE3"/>
          </a:solidFill>
          <a:ln w="1143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342011"/>
            <a:ext cx="2011680" cy="13893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60" b="1" i="0">
                <a:solidFill>
                  <a:srgbClr val="A65E1A"/>
                </a:solidFill>
                <a:latin typeface="Times New Roman"/>
              </a:rPr>
              <a:t>Stage 1 offline, dwell indexed RIS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47088" y="539496"/>
            <a:ext cx="1847088" cy="329183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Augmented state</a:t>
            </a:r>
          </a:p>
          <a:p>
            <a:pPr algn="ctr">
              <a:lnSpc>
                <a:spcPct val="105000"/>
              </a:lnSpc>
            </a:pPr>
            <a:r>
              <a:rPr sz="700" b="0" i="1">
                <a:solidFill>
                  <a:srgbClr val="000000"/>
                </a:solidFill>
                <a:latin typeface="Times New Roman"/>
              </a:rPr>
              <a:t>ξ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 = (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x̃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ỹ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ψ̃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u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v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r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δ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τ</a:t>
            </a:r>
            <a:r>
              <a:rPr sz="700" b="0" i="1" baseline="-25000">
                <a:solidFill>
                  <a:srgbClr val="000000"/>
                </a:solidFill>
                <a:latin typeface="Times New Roman"/>
              </a:rPr>
              <a:t>g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47088" y="960120"/>
            <a:ext cx="886968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Protagonist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70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max over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C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(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ξ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7208" y="960120"/>
            <a:ext cx="886968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Adversary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μ</a:t>
            </a:r>
          </a:p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min over </a:t>
            </a:r>
            <a:r>
              <a:rPr sz="700" b="0" i="0">
                <a:solidFill>
                  <a:srgbClr val="000000"/>
                </a:solidFill>
                <a:latin typeface="Cambria Math"/>
              </a:rPr>
              <a:t>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99032"/>
            <a:ext cx="1847088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Twin safety critics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700" b="0" i="1" baseline="-25000">
                <a:solidFill>
                  <a:srgbClr val="000000"/>
                </a:solidFill>
                <a:latin typeface="Times New Roman"/>
              </a:rPr>
              <a:t>h,1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700" b="0" i="1" baseline="-25000">
                <a:solidFill>
                  <a:srgbClr val="000000"/>
                </a:solidFill>
                <a:latin typeface="Times New Roman"/>
              </a:rPr>
              <a:t>h,2</a:t>
            </a:r>
          </a:p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one step discounted backup, masked</a:t>
            </a:r>
          </a:p>
        </p:txBody>
      </p:sp>
      <p:sp>
        <p:nvSpPr>
          <p:cNvPr id="14" name="Oval 13"/>
          <p:cNvSpPr/>
          <p:nvPr/>
        </p:nvSpPr>
        <p:spPr>
          <a:xfrm>
            <a:off x="1874519" y="1865376"/>
            <a:ext cx="676656" cy="310896"/>
          </a:xfrm>
          <a:prstGeom prst="ellipse">
            <a:avLst/>
          </a:prstGeom>
          <a:solidFill>
            <a:srgbClr val="A65E1A">
              <a:alpha val="16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84248" y="1915667"/>
            <a:ext cx="457200" cy="210312"/>
          </a:xfrm>
          <a:prstGeom prst="ellipse">
            <a:avLst/>
          </a:prstGeom>
          <a:solidFill>
            <a:srgbClr val="A65E1A">
              <a:alpha val="30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93976" y="1965960"/>
            <a:ext cx="237744" cy="109728"/>
          </a:xfrm>
          <a:prstGeom prst="ellipse">
            <a:avLst/>
          </a:prstGeom>
          <a:solidFill>
            <a:srgbClr val="A65E1A">
              <a:alpha val="55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41448" y="1962467"/>
            <a:ext cx="109728" cy="11671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20" b="0" i="0">
                <a:solidFill>
                  <a:srgbClr val="A65E1A"/>
                </a:solidFill>
                <a:latin typeface="Times New Roman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1962467"/>
            <a:ext cx="109728" cy="11671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20" b="0" i="0">
                <a:solidFill>
                  <a:srgbClr val="A65E1A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7984" y="1962467"/>
            <a:ext cx="109728" cy="11671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20" b="0" i="0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1746789"/>
            <a:ext cx="731520" cy="118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30" b="0" i="1">
                <a:solidFill>
                  <a:srgbClr val="A65E1A"/>
                </a:solidFill>
                <a:latin typeface="Times New Roman"/>
              </a:rPr>
              <a:t>τ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= 0, 3,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1822323"/>
            <a:ext cx="1005840" cy="34213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000000"/>
                </a:solidFill>
                <a:latin typeface="Times New Roman"/>
              </a:rPr>
              <a:t>Safe set family</a:t>
            </a:r>
          </a:p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000000"/>
                </a:solidFill>
                <a:latin typeface="Cambria Math"/>
              </a:rPr>
              <a:t>𝒮</a:t>
            </a:r>
            <a:r>
              <a:rPr sz="680" b="0" i="0">
                <a:solidFill>
                  <a:srgbClr val="000000"/>
                </a:solidFill>
                <a:latin typeface="Times New Roman"/>
              </a:rPr>
              <a:t>(</a:t>
            </a:r>
            <a:r>
              <a:rPr sz="68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8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80" b="0" i="1">
                <a:solidFill>
                  <a:srgbClr val="000000"/>
                </a:solidFill>
                <a:latin typeface="Times New Roman"/>
              </a:rPr>
              <a:t>τ</a:t>
            </a:r>
            <a:r>
              <a:rPr sz="680" b="0" i="1" baseline="-25000">
                <a:solidFill>
                  <a:srgbClr val="000000"/>
                </a:solidFill>
                <a:latin typeface="Times New Roman"/>
              </a:rPr>
              <a:t>g</a:t>
            </a:r>
            <a:r>
              <a:rPr sz="680" b="0" i="0">
                <a:solidFill>
                  <a:srgbClr val="000000"/>
                </a:solidFill>
                <a:latin typeface="Times New Roman"/>
              </a:rPr>
              <a:t>), smaller</a:t>
            </a:r>
          </a:p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000000"/>
                </a:solidFill>
                <a:latin typeface="Times New Roman"/>
              </a:rPr>
              <a:t>deeper in a lock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14215" y="301752"/>
            <a:ext cx="1069848" cy="1920240"/>
          </a:xfrm>
          <a:prstGeom prst="roundRect">
            <a:avLst>
              <a:gd name="adj" fmla="val 5128"/>
            </a:avLst>
          </a:prstGeom>
          <a:solidFill>
            <a:srgbClr val="FBEFE3"/>
          </a:solidFill>
          <a:ln w="1143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14215" y="342011"/>
            <a:ext cx="1069848" cy="13893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60" b="1" i="0">
                <a:solidFill>
                  <a:srgbClr val="A65E1A"/>
                </a:solidFill>
                <a:latin typeface="Times New Roman"/>
              </a:rPr>
              <a:t>Stage 2 offline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87368" y="557783"/>
            <a:ext cx="923544" cy="49377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Task policy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700" b="0" i="1" baseline="-25000">
                <a:solidFill>
                  <a:srgbClr val="000000"/>
                </a:solidFill>
                <a:latin typeface="Times New Roman"/>
              </a:rPr>
              <a:t>t</a:t>
            </a:r>
          </a:p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soft actor critic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87368" y="1161288"/>
            <a:ext cx="923544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Lagrangian on</a:t>
            </a:r>
          </a:p>
          <a:p>
            <a:pPr algn="ctr">
              <a:lnSpc>
                <a:spcPct val="105000"/>
              </a:lnSpc>
            </a:pPr>
            <a:r>
              <a:rPr sz="70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 ≥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τ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λ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 ≥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λ</a:t>
            </a:r>
            <a:r>
              <a:rPr sz="700" b="0" i="0" baseline="-25000">
                <a:solidFill>
                  <a:srgbClr val="000000"/>
                </a:solidFill>
                <a:latin typeface="Times New Roman"/>
              </a:rPr>
              <a:t>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4215" y="1763077"/>
            <a:ext cx="1069848" cy="33261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0">
                <a:solidFill>
                  <a:srgbClr val="6B6B6B"/>
                </a:solidFill>
                <a:latin typeface="Times New Roman"/>
              </a:rPr>
              <a:t>safety critic </a:t>
            </a:r>
            <a:r>
              <a:rPr sz="660" b="0" i="1">
                <a:solidFill>
                  <a:srgbClr val="6B6B6B"/>
                </a:solidFill>
                <a:latin typeface="Times New Roman"/>
              </a:rPr>
              <a:t>q</a:t>
            </a:r>
          </a:p>
          <a:p>
            <a:pPr algn="ctr">
              <a:lnSpc>
                <a:spcPct val="105000"/>
              </a:lnSpc>
            </a:pPr>
            <a:r>
              <a:rPr sz="660" b="0" i="0">
                <a:solidFill>
                  <a:srgbClr val="6B6B6B"/>
                </a:solidFill>
                <a:latin typeface="Times New Roman"/>
              </a:rPr>
              <a:t>frozen from</a:t>
            </a:r>
          </a:p>
          <a:p>
            <a:pPr algn="ctr">
              <a:lnSpc>
                <a:spcPct val="105000"/>
              </a:lnSpc>
            </a:pPr>
            <a:r>
              <a:rPr sz="660" b="0" i="0">
                <a:solidFill>
                  <a:srgbClr val="6B6B6B"/>
                </a:solidFill>
                <a:latin typeface="Times New Roman"/>
              </a:rPr>
              <a:t>Stage 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21808" y="301752"/>
            <a:ext cx="1179576" cy="1920240"/>
          </a:xfrm>
          <a:prstGeom prst="roundRect">
            <a:avLst>
              <a:gd name="adj" fmla="val 4651"/>
            </a:avLst>
          </a:prstGeom>
          <a:solidFill>
            <a:srgbClr val="E7F3EC"/>
          </a:solidFill>
          <a:ln w="1143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21808" y="342011"/>
            <a:ext cx="1179576" cy="13893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60" b="1" i="0">
                <a:solidFill>
                  <a:srgbClr val="2F7D4F"/>
                </a:solidFill>
                <a:latin typeface="Times New Roman"/>
              </a:rPr>
              <a:t>Onboard, every 0.5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94960" y="539496"/>
            <a:ext cx="1033272" cy="347471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889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EKF state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ξ</a:t>
            </a:r>
            <a:r>
              <a:rPr sz="700" b="0" i="1" baseline="-25000">
                <a:solidFill>
                  <a:srgbClr val="000000"/>
                </a:solidFill>
                <a:latin typeface="Times New Roman"/>
              </a:rPr>
              <a:t>k</a:t>
            </a:r>
          </a:p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at 10 Hz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4960" y="996696"/>
            <a:ext cx="1033272" cy="5486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889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Shield</a:t>
            </a:r>
          </a:p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apply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a</a:t>
            </a:r>
            <a:r>
              <a:rPr sz="700" b="0" i="1" baseline="-25000">
                <a:solidFill>
                  <a:srgbClr val="000000"/>
                </a:solidFill>
                <a:latin typeface="Times New Roman"/>
              </a:rPr>
              <a:t>t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 if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(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ξ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a</a:t>
            </a:r>
            <a:r>
              <a:rPr sz="700" b="0" i="1" baseline="-25000">
                <a:solidFill>
                  <a:srgbClr val="000000"/>
                </a:solidFill>
                <a:latin typeface="Times New Roman"/>
              </a:rPr>
              <a:t>t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) ≥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τ</a:t>
            </a:r>
          </a:p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else apply 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700" b="0" i="1" baseline="-25000">
                <a:solidFill>
                  <a:srgbClr val="000000"/>
                </a:solidFill>
                <a:latin typeface="Times New Roman"/>
              </a:rPr>
              <a:t>h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(</a:t>
            </a:r>
            <a:r>
              <a:rPr sz="700" b="0" i="1">
                <a:solidFill>
                  <a:srgbClr val="000000"/>
                </a:solidFill>
                <a:latin typeface="Times New Roman"/>
              </a:rPr>
              <a:t>ξ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94960" y="1655064"/>
            <a:ext cx="1033272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889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PLC and</a:t>
            </a:r>
          </a:p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servo cylinders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11596" y="886968"/>
            <a:ext cx="0" cy="109728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911596" y="1545336"/>
            <a:ext cx="0" cy="109728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527048" y="1179576"/>
            <a:ext cx="237744" cy="0"/>
          </a:xfrm>
          <a:prstGeom prst="line">
            <a:avLst/>
          </a:prstGeom>
          <a:ln w="1143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463040" y="999966"/>
            <a:ext cx="365760" cy="1214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model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776472" y="1179576"/>
            <a:ext cx="237743" cy="0"/>
          </a:xfrm>
          <a:prstGeom prst="line">
            <a:avLst/>
          </a:prstGeom>
          <a:ln w="1143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712463" y="999966"/>
            <a:ext cx="365760" cy="1214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084064" y="1179576"/>
            <a:ext cx="237744" cy="0"/>
          </a:xfrm>
          <a:prstGeom prst="line">
            <a:avLst/>
          </a:prstGeom>
          <a:ln w="1143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20055" y="999966"/>
            <a:ext cx="365760" cy="1214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t</a:t>
            </a:r>
          </a:p>
        </p:txBody>
      </p:sp>
      <p:sp>
        <p:nvSpPr>
          <p:cNvPr id="40" name="Freeform 39"/>
          <p:cNvSpPr/>
          <p:nvPr/>
        </p:nvSpPr>
        <p:spPr>
          <a:xfrm>
            <a:off x="3273552" y="155447"/>
            <a:ext cx="2402128" cy="146305"/>
          </a:xfrm>
          <a:custGeom>
            <a:avLst/>
            <a:gdLst/>
            <a:ahLst/>
            <a:cxnLst/>
            <a:rect l="l" t="t" r="r" b="b"/>
            <a:pathLst>
              <a:path w="2402128" h="146305">
                <a:moveTo>
                  <a:pt x="0" y="146305"/>
                </a:moveTo>
                <a:lnTo>
                  <a:pt x="0" y="0"/>
                </a:lnTo>
                <a:lnTo>
                  <a:pt x="2402128" y="0"/>
                </a:lnTo>
                <a:lnTo>
                  <a:pt x="2402128" y="146305"/>
                </a:lnTo>
              </a:path>
            </a:pathLst>
          </a:custGeom>
          <a:noFill/>
          <a:ln w="11430">
            <a:solidFill>
              <a:srgbClr val="000000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77336" y="12414"/>
            <a:ext cx="2194560" cy="1214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certified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, and margin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τ</a:t>
            </a:r>
          </a:p>
        </p:txBody>
      </p:sp>
      <p:sp>
        <p:nvSpPr>
          <p:cNvPr id="42" name="Freeform 41"/>
          <p:cNvSpPr/>
          <p:nvPr/>
        </p:nvSpPr>
        <p:spPr>
          <a:xfrm>
            <a:off x="923544" y="2221992"/>
            <a:ext cx="4988052" cy="137160"/>
          </a:xfrm>
          <a:custGeom>
            <a:avLst/>
            <a:gdLst/>
            <a:ahLst/>
            <a:cxnLst/>
            <a:rect l="l" t="t" r="r" b="b"/>
            <a:pathLst>
              <a:path w="4988052" h="137160">
                <a:moveTo>
                  <a:pt x="4988052" y="0"/>
                </a:moveTo>
                <a:lnTo>
                  <a:pt x="4988052" y="137160"/>
                </a:lnTo>
                <a:lnTo>
                  <a:pt x="0" y="137160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77390" y="2225262"/>
            <a:ext cx="2743200" cy="1214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2F7D4F"/>
                </a:solidFill>
                <a:latin typeface="Times New Roman"/>
              </a:rPr>
              <a:t>gear and steering commands to the vessel</a:t>
            </a:r>
          </a:p>
        </p:txBody>
      </p:sp>
      <p:sp>
        <p:nvSpPr>
          <p:cNvPr id="44" name="Freeform 43"/>
          <p:cNvSpPr/>
          <p:nvPr/>
        </p:nvSpPr>
        <p:spPr>
          <a:xfrm>
            <a:off x="649224" y="2221992"/>
            <a:ext cx="5490972" cy="283464"/>
          </a:xfrm>
          <a:custGeom>
            <a:avLst/>
            <a:gdLst/>
            <a:ahLst/>
            <a:cxnLst/>
            <a:rect l="l" t="t" r="r" b="b"/>
            <a:pathLst>
              <a:path w="5490972" h="283464">
                <a:moveTo>
                  <a:pt x="0" y="0"/>
                </a:moveTo>
                <a:lnTo>
                  <a:pt x="0" y="283464"/>
                </a:lnTo>
                <a:lnTo>
                  <a:pt x="5490972" y="283464"/>
                </a:lnTo>
                <a:lnTo>
                  <a:pt x="5490972" y="0"/>
                </a:lnTo>
              </a:path>
            </a:pathLst>
          </a:custGeom>
          <a:noFill/>
          <a:ln w="11430">
            <a:solidFill>
              <a:srgbClr val="2E5A87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77390" y="2513298"/>
            <a:ext cx="2743200" cy="1214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2E5A87"/>
                </a:solidFill>
                <a:latin typeface="Times New Roman"/>
              </a:rPr>
              <a:t>GNSS and IMU measurements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