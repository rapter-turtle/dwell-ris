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6547104" cy="224028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gion_offline"/>
          <p:cNvSpPr/>
          <p:nvPr/>
        </p:nvSpPr>
        <p:spPr>
          <a:xfrm>
            <a:off x="36576" y="36576"/>
            <a:ext cx="4114800" cy="2167128"/>
          </a:xfrm>
          <a:prstGeom prst="roundRect">
            <a:avLst>
              <a:gd name="adj" fmla="val 3375"/>
            </a:avLst>
          </a:prstGeom>
          <a:solidFill>
            <a:srgbClr val="FBEFE3"/>
          </a:solidFill>
          <a:ln w="1270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gion_online"/>
          <p:cNvSpPr/>
          <p:nvPr/>
        </p:nvSpPr>
        <p:spPr>
          <a:xfrm>
            <a:off x="4517136" y="36576"/>
            <a:ext cx="1993392" cy="2167128"/>
          </a:xfrm>
          <a:prstGeom prst="roundRect">
            <a:avLst>
              <a:gd name="adj" fmla="val 3669"/>
            </a:avLst>
          </a:prstGeom>
          <a:solidFill>
            <a:srgbClr val="E7F3EC"/>
          </a:solidFill>
          <a:ln w="1270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28016" y="82296"/>
            <a:ext cx="27432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A65E1A"/>
                </a:solidFill>
                <a:latin typeface="Times New Roman"/>
              </a:rPr>
              <a:t>Offline</a:t>
            </a:r>
            <a:r>
              <a:rPr sz="800" b="0" i="0">
                <a:solidFill>
                  <a:srgbClr val="A65E1A"/>
                </a:solidFill>
                <a:latin typeface="Times New Roman"/>
              </a:rPr>
              <a:t> RL training in simulation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608576" y="82296"/>
            <a:ext cx="1828800" cy="20116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800" b="1" i="0">
                <a:solidFill>
                  <a:srgbClr val="2F7D4F"/>
                </a:solidFill>
                <a:latin typeface="Times New Roman"/>
              </a:rPr>
              <a:t>Online</a:t>
            </a:r>
            <a:r>
              <a:rPr sz="800" b="0" i="0">
                <a:solidFill>
                  <a:srgbClr val="2F7D4F"/>
                </a:solidFill>
                <a:latin typeface="Times New Roman"/>
              </a:rPr>
              <a:t> deployment on the vessel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" y="329184"/>
            <a:ext cx="969264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1" i="0">
                <a:solidFill>
                  <a:srgbClr val="2E5A87"/>
                </a:solidFill>
                <a:latin typeface="Times New Roman"/>
              </a:rPr>
              <a:t>Simulators </a:t>
            </a:r>
            <a:r>
              <a:rPr sz="700" b="0" i="0">
                <a:solidFill>
                  <a:srgbClr val="2E5A87"/>
                </a:solidFill>
                <a:latin typeface="Times New Roman"/>
              </a:rPr>
              <a:t>×</a:t>
            </a:r>
            <a:r>
              <a:rPr sz="700" b="0" i="1">
                <a:solidFill>
                  <a:srgbClr val="2E5A87"/>
                </a:solidFill>
                <a:latin typeface="Times New Roman"/>
              </a:rPr>
              <a:t>N</a:t>
            </a:r>
          </a:p>
        </p:txBody>
      </p:sp>
      <p:sp>
        <p:nvSpPr>
          <p:cNvPr id="7" name="sim_card_0"/>
          <p:cNvSpPr/>
          <p:nvPr/>
        </p:nvSpPr>
        <p:spPr>
          <a:xfrm>
            <a:off x="237744" y="640080"/>
            <a:ext cx="786384" cy="713232"/>
          </a:xfrm>
          <a:prstGeom prst="roundRect">
            <a:avLst>
              <a:gd name="adj" fmla="val 6410"/>
            </a:avLst>
          </a:prstGeom>
          <a:solidFill>
            <a:srgbClr val="D5E2E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sim_card_1"/>
          <p:cNvSpPr/>
          <p:nvPr/>
        </p:nvSpPr>
        <p:spPr>
          <a:xfrm>
            <a:off x="182880" y="585215"/>
            <a:ext cx="786384" cy="713232"/>
          </a:xfrm>
          <a:prstGeom prst="roundRect">
            <a:avLst>
              <a:gd name="adj" fmla="val 6410"/>
            </a:avLst>
          </a:prstGeom>
          <a:solidFill>
            <a:srgbClr val="E8EFF6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sim_card_2"/>
          <p:cNvSpPr/>
          <p:nvPr/>
        </p:nvSpPr>
        <p:spPr>
          <a:xfrm>
            <a:off x="128016" y="530352"/>
            <a:ext cx="786384" cy="713232"/>
          </a:xfrm>
          <a:prstGeom prst="roundRect">
            <a:avLst>
              <a:gd name="adj" fmla="val 6410"/>
            </a:avLst>
          </a:prstGeom>
          <a:solidFill>
            <a:srgbClr val="FFFFFF"/>
          </a:solidFill>
          <a:ln w="8890">
            <a:solidFill>
              <a:srgbClr val="2E5A8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10" name="Connector 9"/>
          <p:cNvCxnSpPr/>
          <p:nvPr/>
        </p:nvCxnSpPr>
        <p:spPr>
          <a:xfrm>
            <a:off x="201168" y="640080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01168" y="690372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201168" y="740664"/>
            <a:ext cx="128016" cy="0"/>
          </a:xfrm>
          <a:prstGeom prst="line">
            <a:avLst/>
          </a:prstGeom>
          <a:ln w="10160">
            <a:solidFill>
              <a:srgbClr val="8A8A8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TextBox 12"/>
          <p:cNvSpPr txBox="1"/>
          <p:nvPr/>
        </p:nvSpPr>
        <p:spPr>
          <a:xfrm>
            <a:off x="365760" y="630936"/>
            <a:ext cx="45720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40" b="0" i="1">
                <a:solidFill>
                  <a:srgbClr val="6B6B6B"/>
                </a:solidFill>
                <a:latin typeface="Times New Roman"/>
              </a:rPr>
              <a:t>w</a:t>
            </a:r>
            <a:r>
              <a:rPr sz="640" b="0" i="0">
                <a:solidFill>
                  <a:srgbClr val="6B6B6B"/>
                </a:solidFill>
                <a:latin typeface="Times New Roman"/>
              </a:rPr>
              <a:t> ∈ </a:t>
            </a:r>
            <a:r>
              <a:rPr sz="640" b="0" i="0">
                <a:solidFill>
                  <a:srgbClr val="6B6B6B"/>
                </a:solidFill>
                <a:latin typeface="Cambria Math"/>
              </a:rPr>
              <a:t>𝒲</a:t>
            </a:r>
          </a:p>
        </p:txBody>
      </p:sp>
      <p:sp>
        <p:nvSpPr>
          <p:cNvPr id="14" name="boat_hull"/>
          <p:cNvSpPr/>
          <p:nvPr/>
        </p:nvSpPr>
        <p:spPr>
          <a:xfrm>
            <a:off x="274320" y="822960"/>
            <a:ext cx="530351" cy="182880"/>
          </a:xfrm>
          <a:custGeom>
            <a:avLst/>
            <a:gdLst/>
            <a:ahLst/>
            <a:cxnLst/>
            <a:rect l="l" t="t" r="r" b="b"/>
            <a:pathLst>
              <a:path w="530351" h="182880">
                <a:moveTo>
                  <a:pt x="0" y="21945"/>
                </a:moveTo>
                <a:lnTo>
                  <a:pt x="328818" y="0"/>
                </a:lnTo>
                <a:lnTo>
                  <a:pt x="456102" y="21945"/>
                </a:lnTo>
                <a:lnTo>
                  <a:pt x="530351" y="91440"/>
                </a:lnTo>
                <a:lnTo>
                  <a:pt x="456102" y="160934"/>
                </a:lnTo>
                <a:lnTo>
                  <a:pt x="328818" y="182880"/>
                </a:lnTo>
                <a:lnTo>
                  <a:pt x="0" y="160934"/>
                </a:lnTo>
                <a:close/>
              </a:path>
            </a:pathLst>
          </a:custGeom>
          <a:solidFill>
            <a:srgbClr val="2E5A8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boat_sterndrive"/>
          <p:cNvSpPr/>
          <p:nvPr/>
        </p:nvSpPr>
        <p:spPr>
          <a:xfrm>
            <a:off x="237195" y="892454"/>
            <a:ext cx="37125" cy="43891"/>
          </a:xfrm>
          <a:custGeom>
            <a:avLst/>
            <a:gdLst/>
            <a:ahLst/>
            <a:cxnLst/>
            <a:rect l="l" t="t" r="r" b="b"/>
            <a:pathLst>
              <a:path w="37125" h="43891">
                <a:moveTo>
                  <a:pt x="0" y="0"/>
                </a:moveTo>
                <a:lnTo>
                  <a:pt x="37125" y="0"/>
                </a:lnTo>
                <a:lnTo>
                  <a:pt x="37125" y="43891"/>
                </a:lnTo>
                <a:lnTo>
                  <a:pt x="0" y="43891"/>
                </a:lnTo>
                <a:close/>
              </a:path>
            </a:pathLst>
          </a:custGeom>
          <a:solidFill>
            <a:srgbClr val="1B3A5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28016" y="1069848"/>
            <a:ext cx="7863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20" b="0" i="0">
                <a:solidFill>
                  <a:srgbClr val="2E5A87"/>
                </a:solidFill>
                <a:latin typeface="Times New Roman"/>
              </a:rPr>
              <a:t>dwell </a:t>
            </a:r>
            <a:r>
              <a:rPr sz="620" b="0" i="1">
                <a:solidFill>
                  <a:srgbClr val="2E5A87"/>
                </a:solidFill>
                <a:latin typeface="Times New Roman"/>
              </a:rPr>
              <a:t>D</a:t>
            </a:r>
            <a:r>
              <a:rPr sz="620" b="0" i="1" baseline="-25000">
                <a:solidFill>
                  <a:srgbClr val="2E5A87"/>
                </a:solidFill>
                <a:latin typeface="Times New Roman"/>
              </a:rPr>
              <a:t>g</a:t>
            </a:r>
            <a:r>
              <a:rPr sz="620" b="0" i="0">
                <a:solidFill>
                  <a:srgbClr val="2E5A87"/>
                </a:solidFill>
                <a:latin typeface="Times New Roman"/>
              </a:rPr>
              <a:t> masked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1440" y="1426464"/>
            <a:ext cx="1005840" cy="47548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gear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 ∈ {R, N, F}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steering rate</a:t>
            </a:r>
          </a:p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wind and current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w</a:t>
            </a:r>
          </a:p>
        </p:txBody>
      </p:sp>
      <p:sp>
        <p:nvSpPr>
          <p:cNvPr id="18" name="rl_smdp"/>
          <p:cNvSpPr/>
          <p:nvPr/>
        </p:nvSpPr>
        <p:spPr>
          <a:xfrm>
            <a:off x="1243584" y="310896"/>
            <a:ext cx="2816352" cy="1810512"/>
          </a:xfrm>
          <a:prstGeom prst="roundRect">
            <a:avLst>
              <a:gd name="adj" fmla="val 202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316736" y="338328"/>
            <a:ext cx="2651760" cy="16459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700" b="1" i="0">
                <a:solidFill>
                  <a:srgbClr val="A65E1A"/>
                </a:solidFill>
                <a:latin typeface="Times New Roman"/>
              </a:rPr>
              <a:t>Dwell constrained RIS</a:t>
            </a:r>
            <a:r>
              <a:rPr sz="700" b="0" i="0">
                <a:solidFill>
                  <a:srgbClr val="A65E1A"/>
                </a:solidFill>
                <a:latin typeface="Times New Roman"/>
              </a:rPr>
              <a:t>  by adversarial RL on the SMDP</a:t>
            </a:r>
          </a:p>
        </p:txBody>
      </p:sp>
      <p:grpSp>
        <p:nvGrpSpPr>
          <p:cNvPr id="20" name="critic_2"/>
          <p:cNvGrpSpPr/>
          <p:nvPr/>
        </p:nvGrpSpPr>
        <p:grpSpPr>
          <a:xfrm>
            <a:off x="1481328" y="585216"/>
            <a:ext cx="512064" cy="384048"/>
            <a:chOff x="1481328" y="585216"/>
            <a:chExt cx="512064" cy="384048"/>
          </a:xfrm>
        </p:grpSpPr>
        <p:sp>
          <p:nvSpPr>
            <p:cNvPr id="21" name="Rounded Rectangle 20"/>
            <p:cNvSpPr/>
            <p:nvPr/>
          </p:nvSpPr>
          <p:spPr>
            <a:xfrm>
              <a:off x="1481328" y="585216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22" name="Connector 21"/>
            <p:cNvCxnSpPr/>
            <p:nvPr/>
          </p:nvCxnSpPr>
          <p:spPr>
            <a:xfrm flipV="1">
              <a:off x="1545336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3" name="Connector 22"/>
            <p:cNvCxnSpPr/>
            <p:nvPr/>
          </p:nvCxnSpPr>
          <p:spPr>
            <a:xfrm>
              <a:off x="1545336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4" name="Connector 23"/>
            <p:cNvCxnSpPr/>
            <p:nvPr/>
          </p:nvCxnSpPr>
          <p:spPr>
            <a:xfrm>
              <a:off x="1545336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5" name="Connector 24"/>
            <p:cNvCxnSpPr/>
            <p:nvPr/>
          </p:nvCxnSpPr>
          <p:spPr>
            <a:xfrm>
              <a:off x="1545336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6" name="Connector 25"/>
            <p:cNvCxnSpPr/>
            <p:nvPr/>
          </p:nvCxnSpPr>
          <p:spPr>
            <a:xfrm flipV="1">
              <a:off x="1545336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7" name="Connector 26"/>
            <p:cNvCxnSpPr/>
            <p:nvPr/>
          </p:nvCxnSpPr>
          <p:spPr>
            <a:xfrm flipV="1">
              <a:off x="1545336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8" name="Connector 27"/>
            <p:cNvCxnSpPr/>
            <p:nvPr/>
          </p:nvCxnSpPr>
          <p:spPr>
            <a:xfrm>
              <a:off x="1545336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9" name="Connector 28"/>
            <p:cNvCxnSpPr/>
            <p:nvPr/>
          </p:nvCxnSpPr>
          <p:spPr>
            <a:xfrm>
              <a:off x="1545336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0" name="Connector 29"/>
            <p:cNvCxnSpPr/>
            <p:nvPr/>
          </p:nvCxnSpPr>
          <p:spPr>
            <a:xfrm flipV="1">
              <a:off x="1545336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1" name="Connector 30"/>
            <p:cNvCxnSpPr/>
            <p:nvPr/>
          </p:nvCxnSpPr>
          <p:spPr>
            <a:xfrm flipV="1">
              <a:off x="1545336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2" name="Connector 31"/>
            <p:cNvCxnSpPr/>
            <p:nvPr/>
          </p:nvCxnSpPr>
          <p:spPr>
            <a:xfrm flipV="1">
              <a:off x="1545336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3" name="Connector 32"/>
            <p:cNvCxnSpPr/>
            <p:nvPr/>
          </p:nvCxnSpPr>
          <p:spPr>
            <a:xfrm>
              <a:off x="1545336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4" name="Connector 33"/>
            <p:cNvCxnSpPr/>
            <p:nvPr/>
          </p:nvCxnSpPr>
          <p:spPr>
            <a:xfrm>
              <a:off x="1737360" y="630936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5" name="Connector 34"/>
            <p:cNvCxnSpPr/>
            <p:nvPr/>
          </p:nvCxnSpPr>
          <p:spPr>
            <a:xfrm>
              <a:off x="1737360" y="6309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6" name="Connector 35"/>
            <p:cNvCxnSpPr/>
            <p:nvPr/>
          </p:nvCxnSpPr>
          <p:spPr>
            <a:xfrm>
              <a:off x="1737360" y="630936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7" name="Connector 36"/>
            <p:cNvCxnSpPr/>
            <p:nvPr/>
          </p:nvCxnSpPr>
          <p:spPr>
            <a:xfrm flipV="1">
              <a:off x="1737360" y="679704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8" name="Connector 37"/>
            <p:cNvCxnSpPr/>
            <p:nvPr/>
          </p:nvCxnSpPr>
          <p:spPr>
            <a:xfrm>
              <a:off x="1737360" y="728472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39" name="Connector 38"/>
            <p:cNvCxnSpPr/>
            <p:nvPr/>
          </p:nvCxnSpPr>
          <p:spPr>
            <a:xfrm>
              <a:off x="1737360" y="728472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0" name="Connector 39"/>
            <p:cNvCxnSpPr/>
            <p:nvPr/>
          </p:nvCxnSpPr>
          <p:spPr>
            <a:xfrm flipV="1">
              <a:off x="1737360" y="679704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1" name="Connector 40"/>
            <p:cNvCxnSpPr/>
            <p:nvPr/>
          </p:nvCxnSpPr>
          <p:spPr>
            <a:xfrm flipV="1">
              <a:off x="1737360" y="7772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2" name="Connector 41"/>
            <p:cNvCxnSpPr/>
            <p:nvPr/>
          </p:nvCxnSpPr>
          <p:spPr>
            <a:xfrm>
              <a:off x="1737360" y="826007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3" name="Connector 42"/>
            <p:cNvCxnSpPr/>
            <p:nvPr/>
          </p:nvCxnSpPr>
          <p:spPr>
            <a:xfrm flipV="1">
              <a:off x="1737360" y="679704"/>
              <a:ext cx="192024" cy="24383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4" name="Connector 43"/>
            <p:cNvCxnSpPr/>
            <p:nvPr/>
          </p:nvCxnSpPr>
          <p:spPr>
            <a:xfrm flipV="1">
              <a:off x="1737360" y="77724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45" name="Connector 44"/>
            <p:cNvCxnSpPr/>
            <p:nvPr/>
          </p:nvCxnSpPr>
          <p:spPr>
            <a:xfrm flipV="1">
              <a:off x="1737360" y="874775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46" name="Oval 45"/>
            <p:cNvSpPr/>
            <p:nvPr/>
          </p:nvSpPr>
          <p:spPr>
            <a:xfrm>
              <a:off x="1521131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7" name="Oval 46"/>
            <p:cNvSpPr/>
            <p:nvPr/>
          </p:nvSpPr>
          <p:spPr>
            <a:xfrm>
              <a:off x="1521131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8" name="Oval 47"/>
            <p:cNvSpPr/>
            <p:nvPr/>
          </p:nvSpPr>
          <p:spPr>
            <a:xfrm>
              <a:off x="1521131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49" name="Oval 48"/>
            <p:cNvSpPr/>
            <p:nvPr/>
          </p:nvSpPr>
          <p:spPr>
            <a:xfrm>
              <a:off x="1713155" y="6067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0" name="Oval 49"/>
            <p:cNvSpPr/>
            <p:nvPr/>
          </p:nvSpPr>
          <p:spPr>
            <a:xfrm>
              <a:off x="1713155" y="7042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1" name="Oval 50"/>
            <p:cNvSpPr/>
            <p:nvPr/>
          </p:nvSpPr>
          <p:spPr>
            <a:xfrm>
              <a:off x="1713155" y="8018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2" name="Oval 51"/>
            <p:cNvSpPr/>
            <p:nvPr/>
          </p:nvSpPr>
          <p:spPr>
            <a:xfrm>
              <a:off x="1713155" y="89933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3" name="Oval 52"/>
            <p:cNvSpPr/>
            <p:nvPr/>
          </p:nvSpPr>
          <p:spPr>
            <a:xfrm>
              <a:off x="1905179" y="6554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4" name="Oval 53"/>
            <p:cNvSpPr/>
            <p:nvPr/>
          </p:nvSpPr>
          <p:spPr>
            <a:xfrm>
              <a:off x="1905179" y="7530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55" name="Oval 54"/>
            <p:cNvSpPr/>
            <p:nvPr/>
          </p:nvSpPr>
          <p:spPr>
            <a:xfrm>
              <a:off x="1905179" y="85057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56" name="critic_1"/>
          <p:cNvGrpSpPr/>
          <p:nvPr/>
        </p:nvGrpSpPr>
        <p:grpSpPr>
          <a:xfrm>
            <a:off x="1426464" y="640080"/>
            <a:ext cx="512064" cy="384048"/>
            <a:chOff x="1426464" y="640080"/>
            <a:chExt cx="512064" cy="384048"/>
          </a:xfrm>
        </p:grpSpPr>
        <p:sp>
          <p:nvSpPr>
            <p:cNvPr id="57" name="Rounded Rectangle 56"/>
            <p:cNvSpPr/>
            <p:nvPr/>
          </p:nvSpPr>
          <p:spPr>
            <a:xfrm>
              <a:off x="1426464" y="640080"/>
              <a:ext cx="512064" cy="38404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58" name="Connector 57"/>
            <p:cNvCxnSpPr/>
            <p:nvPr/>
          </p:nvCxnSpPr>
          <p:spPr>
            <a:xfrm flipV="1">
              <a:off x="1490472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59" name="Connector 58"/>
            <p:cNvCxnSpPr/>
            <p:nvPr/>
          </p:nvCxnSpPr>
          <p:spPr>
            <a:xfrm>
              <a:off x="1490472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0" name="Connector 59"/>
            <p:cNvCxnSpPr/>
            <p:nvPr/>
          </p:nvCxnSpPr>
          <p:spPr>
            <a:xfrm>
              <a:off x="1490472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1" name="Connector 60"/>
            <p:cNvCxnSpPr/>
            <p:nvPr/>
          </p:nvCxnSpPr>
          <p:spPr>
            <a:xfrm>
              <a:off x="1490472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2" name="Connector 61"/>
            <p:cNvCxnSpPr/>
            <p:nvPr/>
          </p:nvCxnSpPr>
          <p:spPr>
            <a:xfrm flipV="1">
              <a:off x="1490472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3" name="Connector 62"/>
            <p:cNvCxnSpPr/>
            <p:nvPr/>
          </p:nvCxnSpPr>
          <p:spPr>
            <a:xfrm flipV="1">
              <a:off x="1490472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4" name="Connector 63"/>
            <p:cNvCxnSpPr/>
            <p:nvPr/>
          </p:nvCxnSpPr>
          <p:spPr>
            <a:xfrm>
              <a:off x="1490472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5" name="Connector 64"/>
            <p:cNvCxnSpPr/>
            <p:nvPr/>
          </p:nvCxnSpPr>
          <p:spPr>
            <a:xfrm>
              <a:off x="1490472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6" name="Connector 65"/>
            <p:cNvCxnSpPr/>
            <p:nvPr/>
          </p:nvCxnSpPr>
          <p:spPr>
            <a:xfrm flipV="1">
              <a:off x="1490472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7" name="Connector 66"/>
            <p:cNvCxnSpPr/>
            <p:nvPr/>
          </p:nvCxnSpPr>
          <p:spPr>
            <a:xfrm flipV="1">
              <a:off x="1490472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8" name="Connector 67"/>
            <p:cNvCxnSpPr/>
            <p:nvPr/>
          </p:nvCxnSpPr>
          <p:spPr>
            <a:xfrm flipV="1">
              <a:off x="1490472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69" name="Connector 68"/>
            <p:cNvCxnSpPr/>
            <p:nvPr/>
          </p:nvCxnSpPr>
          <p:spPr>
            <a:xfrm>
              <a:off x="1490472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0" name="Connector 69"/>
            <p:cNvCxnSpPr/>
            <p:nvPr/>
          </p:nvCxnSpPr>
          <p:spPr>
            <a:xfrm>
              <a:off x="1682496" y="68580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1" name="Connector 70"/>
            <p:cNvCxnSpPr/>
            <p:nvPr/>
          </p:nvCxnSpPr>
          <p:spPr>
            <a:xfrm>
              <a:off x="1682496" y="685800"/>
              <a:ext cx="192024" cy="146303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2" name="Connector 71"/>
            <p:cNvCxnSpPr/>
            <p:nvPr/>
          </p:nvCxnSpPr>
          <p:spPr>
            <a:xfrm>
              <a:off x="1682496" y="685800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3" name="Connector 72"/>
            <p:cNvCxnSpPr/>
            <p:nvPr/>
          </p:nvCxnSpPr>
          <p:spPr>
            <a:xfrm flipV="1">
              <a:off x="1682496" y="734567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4" name="Connector 73"/>
            <p:cNvCxnSpPr/>
            <p:nvPr/>
          </p:nvCxnSpPr>
          <p:spPr>
            <a:xfrm>
              <a:off x="1682496" y="783336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5" name="Connector 74"/>
            <p:cNvCxnSpPr/>
            <p:nvPr/>
          </p:nvCxnSpPr>
          <p:spPr>
            <a:xfrm>
              <a:off x="1682496" y="783336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6" name="Connector 75"/>
            <p:cNvCxnSpPr/>
            <p:nvPr/>
          </p:nvCxnSpPr>
          <p:spPr>
            <a:xfrm flipV="1">
              <a:off x="1682496" y="734567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7" name="Connector 76"/>
            <p:cNvCxnSpPr/>
            <p:nvPr/>
          </p:nvCxnSpPr>
          <p:spPr>
            <a:xfrm flipV="1">
              <a:off x="1682496" y="832103"/>
              <a:ext cx="192024" cy="4876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8" name="Connector 77"/>
            <p:cNvCxnSpPr/>
            <p:nvPr/>
          </p:nvCxnSpPr>
          <p:spPr>
            <a:xfrm>
              <a:off x="1682496" y="880871"/>
              <a:ext cx="192024" cy="4876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79" name="Connector 78"/>
            <p:cNvCxnSpPr/>
            <p:nvPr/>
          </p:nvCxnSpPr>
          <p:spPr>
            <a:xfrm flipV="1">
              <a:off x="1682496" y="734567"/>
              <a:ext cx="192024" cy="2438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0" name="Connector 79"/>
            <p:cNvCxnSpPr/>
            <p:nvPr/>
          </p:nvCxnSpPr>
          <p:spPr>
            <a:xfrm flipV="1">
              <a:off x="1682496" y="832103"/>
              <a:ext cx="192024" cy="14630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1" name="Connector 80"/>
            <p:cNvCxnSpPr/>
            <p:nvPr/>
          </p:nvCxnSpPr>
          <p:spPr>
            <a:xfrm flipV="1">
              <a:off x="1682496" y="929640"/>
              <a:ext cx="192024" cy="48767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Oval 81"/>
            <p:cNvSpPr/>
            <p:nvPr/>
          </p:nvSpPr>
          <p:spPr>
            <a:xfrm>
              <a:off x="1466267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3" name="Oval 82"/>
            <p:cNvSpPr/>
            <p:nvPr/>
          </p:nvSpPr>
          <p:spPr>
            <a:xfrm>
              <a:off x="1466267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4" name="Oval 83"/>
            <p:cNvSpPr/>
            <p:nvPr/>
          </p:nvSpPr>
          <p:spPr>
            <a:xfrm>
              <a:off x="1466267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5" name="Oval 84"/>
            <p:cNvSpPr/>
            <p:nvPr/>
          </p:nvSpPr>
          <p:spPr>
            <a:xfrm>
              <a:off x="1658291" y="66159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6" name="Oval 85"/>
            <p:cNvSpPr/>
            <p:nvPr/>
          </p:nvSpPr>
          <p:spPr>
            <a:xfrm>
              <a:off x="1658291" y="759131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7" name="Oval 86"/>
            <p:cNvSpPr/>
            <p:nvPr/>
          </p:nvSpPr>
          <p:spPr>
            <a:xfrm>
              <a:off x="1658291" y="856667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8" name="Oval 87"/>
            <p:cNvSpPr/>
            <p:nvPr/>
          </p:nvSpPr>
          <p:spPr>
            <a:xfrm>
              <a:off x="1658291" y="95420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89" name="Oval 88"/>
            <p:cNvSpPr/>
            <p:nvPr/>
          </p:nvSpPr>
          <p:spPr>
            <a:xfrm>
              <a:off x="1850315" y="710363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0" name="Oval 89"/>
            <p:cNvSpPr/>
            <p:nvPr/>
          </p:nvSpPr>
          <p:spPr>
            <a:xfrm>
              <a:off x="1850315" y="807899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91" name="Oval 90"/>
            <p:cNvSpPr/>
            <p:nvPr/>
          </p:nvSpPr>
          <p:spPr>
            <a:xfrm>
              <a:off x="1850315" y="905435"/>
              <a:ext cx="48409" cy="48409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92" name="TextBox 91"/>
          <p:cNvSpPr txBox="1"/>
          <p:nvPr/>
        </p:nvSpPr>
        <p:spPr>
          <a:xfrm>
            <a:off x="1335024" y="103327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h,1</a:t>
            </a:r>
            <a:r>
              <a:rPr sz="65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h,2</a:t>
            </a:r>
          </a:p>
        </p:txBody>
      </p:sp>
      <p:grpSp>
        <p:nvGrpSpPr>
          <p:cNvPr id="93" name="protagonist"/>
          <p:cNvGrpSpPr/>
          <p:nvPr/>
        </p:nvGrpSpPr>
        <p:grpSpPr>
          <a:xfrm>
            <a:off x="2286000" y="548640"/>
            <a:ext cx="402336" cy="274320"/>
            <a:chOff x="2286000" y="548640"/>
            <a:chExt cx="402336" cy="274320"/>
          </a:xfrm>
        </p:grpSpPr>
        <p:sp>
          <p:nvSpPr>
            <p:cNvPr id="94" name="Rounded Rectangle 93"/>
            <p:cNvSpPr/>
            <p:nvPr/>
          </p:nvSpPr>
          <p:spPr>
            <a:xfrm>
              <a:off x="2286000" y="548640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95" name="Connector 94"/>
            <p:cNvCxnSpPr/>
            <p:nvPr/>
          </p:nvCxnSpPr>
          <p:spPr>
            <a:xfrm>
              <a:off x="2350008" y="59436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6" name="Connector 95"/>
            <p:cNvCxnSpPr/>
            <p:nvPr/>
          </p:nvCxnSpPr>
          <p:spPr>
            <a:xfrm>
              <a:off x="2350008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7" name="Connector 96"/>
            <p:cNvCxnSpPr/>
            <p:nvPr/>
          </p:nvCxnSpPr>
          <p:spPr>
            <a:xfrm>
              <a:off x="2350008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8" name="Connector 97"/>
            <p:cNvCxnSpPr/>
            <p:nvPr/>
          </p:nvCxnSpPr>
          <p:spPr>
            <a:xfrm flipV="1">
              <a:off x="2350008" y="59436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9" name="Connector 98"/>
            <p:cNvCxnSpPr/>
            <p:nvPr/>
          </p:nvCxnSpPr>
          <p:spPr>
            <a:xfrm>
              <a:off x="2350008" y="68580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0" name="Connector 99"/>
            <p:cNvCxnSpPr/>
            <p:nvPr/>
          </p:nvCxnSpPr>
          <p:spPr>
            <a:xfrm>
              <a:off x="2350008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1" name="Connector 100"/>
            <p:cNvCxnSpPr/>
            <p:nvPr/>
          </p:nvCxnSpPr>
          <p:spPr>
            <a:xfrm flipV="1">
              <a:off x="2350008" y="594360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2" name="Connector 101"/>
            <p:cNvCxnSpPr/>
            <p:nvPr/>
          </p:nvCxnSpPr>
          <p:spPr>
            <a:xfrm flipV="1">
              <a:off x="2350008" y="685800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3" name="Connector 102"/>
            <p:cNvCxnSpPr/>
            <p:nvPr/>
          </p:nvCxnSpPr>
          <p:spPr>
            <a:xfrm>
              <a:off x="2350008" y="777240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4" name="Connector 103"/>
            <p:cNvCxnSpPr/>
            <p:nvPr/>
          </p:nvCxnSpPr>
          <p:spPr>
            <a:xfrm>
              <a:off x="2487168" y="59436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5" name="Connector 104"/>
            <p:cNvCxnSpPr/>
            <p:nvPr/>
          </p:nvCxnSpPr>
          <p:spPr>
            <a:xfrm>
              <a:off x="2487168" y="594360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6" name="Connector 105"/>
            <p:cNvCxnSpPr/>
            <p:nvPr/>
          </p:nvCxnSpPr>
          <p:spPr>
            <a:xfrm flipV="1">
              <a:off x="2487168" y="64008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7" name="Connector 106"/>
            <p:cNvCxnSpPr/>
            <p:nvPr/>
          </p:nvCxnSpPr>
          <p:spPr>
            <a:xfrm>
              <a:off x="2487168" y="68580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8" name="Connector 107"/>
            <p:cNvCxnSpPr/>
            <p:nvPr/>
          </p:nvCxnSpPr>
          <p:spPr>
            <a:xfrm flipV="1">
              <a:off x="2487168" y="640080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9" name="Connector 108"/>
            <p:cNvCxnSpPr/>
            <p:nvPr/>
          </p:nvCxnSpPr>
          <p:spPr>
            <a:xfrm flipV="1">
              <a:off x="2487168" y="731520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0" name="Oval 109"/>
            <p:cNvSpPr/>
            <p:nvPr/>
          </p:nvSpPr>
          <p:spPr>
            <a:xfrm>
              <a:off x="2328492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1" name="Oval 110"/>
            <p:cNvSpPr/>
            <p:nvPr/>
          </p:nvSpPr>
          <p:spPr>
            <a:xfrm>
              <a:off x="2328492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2" name="Oval 111"/>
            <p:cNvSpPr/>
            <p:nvPr/>
          </p:nvSpPr>
          <p:spPr>
            <a:xfrm>
              <a:off x="2328492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3" name="Oval 112"/>
            <p:cNvSpPr/>
            <p:nvPr/>
          </p:nvSpPr>
          <p:spPr>
            <a:xfrm>
              <a:off x="2465652" y="57284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4" name="Oval 113"/>
            <p:cNvSpPr/>
            <p:nvPr/>
          </p:nvSpPr>
          <p:spPr>
            <a:xfrm>
              <a:off x="2465652" y="66428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5" name="Oval 114"/>
            <p:cNvSpPr/>
            <p:nvPr/>
          </p:nvSpPr>
          <p:spPr>
            <a:xfrm>
              <a:off x="2465652" y="75572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6" name="Oval 115"/>
            <p:cNvSpPr/>
            <p:nvPr/>
          </p:nvSpPr>
          <p:spPr>
            <a:xfrm>
              <a:off x="2602812" y="61856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17" name="Oval 116"/>
            <p:cNvSpPr/>
            <p:nvPr/>
          </p:nvSpPr>
          <p:spPr>
            <a:xfrm>
              <a:off x="2602812" y="710004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grpSp>
        <p:nvGrpSpPr>
          <p:cNvPr id="118" name="adversary"/>
          <p:cNvGrpSpPr/>
          <p:nvPr/>
        </p:nvGrpSpPr>
        <p:grpSpPr>
          <a:xfrm>
            <a:off x="2286000" y="896112"/>
            <a:ext cx="402336" cy="274320"/>
            <a:chOff x="2286000" y="896112"/>
            <a:chExt cx="402336" cy="274320"/>
          </a:xfrm>
        </p:grpSpPr>
        <p:sp>
          <p:nvSpPr>
            <p:cNvPr id="119" name="Rounded Rectangle 118"/>
            <p:cNvSpPr/>
            <p:nvPr/>
          </p:nvSpPr>
          <p:spPr>
            <a:xfrm>
              <a:off x="2286000" y="896112"/>
              <a:ext cx="402336" cy="274320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20" name="Connector 119"/>
            <p:cNvCxnSpPr/>
            <p:nvPr/>
          </p:nvCxnSpPr>
          <p:spPr>
            <a:xfrm>
              <a:off x="2350008" y="94183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1" name="Connector 120"/>
            <p:cNvCxnSpPr/>
            <p:nvPr/>
          </p:nvCxnSpPr>
          <p:spPr>
            <a:xfrm>
              <a:off x="2350008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2" name="Connector 121"/>
            <p:cNvCxnSpPr/>
            <p:nvPr/>
          </p:nvCxnSpPr>
          <p:spPr>
            <a:xfrm>
              <a:off x="2350008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3" name="Connector 122"/>
            <p:cNvCxnSpPr/>
            <p:nvPr/>
          </p:nvCxnSpPr>
          <p:spPr>
            <a:xfrm flipV="1">
              <a:off x="2350008" y="94183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4" name="Connector 123"/>
            <p:cNvCxnSpPr/>
            <p:nvPr/>
          </p:nvCxnSpPr>
          <p:spPr>
            <a:xfrm>
              <a:off x="2350008" y="103327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5" name="Connector 124"/>
            <p:cNvCxnSpPr/>
            <p:nvPr/>
          </p:nvCxnSpPr>
          <p:spPr>
            <a:xfrm>
              <a:off x="2350008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6" name="Connector 125"/>
            <p:cNvCxnSpPr/>
            <p:nvPr/>
          </p:nvCxnSpPr>
          <p:spPr>
            <a:xfrm flipV="1">
              <a:off x="2350008" y="941831"/>
              <a:ext cx="137160" cy="18288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7" name="Connector 126"/>
            <p:cNvCxnSpPr/>
            <p:nvPr/>
          </p:nvCxnSpPr>
          <p:spPr>
            <a:xfrm flipV="1">
              <a:off x="2350008" y="1033271"/>
              <a:ext cx="137160" cy="914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8" name="Connector 127"/>
            <p:cNvCxnSpPr/>
            <p:nvPr/>
          </p:nvCxnSpPr>
          <p:spPr>
            <a:xfrm>
              <a:off x="2350008" y="1124711"/>
              <a:ext cx="137160" cy="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29" name="Connector 128"/>
            <p:cNvCxnSpPr/>
            <p:nvPr/>
          </p:nvCxnSpPr>
          <p:spPr>
            <a:xfrm>
              <a:off x="2487168" y="941831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0" name="Connector 129"/>
            <p:cNvCxnSpPr/>
            <p:nvPr/>
          </p:nvCxnSpPr>
          <p:spPr>
            <a:xfrm>
              <a:off x="2487168" y="941831"/>
              <a:ext cx="137159" cy="13716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1" name="Connector 130"/>
            <p:cNvCxnSpPr/>
            <p:nvPr/>
          </p:nvCxnSpPr>
          <p:spPr>
            <a:xfrm flipV="1">
              <a:off x="2487168" y="987551"/>
              <a:ext cx="137159" cy="4572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2" name="Connector 131"/>
            <p:cNvCxnSpPr/>
            <p:nvPr/>
          </p:nvCxnSpPr>
          <p:spPr>
            <a:xfrm>
              <a:off x="2487168" y="1033271"/>
              <a:ext cx="137159" cy="45721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3" name="Connector 132"/>
            <p:cNvCxnSpPr/>
            <p:nvPr/>
          </p:nvCxnSpPr>
          <p:spPr>
            <a:xfrm flipV="1">
              <a:off x="2487168" y="987551"/>
              <a:ext cx="137159" cy="13716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34" name="Connector 133"/>
            <p:cNvCxnSpPr/>
            <p:nvPr/>
          </p:nvCxnSpPr>
          <p:spPr>
            <a:xfrm flipV="1">
              <a:off x="2487168" y="1078992"/>
              <a:ext cx="137159" cy="45719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35" name="Oval 134"/>
            <p:cNvSpPr/>
            <p:nvPr/>
          </p:nvSpPr>
          <p:spPr>
            <a:xfrm>
              <a:off x="2328492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6" name="Oval 135"/>
            <p:cNvSpPr/>
            <p:nvPr/>
          </p:nvSpPr>
          <p:spPr>
            <a:xfrm>
              <a:off x="2328492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7" name="Oval 136"/>
            <p:cNvSpPr/>
            <p:nvPr/>
          </p:nvSpPr>
          <p:spPr>
            <a:xfrm>
              <a:off x="2328492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8" name="Oval 137"/>
            <p:cNvSpPr/>
            <p:nvPr/>
          </p:nvSpPr>
          <p:spPr>
            <a:xfrm>
              <a:off x="2465652" y="92031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39" name="Oval 138"/>
            <p:cNvSpPr/>
            <p:nvPr/>
          </p:nvSpPr>
          <p:spPr>
            <a:xfrm>
              <a:off x="2465652" y="101175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0" name="Oval 139"/>
            <p:cNvSpPr/>
            <p:nvPr/>
          </p:nvSpPr>
          <p:spPr>
            <a:xfrm>
              <a:off x="2465652" y="110319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1" name="Oval 140"/>
            <p:cNvSpPr/>
            <p:nvPr/>
          </p:nvSpPr>
          <p:spPr>
            <a:xfrm>
              <a:off x="2602812" y="96603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142" name="Oval 141"/>
            <p:cNvSpPr/>
            <p:nvPr/>
          </p:nvSpPr>
          <p:spPr>
            <a:xfrm>
              <a:off x="2602812" y="1057476"/>
              <a:ext cx="43030" cy="43030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143" name="TextBox 142"/>
          <p:cNvSpPr txBox="1"/>
          <p:nvPr/>
        </p:nvSpPr>
        <p:spPr>
          <a:xfrm>
            <a:off x="2706624" y="539496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5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max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2706624" y="886968"/>
            <a:ext cx="384048" cy="292608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50" b="0" i="1">
                <a:solidFill>
                  <a:srgbClr val="000000"/>
                </a:solidFill>
                <a:latin typeface="Times New Roman"/>
              </a:rPr>
              <a:t>μ</a:t>
            </a:r>
          </a:p>
          <a:p>
            <a:pPr algn="l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min</a:t>
            </a:r>
          </a:p>
        </p:txBody>
      </p:sp>
      <p:cxnSp>
        <p:nvCxnSpPr>
          <p:cNvPr id="145" name="Connector 144"/>
          <p:cNvCxnSpPr/>
          <p:nvPr/>
        </p:nvCxnSpPr>
        <p:spPr>
          <a:xfrm flipV="1">
            <a:off x="1993392" y="685800"/>
            <a:ext cx="292608" cy="100584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6" name="Connector 145"/>
          <p:cNvCxnSpPr/>
          <p:nvPr/>
        </p:nvCxnSpPr>
        <p:spPr>
          <a:xfrm>
            <a:off x="1993392" y="896112"/>
            <a:ext cx="292608" cy="137160"/>
          </a:xfrm>
          <a:prstGeom prst="line">
            <a:avLst/>
          </a:prstGeom>
          <a:ln w="11430">
            <a:solidFill>
              <a:srgbClr val="A65E1A"/>
            </a:solidFill>
            <a:prstDash val="dash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7" name="Oval 146"/>
          <p:cNvSpPr/>
          <p:nvPr/>
        </p:nvSpPr>
        <p:spPr>
          <a:xfrm>
            <a:off x="3291840" y="676656"/>
            <a:ext cx="566928" cy="365760"/>
          </a:xfrm>
          <a:prstGeom prst="ellipse">
            <a:avLst/>
          </a:prstGeom>
          <a:solidFill>
            <a:srgbClr val="A65E1A">
              <a:alpha val="16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Oval 147"/>
          <p:cNvSpPr/>
          <p:nvPr/>
        </p:nvSpPr>
        <p:spPr>
          <a:xfrm>
            <a:off x="3383280" y="736092"/>
            <a:ext cx="384048" cy="246888"/>
          </a:xfrm>
          <a:prstGeom prst="ellipse">
            <a:avLst/>
          </a:prstGeom>
          <a:solidFill>
            <a:srgbClr val="A65E1A">
              <a:alpha val="30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Oval 148"/>
          <p:cNvSpPr/>
          <p:nvPr/>
        </p:nvSpPr>
        <p:spPr>
          <a:xfrm>
            <a:off x="3474720" y="795527"/>
            <a:ext cx="201168" cy="128016"/>
          </a:xfrm>
          <a:prstGeom prst="ellipse">
            <a:avLst/>
          </a:prstGeom>
          <a:solidFill>
            <a:srgbClr val="A65E1A">
              <a:alpha val="55000"/>
            </a:srgbClr>
          </a:solidFill>
          <a:ln w="762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376732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3675888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A65E1A"/>
                </a:solidFill>
                <a:latin typeface="Times New Roman"/>
              </a:rPr>
              <a:t>3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3529584" y="795527"/>
            <a:ext cx="9144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80" b="0" i="0">
                <a:solidFill>
                  <a:srgbClr val="FFFFFF"/>
                </a:solidFill>
                <a:latin typeface="Times New Roman"/>
              </a:rPr>
              <a:t>5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3209544" y="530352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A65E1A"/>
                </a:solidFill>
                <a:latin typeface="Cambria Math"/>
              </a:rPr>
              <a:t>𝒮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(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50" b="0" i="1">
                <a:solidFill>
                  <a:srgbClr val="A65E1A"/>
                </a:solidFill>
                <a:latin typeface="Times New Roman"/>
              </a:rPr>
              <a:t>τ</a:t>
            </a:r>
            <a:r>
              <a:rPr sz="65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50" b="0" i="0">
                <a:solidFill>
                  <a:srgbClr val="A65E1A"/>
                </a:solidFill>
                <a:latin typeface="Times New Roman"/>
              </a:rPr>
              <a:t>)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1463040" y="1243584"/>
            <a:ext cx="256032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30" b="0" i="0">
                <a:solidFill>
                  <a:srgbClr val="A65E1A"/>
                </a:solidFill>
                <a:latin typeface="Times New Roman"/>
              </a:rPr>
              <a:t>one gear decision = option, gear held for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D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steps</a:t>
            </a:r>
          </a:p>
        </p:txBody>
      </p:sp>
      <p:sp>
        <p:nvSpPr>
          <p:cNvPr id="155" name="option_step_0"/>
          <p:cNvSpPr/>
          <p:nvPr/>
        </p:nvSpPr>
        <p:spPr>
          <a:xfrm>
            <a:off x="1463040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6" name="option_step_1"/>
          <p:cNvSpPr/>
          <p:nvPr/>
        </p:nvSpPr>
        <p:spPr>
          <a:xfrm>
            <a:off x="1709928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7" name="option_step_2"/>
          <p:cNvSpPr/>
          <p:nvPr/>
        </p:nvSpPr>
        <p:spPr>
          <a:xfrm>
            <a:off x="1956816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8" name="option_step_3"/>
          <p:cNvSpPr/>
          <p:nvPr/>
        </p:nvSpPr>
        <p:spPr>
          <a:xfrm>
            <a:off x="2203704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59" name="option_step_4"/>
          <p:cNvSpPr/>
          <p:nvPr/>
        </p:nvSpPr>
        <p:spPr>
          <a:xfrm>
            <a:off x="2450592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sp>
        <p:nvSpPr>
          <p:cNvPr id="160" name="option_step_5"/>
          <p:cNvSpPr/>
          <p:nvPr/>
        </p:nvSpPr>
        <p:spPr>
          <a:xfrm>
            <a:off x="2697480" y="1426464"/>
            <a:ext cx="201168" cy="182880"/>
          </a:xfrm>
          <a:prstGeom prst="roundRect">
            <a:avLst>
              <a:gd name="adj" fmla="val 20000"/>
            </a:avLst>
          </a:prstGeom>
          <a:solidFill>
            <a:srgbClr val="FBEFE3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ĝ</a:t>
            </a:r>
          </a:p>
        </p:txBody>
      </p:sp>
      <p:cxnSp>
        <p:nvCxnSpPr>
          <p:cNvPr id="161" name="Connector 160"/>
          <p:cNvCxnSpPr/>
          <p:nvPr/>
        </p:nvCxnSpPr>
        <p:spPr>
          <a:xfrm>
            <a:off x="1664208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2" name="Connector 161"/>
          <p:cNvCxnSpPr/>
          <p:nvPr/>
        </p:nvCxnSpPr>
        <p:spPr>
          <a:xfrm>
            <a:off x="1911096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3" name="Connector 162"/>
          <p:cNvCxnSpPr/>
          <p:nvPr/>
        </p:nvCxnSpPr>
        <p:spPr>
          <a:xfrm>
            <a:off x="2157984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4" name="Connector 163"/>
          <p:cNvCxnSpPr/>
          <p:nvPr/>
        </p:nvCxnSpPr>
        <p:spPr>
          <a:xfrm>
            <a:off x="2404872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5" name="Connector 164"/>
          <p:cNvCxnSpPr/>
          <p:nvPr/>
        </p:nvCxnSpPr>
        <p:spPr>
          <a:xfrm>
            <a:off x="2651760" y="1517904"/>
            <a:ext cx="4572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6" name="Connector 165"/>
          <p:cNvCxnSpPr/>
          <p:nvPr/>
        </p:nvCxnSpPr>
        <p:spPr>
          <a:xfrm>
            <a:off x="2944368" y="1517904"/>
            <a:ext cx="91440" cy="0"/>
          </a:xfrm>
          <a:prstGeom prst="line">
            <a:avLst/>
          </a:prstGeom>
          <a:ln w="762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7" name="bootstrap"/>
          <p:cNvSpPr/>
          <p:nvPr/>
        </p:nvSpPr>
        <p:spPr>
          <a:xfrm>
            <a:off x="3035808" y="1417320"/>
            <a:ext cx="274320" cy="201168"/>
          </a:xfrm>
          <a:prstGeom prst="roundRect">
            <a:avLst>
              <a:gd name="adj" fmla="val 18181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V</a:t>
            </a:r>
          </a:p>
        </p:txBody>
      </p:sp>
      <p:cxnSp>
        <p:nvCxnSpPr>
          <p:cNvPr id="168" name="Connector 167"/>
          <p:cNvCxnSpPr/>
          <p:nvPr/>
        </p:nvCxnSpPr>
        <p:spPr>
          <a:xfrm>
            <a:off x="3150108" y="1467612"/>
            <a:ext cx="64008" cy="0"/>
          </a:xfrm>
          <a:prstGeom prst="line">
            <a:avLst/>
          </a:prstGeom>
          <a:ln w="7620">
            <a:solidFill>
              <a:srgbClr val="000000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9" name="TextBox 168"/>
          <p:cNvSpPr txBox="1"/>
          <p:nvPr/>
        </p:nvSpPr>
        <p:spPr>
          <a:xfrm>
            <a:off x="3328416" y="1444752"/>
            <a:ext cx="548640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580" b="0" i="0">
                <a:solidFill>
                  <a:srgbClr val="6B6B6B"/>
                </a:solidFill>
                <a:latin typeface="Times New Roman"/>
              </a:rPr>
              <a:t>bootstrap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463040" y="1618488"/>
            <a:ext cx="1481328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90" b="0" i="1">
                <a:solidFill>
                  <a:srgbClr val="6B6B6B"/>
                </a:solidFill>
                <a:latin typeface="Times New Roman"/>
              </a:rPr>
              <a:t>π</a:t>
            </a:r>
            <a:r>
              <a:rPr sz="590" b="0" i="1" baseline="-25000">
                <a:solidFill>
                  <a:srgbClr val="6B6B6B"/>
                </a:solidFill>
                <a:latin typeface="Times New Roman"/>
              </a:rPr>
              <a:t>h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 and </a:t>
            </a:r>
            <a:r>
              <a:rPr sz="590" b="0" i="1">
                <a:solidFill>
                  <a:srgbClr val="6B6B6B"/>
                </a:solidFill>
                <a:latin typeface="Times New Roman"/>
              </a:rPr>
              <a:t>μ</a:t>
            </a:r>
            <a:r>
              <a:rPr sz="590" b="0" i="0">
                <a:solidFill>
                  <a:srgbClr val="6B6B6B"/>
                </a:solidFill>
                <a:latin typeface="Times New Roman"/>
              </a:rPr>
              <a:t> act at every step</a:t>
            </a:r>
          </a:p>
        </p:txBody>
      </p:sp>
      <p:cxnSp>
        <p:nvCxnSpPr>
          <p:cNvPr id="171" name="Connector 170"/>
          <p:cNvCxnSpPr/>
          <p:nvPr/>
        </p:nvCxnSpPr>
        <p:spPr>
          <a:xfrm flipH="1">
            <a:off x="1463040" y="1810512"/>
            <a:ext cx="1709928" cy="0"/>
          </a:xfrm>
          <a:prstGeom prst="line">
            <a:avLst/>
          </a:prstGeom>
          <a:ln w="1016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2" name="TextBox 171"/>
          <p:cNvSpPr txBox="1"/>
          <p:nvPr/>
        </p:nvSpPr>
        <p:spPr>
          <a:xfrm>
            <a:off x="2011680" y="1801368"/>
            <a:ext cx="12801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590" b="0" i="0">
                <a:solidFill>
                  <a:srgbClr val="A65E1A"/>
                </a:solidFill>
                <a:latin typeface="Times New Roman"/>
              </a:rPr>
              <a:t>backward fold</a:t>
            </a:r>
          </a:p>
        </p:txBody>
      </p:sp>
      <p:sp>
        <p:nvSpPr>
          <p:cNvPr id="173" name="TextBox 172"/>
          <p:cNvSpPr txBox="1"/>
          <p:nvPr/>
        </p:nvSpPr>
        <p:spPr>
          <a:xfrm>
            <a:off x="1316736" y="1901952"/>
            <a:ext cx="2697480" cy="137160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= (1 −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)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+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γ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min{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h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,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j+1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},  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y</a:t>
            </a:r>
            <a:r>
              <a:rPr sz="630" b="0" i="0">
                <a:solidFill>
                  <a:srgbClr val="A65E1A"/>
                </a:solidFill>
                <a:latin typeface="Times New Roman"/>
              </a:rPr>
              <a:t> = </a:t>
            </a:r>
            <a:r>
              <a:rPr sz="630" b="0" i="1">
                <a:solidFill>
                  <a:srgbClr val="A65E1A"/>
                </a:solidFill>
                <a:latin typeface="Times New Roman"/>
              </a:rPr>
              <a:t>g</a:t>
            </a:r>
            <a:r>
              <a:rPr sz="630" b="0" i="1" baseline="-25000">
                <a:solidFill>
                  <a:srgbClr val="A65E1A"/>
                </a:solidFill>
                <a:latin typeface="Times New Roman"/>
              </a:rPr>
              <a:t>0</a:t>
            </a:r>
          </a:p>
        </p:txBody>
      </p:sp>
      <p:cxnSp>
        <p:nvCxnSpPr>
          <p:cNvPr id="174" name="Connector 173"/>
          <p:cNvCxnSpPr/>
          <p:nvPr/>
        </p:nvCxnSpPr>
        <p:spPr>
          <a:xfrm flipV="1">
            <a:off x="1371600" y="1024128"/>
            <a:ext cx="0" cy="402336"/>
          </a:xfrm>
          <a:prstGeom prst="line">
            <a:avLst/>
          </a:prstGeom>
          <a:ln w="11430">
            <a:solidFill>
              <a:srgbClr val="A65E1A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5" name="TextBox 174"/>
          <p:cNvSpPr txBox="1"/>
          <p:nvPr/>
        </p:nvSpPr>
        <p:spPr>
          <a:xfrm>
            <a:off x="1389888" y="1152144"/>
            <a:ext cx="36576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30" b="0" i="1">
                <a:solidFill>
                  <a:srgbClr val="A65E1A"/>
                </a:solidFill>
                <a:latin typeface="Times New Roman"/>
              </a:rPr>
              <a:t>y</a:t>
            </a:r>
          </a:p>
        </p:txBody>
      </p:sp>
      <p:cxnSp>
        <p:nvCxnSpPr>
          <p:cNvPr id="176" name="Connector 175"/>
          <p:cNvCxnSpPr/>
          <p:nvPr/>
        </p:nvCxnSpPr>
        <p:spPr>
          <a:xfrm>
            <a:off x="1024128" y="1517904"/>
            <a:ext cx="219456" cy="0"/>
          </a:xfrm>
          <a:prstGeom prst="line">
            <a:avLst/>
          </a:prstGeom>
          <a:ln w="11430">
            <a:solidFill>
              <a:srgbClr val="2E5A87"/>
            </a:solidFill>
            <a:headEnd type="triangle" w="sm" len="sm"/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7" name="TextBox 176"/>
          <p:cNvSpPr txBox="1"/>
          <p:nvPr/>
        </p:nvSpPr>
        <p:spPr>
          <a:xfrm>
            <a:off x="969264" y="1362456"/>
            <a:ext cx="29260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c</a:t>
            </a:r>
            <a:r>
              <a:rPr sz="600" b="0" i="0">
                <a:solidFill>
                  <a:srgbClr val="2E5A87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E5A87"/>
                </a:solidFill>
                <a:latin typeface="Times New Roman"/>
              </a:rPr>
              <a:t>w</a:t>
            </a:r>
          </a:p>
        </p:txBody>
      </p:sp>
      <p:sp>
        <p:nvSpPr>
          <p:cNvPr id="178" name="TextBox 177"/>
          <p:cNvSpPr txBox="1"/>
          <p:nvPr/>
        </p:nvSpPr>
        <p:spPr>
          <a:xfrm>
            <a:off x="969264" y="1536192"/>
            <a:ext cx="292608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00" b="0" i="1">
                <a:solidFill>
                  <a:srgbClr val="2E5A87"/>
                </a:solidFill>
                <a:latin typeface="Times New Roman"/>
              </a:rPr>
              <a:t>ξ</a:t>
            </a:r>
            <a:r>
              <a:rPr sz="600" b="0" i="1" baseline="-25000">
                <a:solidFill>
                  <a:srgbClr val="2E5A87"/>
                </a:solidFill>
                <a:latin typeface="Times New Roman"/>
              </a:rPr>
              <a:t>j</a:t>
            </a:r>
            <a:r>
              <a:rPr sz="600" b="0" i="0">
                <a:solidFill>
                  <a:srgbClr val="2E5A87"/>
                </a:solidFill>
                <a:latin typeface="Times New Roman"/>
              </a:rPr>
              <a:t>, </a:t>
            </a:r>
            <a:r>
              <a:rPr sz="600" b="0" i="1">
                <a:solidFill>
                  <a:srgbClr val="2E5A87"/>
                </a:solidFill>
                <a:latin typeface="Times New Roman"/>
              </a:rPr>
              <a:t>h</a:t>
            </a:r>
            <a:r>
              <a:rPr sz="600" b="0" i="1" baseline="-25000">
                <a:solidFill>
                  <a:srgbClr val="2E5A87"/>
                </a:solidFill>
                <a:latin typeface="Times New Roman"/>
              </a:rPr>
              <a:t>j</a:t>
            </a:r>
          </a:p>
        </p:txBody>
      </p:sp>
      <p:cxnSp>
        <p:nvCxnSpPr>
          <p:cNvPr id="179" name="Connector 178"/>
          <p:cNvCxnSpPr/>
          <p:nvPr/>
        </p:nvCxnSpPr>
        <p:spPr>
          <a:xfrm>
            <a:off x="4151376" y="1133856"/>
            <a:ext cx="365760" cy="0"/>
          </a:xfrm>
          <a:prstGeom prst="line">
            <a:avLst/>
          </a:prstGeom>
          <a:ln w="17780">
            <a:solidFill>
              <a:srgbClr val="000000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0" name="TextBox 179"/>
          <p:cNvSpPr txBox="1"/>
          <p:nvPr/>
        </p:nvSpPr>
        <p:spPr>
          <a:xfrm>
            <a:off x="4133088" y="91440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000000"/>
                </a:solidFill>
                <a:latin typeface="Times New Roman"/>
              </a:rPr>
              <a:t>deploy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4133088" y="1188720"/>
            <a:ext cx="402336" cy="146304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50" b="0" i="0">
                <a:solidFill>
                  <a:srgbClr val="6B6B6B"/>
                </a:solidFill>
                <a:latin typeface="Times New Roman"/>
              </a:rPr>
              <a:t>frozen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4626864" y="384048"/>
            <a:ext cx="457200" cy="274320"/>
          </a:xfrm>
          <a:prstGeom prst="roundRect">
            <a:avLst>
              <a:gd name="adj" fmla="val 13333"/>
            </a:avLst>
          </a:prstGeom>
          <a:solidFill>
            <a:srgbClr val="FFFFFF"/>
          </a:solidFill>
          <a:ln w="8890">
            <a:solidFill>
              <a:srgbClr val="2F7D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700" b="0" i="0">
                <a:solidFill>
                  <a:srgbClr val="000000"/>
                </a:solidFill>
                <a:latin typeface="Times New Roman"/>
              </a:rPr>
              <a:t>EKF</a:t>
            </a:r>
          </a:p>
        </p:txBody>
      </p:sp>
      <p:grpSp>
        <p:nvGrpSpPr>
          <p:cNvPr id="183" name="safety_policy_onboard"/>
          <p:cNvGrpSpPr/>
          <p:nvPr/>
        </p:nvGrpSpPr>
        <p:grpSpPr>
          <a:xfrm>
            <a:off x="5248656" y="365760"/>
            <a:ext cx="420624" cy="292608"/>
            <a:chOff x="5248656" y="365760"/>
            <a:chExt cx="420624" cy="292608"/>
          </a:xfrm>
        </p:grpSpPr>
        <p:sp>
          <p:nvSpPr>
            <p:cNvPr id="184" name="Rounded Rectangle 183"/>
            <p:cNvSpPr/>
            <p:nvPr/>
          </p:nvSpPr>
          <p:spPr>
            <a:xfrm>
              <a:off x="5248656" y="365760"/>
              <a:ext cx="420624" cy="292608"/>
            </a:xfrm>
            <a:prstGeom prst="roundRect">
              <a:avLst>
                <a:gd name="adj" fmla="val 15000"/>
              </a:avLst>
            </a:prstGeom>
            <a:solidFill>
              <a:srgbClr val="FFFFFF"/>
            </a:solidFill>
            <a:ln w="8890">
              <a:solidFill>
                <a:srgbClr val="A65E1A"/>
              </a:solidFill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cxnSp>
          <p:nvCxnSpPr>
            <p:cNvPr id="185" name="Connector 184"/>
            <p:cNvCxnSpPr/>
            <p:nvPr/>
          </p:nvCxnSpPr>
          <p:spPr>
            <a:xfrm flipV="1">
              <a:off x="5312664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6" name="Connector 185"/>
            <p:cNvCxnSpPr/>
            <p:nvPr/>
          </p:nvCxnSpPr>
          <p:spPr>
            <a:xfrm>
              <a:off x="5312664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7" name="Connector 186"/>
            <p:cNvCxnSpPr/>
            <p:nvPr/>
          </p:nvCxnSpPr>
          <p:spPr>
            <a:xfrm>
              <a:off x="5312664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8" name="Connector 187"/>
            <p:cNvCxnSpPr/>
            <p:nvPr/>
          </p:nvCxnSpPr>
          <p:spPr>
            <a:xfrm>
              <a:off x="5312664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89" name="Connector 188"/>
            <p:cNvCxnSpPr/>
            <p:nvPr/>
          </p:nvCxnSpPr>
          <p:spPr>
            <a:xfrm flipV="1">
              <a:off x="5312664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0" name="Connector 189"/>
            <p:cNvCxnSpPr/>
            <p:nvPr/>
          </p:nvCxnSpPr>
          <p:spPr>
            <a:xfrm flipV="1">
              <a:off x="5312664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1" name="Connector 190"/>
            <p:cNvCxnSpPr/>
            <p:nvPr/>
          </p:nvCxnSpPr>
          <p:spPr>
            <a:xfrm>
              <a:off x="5312664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2" name="Connector 191"/>
            <p:cNvCxnSpPr/>
            <p:nvPr/>
          </p:nvCxnSpPr>
          <p:spPr>
            <a:xfrm>
              <a:off x="5312664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3" name="Connector 192"/>
            <p:cNvCxnSpPr/>
            <p:nvPr/>
          </p:nvCxnSpPr>
          <p:spPr>
            <a:xfrm flipV="1">
              <a:off x="5312664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4" name="Connector 193"/>
            <p:cNvCxnSpPr/>
            <p:nvPr/>
          </p:nvCxnSpPr>
          <p:spPr>
            <a:xfrm flipV="1">
              <a:off x="5312664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5" name="Connector 194"/>
            <p:cNvCxnSpPr/>
            <p:nvPr/>
          </p:nvCxnSpPr>
          <p:spPr>
            <a:xfrm flipV="1">
              <a:off x="5312664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6" name="Connector 195"/>
            <p:cNvCxnSpPr/>
            <p:nvPr/>
          </p:nvCxnSpPr>
          <p:spPr>
            <a:xfrm>
              <a:off x="5312664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7" name="Connector 196"/>
            <p:cNvCxnSpPr/>
            <p:nvPr/>
          </p:nvCxnSpPr>
          <p:spPr>
            <a:xfrm>
              <a:off x="5458968" y="41148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8" name="Connector 197"/>
            <p:cNvCxnSpPr/>
            <p:nvPr/>
          </p:nvCxnSpPr>
          <p:spPr>
            <a:xfrm>
              <a:off x="5458968" y="411480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99" name="Connector 198"/>
            <p:cNvCxnSpPr/>
            <p:nvPr/>
          </p:nvCxnSpPr>
          <p:spPr>
            <a:xfrm>
              <a:off x="5458968" y="411480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0" name="Connector 199"/>
            <p:cNvCxnSpPr/>
            <p:nvPr/>
          </p:nvCxnSpPr>
          <p:spPr>
            <a:xfrm flipV="1">
              <a:off x="5458968" y="445008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1" name="Connector 200"/>
            <p:cNvCxnSpPr/>
            <p:nvPr/>
          </p:nvCxnSpPr>
          <p:spPr>
            <a:xfrm>
              <a:off x="5458968" y="478536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2" name="Connector 201"/>
            <p:cNvCxnSpPr/>
            <p:nvPr/>
          </p:nvCxnSpPr>
          <p:spPr>
            <a:xfrm>
              <a:off x="5458968" y="478536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3" name="Connector 202"/>
            <p:cNvCxnSpPr/>
            <p:nvPr/>
          </p:nvCxnSpPr>
          <p:spPr>
            <a:xfrm flipV="1">
              <a:off x="5458968" y="445008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4" name="Connector 203"/>
            <p:cNvCxnSpPr/>
            <p:nvPr/>
          </p:nvCxnSpPr>
          <p:spPr>
            <a:xfrm flipV="1">
              <a:off x="5458968" y="512064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5" name="Connector 204"/>
            <p:cNvCxnSpPr/>
            <p:nvPr/>
          </p:nvCxnSpPr>
          <p:spPr>
            <a:xfrm>
              <a:off x="5458968" y="545592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6" name="Connector 205"/>
            <p:cNvCxnSpPr/>
            <p:nvPr/>
          </p:nvCxnSpPr>
          <p:spPr>
            <a:xfrm flipV="1">
              <a:off x="5458968" y="445008"/>
              <a:ext cx="146304" cy="167640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7" name="Connector 206"/>
            <p:cNvCxnSpPr/>
            <p:nvPr/>
          </p:nvCxnSpPr>
          <p:spPr>
            <a:xfrm flipV="1">
              <a:off x="5458968" y="512064"/>
              <a:ext cx="146304" cy="100584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8" name="Connector 207"/>
            <p:cNvCxnSpPr/>
            <p:nvPr/>
          </p:nvCxnSpPr>
          <p:spPr>
            <a:xfrm flipV="1">
              <a:off x="5458968" y="579120"/>
              <a:ext cx="146304" cy="33528"/>
            </a:xfrm>
            <a:prstGeom prst="line">
              <a:avLst/>
            </a:prstGeom>
            <a:ln w="4445">
              <a:solidFill>
                <a:srgbClr val="E3B48A"/>
              </a:solidFill>
            </a:ln>
            <a:effectLst/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209" name="Oval 208"/>
            <p:cNvSpPr/>
            <p:nvPr/>
          </p:nvSpPr>
          <p:spPr>
            <a:xfrm>
              <a:off x="5295182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0" name="Oval 209"/>
            <p:cNvSpPr/>
            <p:nvPr/>
          </p:nvSpPr>
          <p:spPr>
            <a:xfrm>
              <a:off x="5295182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1" name="Oval 210"/>
            <p:cNvSpPr/>
            <p:nvPr/>
          </p:nvSpPr>
          <p:spPr>
            <a:xfrm>
              <a:off x="5295182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2" name="Oval 211"/>
            <p:cNvSpPr/>
            <p:nvPr/>
          </p:nvSpPr>
          <p:spPr>
            <a:xfrm>
              <a:off x="5441486" y="39399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3" name="Oval 212"/>
            <p:cNvSpPr/>
            <p:nvPr/>
          </p:nvSpPr>
          <p:spPr>
            <a:xfrm>
              <a:off x="5441486" y="461054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4" name="Oval 213"/>
            <p:cNvSpPr/>
            <p:nvPr/>
          </p:nvSpPr>
          <p:spPr>
            <a:xfrm>
              <a:off x="5441486" y="528110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5" name="Oval 214"/>
            <p:cNvSpPr/>
            <p:nvPr/>
          </p:nvSpPr>
          <p:spPr>
            <a:xfrm>
              <a:off x="5441486" y="59516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6" name="Oval 215"/>
            <p:cNvSpPr/>
            <p:nvPr/>
          </p:nvSpPr>
          <p:spPr>
            <a:xfrm>
              <a:off x="5587790" y="427526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7" name="Oval 216"/>
            <p:cNvSpPr/>
            <p:nvPr/>
          </p:nvSpPr>
          <p:spPr>
            <a:xfrm>
              <a:off x="5587790" y="494582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  <p:sp>
          <p:nvSpPr>
            <p:cNvPr id="218" name="Oval 217"/>
            <p:cNvSpPr/>
            <p:nvPr/>
          </p:nvSpPr>
          <p:spPr>
            <a:xfrm>
              <a:off x="5587790" y="561638"/>
              <a:ext cx="34962" cy="34962"/>
            </a:xfrm>
            <a:prstGeom prst="ellipse">
              <a:avLst/>
            </a:prstGeom>
            <a:solidFill>
              <a:srgbClr val="A65E1A"/>
            </a:solidFill>
            <a:ln>
              <a:noFill/>
            </a:ln>
            <a:effectLst/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</a:p>
          </p:txBody>
        </p:sp>
      </p:grpSp>
      <p:sp>
        <p:nvSpPr>
          <p:cNvPr id="219" name="TextBox 218"/>
          <p:cNvSpPr txBox="1"/>
          <p:nvPr/>
        </p:nvSpPr>
        <p:spPr>
          <a:xfrm>
            <a:off x="5175504" y="667512"/>
            <a:ext cx="566928" cy="118872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ctr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π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h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Q</a:t>
            </a:r>
            <a:r>
              <a:rPr sz="660" b="0" i="1" baseline="-25000">
                <a:solidFill>
                  <a:srgbClr val="000000"/>
                </a:solidFill>
                <a:latin typeface="Times New Roman"/>
              </a:rPr>
              <a:t>h</a:t>
            </a:r>
          </a:p>
        </p:txBody>
      </p:sp>
      <p:sp>
        <p:nvSpPr>
          <p:cNvPr id="220" name="Rounded Rectangle 219"/>
          <p:cNvSpPr/>
          <p:nvPr/>
        </p:nvSpPr>
        <p:spPr>
          <a:xfrm>
            <a:off x="5815584" y="329184"/>
            <a:ext cx="603504" cy="4572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8890">
            <a:solidFill>
              <a:srgbClr val="A65E1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0" rIns="0" tIns="0" bIns="0">
            <a:noAutofit/>
          </a:bodyPr>
          <a:lstStyle/>
          <a:p>
            <a:pPr algn="ctr">
              <a:lnSpc>
                <a:spcPct val="105000"/>
              </a:lnSpc>
            </a:pPr>
            <a:r>
              <a:rPr sz="640" b="0" i="0">
                <a:solidFill>
                  <a:srgbClr val="000000"/>
                </a:solidFill>
                <a:latin typeface="Times New Roman"/>
              </a:rPr>
              <a:t>legal gear</a:t>
            </a:r>
          </a:p>
          <a:p>
            <a:pPr algn="ctr">
              <a:lnSpc>
                <a:spcPct val="105000"/>
              </a:lnSpc>
            </a:pPr>
            <a:r>
              <a:rPr sz="64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40" b="0" i="0">
                <a:solidFill>
                  <a:srgbClr val="000000"/>
                </a:solidFill>
                <a:latin typeface="Times New Roman"/>
              </a:rPr>
              <a:t>* = argmax </a:t>
            </a:r>
            <a:r>
              <a:rPr sz="640" b="0" i="1">
                <a:solidFill>
                  <a:srgbClr val="000000"/>
                </a:solidFill>
                <a:latin typeface="Times New Roman"/>
              </a:rPr>
              <a:t>q</a:t>
            </a:r>
          </a:p>
        </p:txBody>
      </p:sp>
      <p:cxnSp>
        <p:nvCxnSpPr>
          <p:cNvPr id="221" name="Connector 220"/>
          <p:cNvCxnSpPr/>
          <p:nvPr/>
        </p:nvCxnSpPr>
        <p:spPr>
          <a:xfrm>
            <a:off x="5084064" y="521207"/>
            <a:ext cx="164592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2" name="Connector 221"/>
          <p:cNvCxnSpPr/>
          <p:nvPr/>
        </p:nvCxnSpPr>
        <p:spPr>
          <a:xfrm>
            <a:off x="5669280" y="521207"/>
            <a:ext cx="146304" cy="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223" name="photo_vessel" descr="fig1_vessel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17720" y="1024128"/>
            <a:ext cx="1792224" cy="1105204"/>
          </a:xfrm>
          <a:prstGeom prst="rect">
            <a:avLst/>
          </a:prstGeom>
        </p:spPr>
      </p:pic>
      <p:cxnSp>
        <p:nvCxnSpPr>
          <p:cNvPr id="224" name="Connector 223"/>
          <p:cNvCxnSpPr/>
          <p:nvPr/>
        </p:nvCxnSpPr>
        <p:spPr>
          <a:xfrm>
            <a:off x="4690872" y="1115568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5" name="Connector 224"/>
          <p:cNvCxnSpPr/>
          <p:nvPr/>
        </p:nvCxnSpPr>
        <p:spPr>
          <a:xfrm>
            <a:off x="4690872" y="1170432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6" name="Connector 225"/>
          <p:cNvCxnSpPr/>
          <p:nvPr/>
        </p:nvCxnSpPr>
        <p:spPr>
          <a:xfrm>
            <a:off x="4690872" y="1225296"/>
            <a:ext cx="164592" cy="0"/>
          </a:xfrm>
          <a:prstGeom prst="line">
            <a:avLst/>
          </a:prstGeom>
          <a:ln w="10160">
            <a:solidFill>
              <a:srgbClr val="FFFFF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7" name="TextBox 226"/>
          <p:cNvSpPr txBox="1"/>
          <p:nvPr/>
        </p:nvSpPr>
        <p:spPr>
          <a:xfrm>
            <a:off x="4892040" y="1115568"/>
            <a:ext cx="2743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80" b="0" i="1">
                <a:solidFill>
                  <a:srgbClr val="FFFFFF"/>
                </a:solidFill>
                <a:latin typeface="Times New Roman"/>
              </a:rPr>
              <a:t>w</a:t>
            </a:r>
          </a:p>
        </p:txBody>
      </p:sp>
      <p:cxnSp>
        <p:nvCxnSpPr>
          <p:cNvPr id="228" name="Connector 227"/>
          <p:cNvCxnSpPr/>
          <p:nvPr/>
        </p:nvCxnSpPr>
        <p:spPr>
          <a:xfrm>
            <a:off x="6117336" y="786384"/>
            <a:ext cx="0" cy="237744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9" name="TextBox 228"/>
          <p:cNvSpPr txBox="1"/>
          <p:nvPr/>
        </p:nvSpPr>
        <p:spPr>
          <a:xfrm>
            <a:off x="6153912" y="841248"/>
            <a:ext cx="329184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60" b="0" i="1">
                <a:solidFill>
                  <a:srgbClr val="000000"/>
                </a:solidFill>
                <a:latin typeface="Times New Roman"/>
              </a:rPr>
              <a:t>g</a:t>
            </a:r>
            <a:r>
              <a:rPr sz="660" b="0" i="0">
                <a:solidFill>
                  <a:srgbClr val="000000"/>
                </a:solidFill>
                <a:latin typeface="Times New Roman"/>
              </a:rPr>
              <a:t>, </a:t>
            </a:r>
            <a:r>
              <a:rPr sz="660" b="0" i="1">
                <a:solidFill>
                  <a:srgbClr val="000000"/>
                </a:solidFill>
                <a:latin typeface="Times New Roman"/>
              </a:rPr>
              <a:t>δ</a:t>
            </a:r>
          </a:p>
        </p:txBody>
      </p:sp>
      <p:cxnSp>
        <p:nvCxnSpPr>
          <p:cNvPr id="230" name="Connector 229"/>
          <p:cNvCxnSpPr/>
          <p:nvPr/>
        </p:nvCxnSpPr>
        <p:spPr>
          <a:xfrm flipV="1">
            <a:off x="4855464" y="658368"/>
            <a:ext cx="0" cy="365760"/>
          </a:xfrm>
          <a:prstGeom prst="line">
            <a:avLst/>
          </a:prstGeom>
          <a:ln w="11430">
            <a:solidFill>
              <a:srgbClr val="2F7D4F"/>
            </a:solidFill>
            <a:tailEnd type="triangle" w="sm" len="sm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31" name="TextBox 230"/>
          <p:cNvSpPr txBox="1"/>
          <p:nvPr/>
        </p:nvSpPr>
        <p:spPr>
          <a:xfrm>
            <a:off x="4892040" y="841248"/>
            <a:ext cx="731520" cy="128016"/>
          </a:xfrm>
          <a:prstGeom prst="rect">
            <a:avLst/>
          </a:prstGeom>
          <a:noFill/>
        </p:spPr>
        <p:txBody>
          <a:bodyPr wrap="none" lIns="0" rIns="0" tIns="0" bIns="0" anchor="ctr">
            <a:noAutofit/>
          </a:bodyPr>
          <a:lstStyle/>
          <a:p>
            <a:pPr algn="l">
              <a:lnSpc>
                <a:spcPct val="105000"/>
              </a:lnSpc>
            </a:pPr>
            <a:r>
              <a:rPr sz="600" b="0" i="0">
                <a:solidFill>
                  <a:srgbClr val="6B6B6B"/>
                </a:solidFill>
                <a:latin typeface="Times New Roman"/>
              </a:rPr>
              <a:t>GPS, AHRS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