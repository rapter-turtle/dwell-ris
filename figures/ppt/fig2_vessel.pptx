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179222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hoto_a_vessel_sensors" descr="vessel_senso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" y="36576"/>
            <a:ext cx="3310128" cy="1543730"/>
          </a:xfrm>
          <a:prstGeom prst="rect">
            <a:avLst/>
          </a:prstGeom>
        </p:spPr>
      </p:pic>
      <p:sp>
        <p:nvSpPr>
          <p:cNvPr id="3" name="boat_control_boundary"/>
          <p:cNvSpPr/>
          <p:nvPr/>
        </p:nvSpPr>
        <p:spPr>
          <a:xfrm>
            <a:off x="3456432" y="182880"/>
            <a:ext cx="3054096" cy="1335024"/>
          </a:xfrm>
          <a:prstGeom prst="roundRect">
            <a:avLst>
              <a:gd name="adj" fmla="val 12328"/>
            </a:avLst>
          </a:prstGeom>
          <a:noFill/>
          <a:ln w="15240">
            <a:solidFill>
              <a:srgbClr val="D6282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201168"/>
            <a:ext cx="1426464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40" b="1" i="0">
                <a:solidFill>
                  <a:srgbClr val="D62828"/>
                </a:solidFill>
                <a:latin typeface="Times New Roman"/>
              </a:rPr>
              <a:t>Boat control hardware</a:t>
            </a:r>
          </a:p>
        </p:txBody>
      </p:sp>
      <p:pic>
        <p:nvPicPr>
          <p:cNvPr id="5" name="plc" descr="pl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512064"/>
            <a:ext cx="475488" cy="44279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566160" y="512064"/>
            <a:ext cx="475488" cy="442798"/>
          </a:xfrm>
          <a:prstGeom prst="roundRect">
            <a:avLst>
              <a:gd name="adj" fmla="val 2065"/>
            </a:avLst>
          </a:prstGeom>
          <a:noFill/>
          <a:ln w="1270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7872" y="973150"/>
            <a:ext cx="585216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1" i="0">
                <a:solidFill>
                  <a:srgbClr val="000000"/>
                </a:solidFill>
                <a:latin typeface="Times New Roman"/>
              </a:rPr>
              <a:t>LS XGB PLC</a:t>
            </a:r>
          </a:p>
        </p:txBody>
      </p:sp>
      <p:sp>
        <p:nvSpPr>
          <p:cNvPr id="8" name="Freeform 7"/>
          <p:cNvSpPr/>
          <p:nvPr/>
        </p:nvSpPr>
        <p:spPr>
          <a:xfrm>
            <a:off x="3010962" y="733463"/>
            <a:ext cx="555198" cy="414370"/>
          </a:xfrm>
          <a:custGeom>
            <a:avLst/>
            <a:gdLst/>
            <a:ahLst/>
            <a:cxnLst/>
            <a:rect l="l" t="t" r="r" b="b"/>
            <a:pathLst>
              <a:path w="555198" h="414370">
                <a:moveTo>
                  <a:pt x="0" y="414370"/>
                </a:moveTo>
                <a:lnTo>
                  <a:pt x="500334" y="414370"/>
                </a:lnTo>
                <a:lnTo>
                  <a:pt x="500334" y="0"/>
                </a:lnTo>
                <a:lnTo>
                  <a:pt x="555198" y="0"/>
                </a:lnTo>
              </a:path>
            </a:pathLst>
          </a:custGeom>
          <a:noFill/>
          <a:ln w="16510">
            <a:solidFill>
              <a:srgbClr val="00A0E0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38394" y="1175265"/>
            <a:ext cx="384048" cy="118872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6350">
            <a:solidFill>
              <a:srgbClr val="00A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0">
                <a:solidFill>
                  <a:srgbClr val="1F6FB2"/>
                </a:solidFill>
                <a:latin typeface="Times New Roman"/>
              </a:rPr>
              <a:t>Ethernet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41648" y="733463"/>
            <a:ext cx="329183" cy="0"/>
          </a:xfrm>
          <a:prstGeom prst="line">
            <a:avLst/>
          </a:prstGeom>
          <a:ln w="16510">
            <a:solidFill>
              <a:srgbClr val="00A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can_converter" descr="c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274320"/>
            <a:ext cx="420624" cy="42619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8264" y="718803"/>
            <a:ext cx="694944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1" i="0">
                <a:solidFill>
                  <a:srgbClr val="000000"/>
                </a:solidFill>
                <a:latin typeface="Times New Roman"/>
              </a:rPr>
              <a:t>CAN converter</a:t>
            </a:r>
          </a:p>
        </p:txBody>
      </p:sp>
      <p:pic>
        <p:nvPicPr>
          <p:cNvPr id="13" name="servo_cylinder" descr="serv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5424" y="914400"/>
            <a:ext cx="731520" cy="371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3984" y="1304472"/>
            <a:ext cx="91440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1" i="0">
                <a:solidFill>
                  <a:srgbClr val="000000"/>
                </a:solidFill>
                <a:latin typeface="Times New Roman"/>
              </a:rPr>
              <a:t>Servo cylinders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70831" y="487417"/>
            <a:ext cx="0" cy="612875"/>
          </a:xfrm>
          <a:prstGeom prst="line">
            <a:avLst/>
          </a:prstGeom>
          <a:ln w="16510">
            <a:solidFill>
              <a:srgbClr val="00A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370831" y="487417"/>
            <a:ext cx="164593" cy="0"/>
          </a:xfrm>
          <a:prstGeom prst="line">
            <a:avLst/>
          </a:prstGeom>
          <a:ln w="16510">
            <a:solidFill>
              <a:srgbClr val="00A0E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70831" y="1100292"/>
            <a:ext cx="164593" cy="0"/>
          </a:xfrm>
          <a:prstGeom prst="line">
            <a:avLst/>
          </a:prstGeom>
          <a:ln w="16510">
            <a:solidFill>
              <a:srgbClr val="00A0E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69079" y="350257"/>
            <a:ext cx="29260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00" b="0" i="0">
                <a:solidFill>
                  <a:srgbClr val="1F6FB2"/>
                </a:solidFill>
                <a:latin typeface="Times New Roman"/>
              </a:rPr>
              <a:t>RS232C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1118580"/>
            <a:ext cx="47548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00" b="0" i="0">
                <a:solidFill>
                  <a:srgbClr val="1F6FB2"/>
                </a:solidFill>
                <a:latin typeface="Times New Roman"/>
              </a:rPr>
              <a:t>EtherCAT</a:t>
            </a:r>
          </a:p>
        </p:txBody>
      </p:sp>
      <p:pic>
        <p:nvPicPr>
          <p:cNvPr id="20" name="sterndrive_thruster" descr="thruste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2976" y="493776"/>
            <a:ext cx="896112" cy="559901"/>
          </a:xfrm>
          <a:prstGeom prst="rect">
            <a:avLst/>
          </a:prstGeom>
        </p:spPr>
      </p:pic>
      <p:sp>
        <p:nvSpPr>
          <p:cNvPr id="21" name="Freeform 20"/>
          <p:cNvSpPr/>
          <p:nvPr/>
        </p:nvSpPr>
        <p:spPr>
          <a:xfrm>
            <a:off x="4956048" y="487417"/>
            <a:ext cx="1122517" cy="6359"/>
          </a:xfrm>
          <a:custGeom>
            <a:avLst/>
            <a:gdLst/>
            <a:ahLst/>
            <a:cxnLst/>
            <a:rect l="l" t="t" r="r" b="b"/>
            <a:pathLst>
              <a:path w="1122517" h="6359">
                <a:moveTo>
                  <a:pt x="0" y="0"/>
                </a:moveTo>
                <a:lnTo>
                  <a:pt x="1122517" y="0"/>
                </a:lnTo>
                <a:lnTo>
                  <a:pt x="1122517" y="6359"/>
                </a:lnTo>
              </a:path>
            </a:pathLst>
          </a:custGeom>
          <a:noFill/>
          <a:ln w="16510">
            <a:solidFill>
              <a:srgbClr val="00A0E0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350257"/>
            <a:ext cx="36576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1F6FB2"/>
                </a:solidFill>
                <a:latin typeface="Times New Roman"/>
              </a:rPr>
              <a:t>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7045" y="331969"/>
            <a:ext cx="70408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40" b="1" i="0">
                <a:solidFill>
                  <a:srgbClr val="000000"/>
                </a:solidFill>
                <a:latin typeface="Times New Roman"/>
              </a:rPr>
              <a:t>Engine speed</a:t>
            </a:r>
          </a:p>
        </p:txBody>
      </p:sp>
      <p:sp>
        <p:nvSpPr>
          <p:cNvPr id="24" name="Freeform 23"/>
          <p:cNvSpPr/>
          <p:nvPr/>
        </p:nvSpPr>
        <p:spPr>
          <a:xfrm>
            <a:off x="5266944" y="1053677"/>
            <a:ext cx="614476" cy="138055"/>
          </a:xfrm>
          <a:custGeom>
            <a:avLst/>
            <a:gdLst/>
            <a:ahLst/>
            <a:cxnLst/>
            <a:rect l="l" t="t" r="r" b="b"/>
            <a:pathLst>
              <a:path w="614476" h="138055">
                <a:moveTo>
                  <a:pt x="0" y="138055"/>
                </a:moveTo>
                <a:lnTo>
                  <a:pt x="614476" y="138055"/>
                </a:lnTo>
                <a:lnTo>
                  <a:pt x="614476" y="0"/>
                </a:lnTo>
              </a:path>
            </a:pathLst>
          </a:custGeom>
          <a:noFill/>
          <a:ln w="16510">
            <a:solidFill>
              <a:srgbClr val="00A0E0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21807" y="1219164"/>
            <a:ext cx="1097280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1" i="0">
                <a:solidFill>
                  <a:srgbClr val="000000"/>
                </a:solidFill>
                <a:latin typeface="Times New Roman"/>
              </a:rPr>
              <a:t>Shift and steering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1616882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0">
                <a:solidFill>
                  <a:srgbClr val="000000"/>
                </a:solidFill>
                <a:latin typeface="Times New Roman"/>
              </a:rPr>
              <a:t>(a)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1455" y="1616882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0">
                <a:solidFill>
                  <a:srgbClr val="000000"/>
                </a:solidFill>
                <a:latin typeface="Times New Roman"/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