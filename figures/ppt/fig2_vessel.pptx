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547104" cy="21031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hoto_a_vessel_sensors" descr="vessel_senso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" y="36576"/>
            <a:ext cx="3310128" cy="1543730"/>
          </a:xfrm>
          <a:prstGeom prst="rect">
            <a:avLst/>
          </a:prstGeom>
        </p:spPr>
      </p:pic>
      <p:sp>
        <p:nvSpPr>
          <p:cNvPr id="3" name="boat_control_boundary"/>
          <p:cNvSpPr/>
          <p:nvPr/>
        </p:nvSpPr>
        <p:spPr>
          <a:xfrm>
            <a:off x="3456432" y="566928"/>
            <a:ext cx="3054096" cy="1335024"/>
          </a:xfrm>
          <a:prstGeom prst="roundRect">
            <a:avLst>
              <a:gd name="adj" fmla="val 12328"/>
            </a:avLst>
          </a:prstGeom>
          <a:noFill/>
          <a:ln w="15240">
            <a:solidFill>
              <a:srgbClr val="D6282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429768"/>
            <a:ext cx="1463040" cy="1188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5000"/>
              </a:lnSpc>
            </a:pPr>
            <a:r>
              <a:rPr sz="640" b="1" i="0">
                <a:solidFill>
                  <a:srgbClr val="D62828"/>
                </a:solidFill>
                <a:latin typeface="Times New Roman"/>
              </a:rPr>
              <a:t>Boat control hardware</a:t>
            </a:r>
          </a:p>
        </p:txBody>
      </p:sp>
      <p:pic>
        <p:nvPicPr>
          <p:cNvPr id="5" name="control_pc" descr="control_pc_lapt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24" y="36576"/>
            <a:ext cx="403411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79299" y="7315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660" b="1" i="0">
                <a:solidFill>
                  <a:srgbClr val="000000"/>
                </a:solidFill>
                <a:latin typeface="Times New Roman"/>
              </a:rPr>
              <a:t>Control PC</a:t>
            </a:r>
          </a:p>
          <a:p>
            <a:pPr algn="l">
              <a:lnSpc>
                <a:spcPct val="105000"/>
              </a:lnSpc>
            </a:pPr>
            <a:r>
              <a:rPr sz="660" b="0" i="0">
                <a:solidFill>
                  <a:srgbClr val="000000"/>
                </a:solidFill>
                <a:latin typeface="Times New Roman"/>
              </a:rPr>
              <a:t>ROS 2</a:t>
            </a:r>
          </a:p>
        </p:txBody>
      </p:sp>
      <p:pic>
        <p:nvPicPr>
          <p:cNvPr id="7" name="plc" descr="pl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804672"/>
            <a:ext cx="475488" cy="44279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566160" y="804672"/>
            <a:ext cx="475488" cy="442798"/>
          </a:xfrm>
          <a:prstGeom prst="roundRect">
            <a:avLst>
              <a:gd name="adj" fmla="val 2065"/>
            </a:avLst>
          </a:prstGeom>
          <a:noFill/>
          <a:ln w="12700">
            <a:solidFill>
              <a:srgbClr val="D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265758"/>
            <a:ext cx="658368" cy="1188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640" b="1" i="0">
                <a:solidFill>
                  <a:srgbClr val="000000"/>
                </a:solidFill>
                <a:latin typeface="Times New Roman"/>
              </a:rPr>
              <a:t>LS XGB PLC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22729" y="493776"/>
            <a:ext cx="0" cy="310896"/>
          </a:xfrm>
          <a:prstGeom prst="line">
            <a:avLst/>
          </a:prstGeom>
          <a:ln w="16510">
            <a:solidFill>
              <a:srgbClr val="00A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59305" y="603504"/>
            <a:ext cx="548640" cy="1188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1F6FB2"/>
                </a:solidFill>
                <a:latin typeface="Times New Roman"/>
              </a:rPr>
              <a:t>Ethernet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41648" y="1026071"/>
            <a:ext cx="329183" cy="0"/>
          </a:xfrm>
          <a:prstGeom prst="line">
            <a:avLst/>
          </a:prstGeom>
          <a:ln w="16510">
            <a:solidFill>
              <a:srgbClr val="00A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can_converter" descr="ca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424" y="658368"/>
            <a:ext cx="420624" cy="42619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98264" y="1102851"/>
            <a:ext cx="694944" cy="1188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640" b="1" i="0">
                <a:solidFill>
                  <a:srgbClr val="000000"/>
                </a:solidFill>
                <a:latin typeface="Times New Roman"/>
              </a:rPr>
              <a:t>CAN converter</a:t>
            </a:r>
          </a:p>
        </p:txBody>
      </p:sp>
      <p:pic>
        <p:nvPicPr>
          <p:cNvPr id="15" name="servo_cylinder" descr="serv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5424" y="1298448"/>
            <a:ext cx="731520" cy="3717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43984" y="1688520"/>
            <a:ext cx="914400" cy="1188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640" b="1" i="0">
                <a:solidFill>
                  <a:srgbClr val="000000"/>
                </a:solidFill>
                <a:latin typeface="Times New Roman"/>
              </a:rPr>
              <a:t>Servo cylinders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70831" y="871465"/>
            <a:ext cx="0" cy="612875"/>
          </a:xfrm>
          <a:prstGeom prst="line">
            <a:avLst/>
          </a:prstGeom>
          <a:ln w="16510">
            <a:solidFill>
              <a:srgbClr val="00A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370831" y="871465"/>
            <a:ext cx="164593" cy="0"/>
          </a:xfrm>
          <a:prstGeom prst="line">
            <a:avLst/>
          </a:prstGeom>
          <a:ln w="16510">
            <a:solidFill>
              <a:srgbClr val="00A0E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370831" y="1484340"/>
            <a:ext cx="164593" cy="0"/>
          </a:xfrm>
          <a:prstGeom prst="line">
            <a:avLst/>
          </a:prstGeom>
          <a:ln w="16510">
            <a:solidFill>
              <a:srgbClr val="00A0E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069079" y="734305"/>
            <a:ext cx="292608" cy="1188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5000"/>
              </a:lnSpc>
            </a:pPr>
            <a:r>
              <a:rPr sz="600" b="0" i="0">
                <a:solidFill>
                  <a:srgbClr val="1F6FB2"/>
                </a:solidFill>
                <a:latin typeface="Times New Roman"/>
              </a:rPr>
              <a:t>RS232C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67911" y="1502628"/>
            <a:ext cx="475488" cy="1188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5000"/>
              </a:lnSpc>
            </a:pPr>
            <a:r>
              <a:rPr sz="600" b="0" i="0">
                <a:solidFill>
                  <a:srgbClr val="1F6FB2"/>
                </a:solidFill>
                <a:latin typeface="Times New Roman"/>
              </a:rPr>
              <a:t>EtherCAT</a:t>
            </a:r>
          </a:p>
        </p:txBody>
      </p:sp>
      <p:pic>
        <p:nvPicPr>
          <p:cNvPr id="22" name="engine_sterndrive" descr="engin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4416" y="822960"/>
            <a:ext cx="804672" cy="618816"/>
          </a:xfrm>
          <a:prstGeom prst="rect">
            <a:avLst/>
          </a:prstGeom>
        </p:spPr>
      </p:pic>
      <p:sp>
        <p:nvSpPr>
          <p:cNvPr id="23" name="Freeform 22"/>
          <p:cNvSpPr/>
          <p:nvPr/>
        </p:nvSpPr>
        <p:spPr>
          <a:xfrm>
            <a:off x="4956048" y="822960"/>
            <a:ext cx="940003" cy="48505"/>
          </a:xfrm>
          <a:custGeom>
            <a:avLst/>
            <a:gdLst/>
            <a:ahLst/>
            <a:cxnLst/>
            <a:rect l="l" t="t" r="r" b="b"/>
            <a:pathLst>
              <a:path w="940003" h="48505">
                <a:moveTo>
                  <a:pt x="0" y="48505"/>
                </a:moveTo>
                <a:lnTo>
                  <a:pt x="940003" y="48505"/>
                </a:lnTo>
                <a:lnTo>
                  <a:pt x="940003" y="0"/>
                </a:lnTo>
              </a:path>
            </a:pathLst>
          </a:custGeom>
          <a:noFill/>
          <a:ln w="16510">
            <a:solidFill>
              <a:srgbClr val="00A0E0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92624" y="734305"/>
            <a:ext cx="365760" cy="1188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1F6FB2"/>
                </a:solidFill>
                <a:latin typeface="Times New Roman"/>
              </a:rPr>
              <a:t>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4531" y="576072"/>
            <a:ext cx="704088" cy="1188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5000"/>
              </a:lnSpc>
            </a:pPr>
            <a:r>
              <a:rPr sz="640" b="1" i="0">
                <a:solidFill>
                  <a:srgbClr val="000000"/>
                </a:solidFill>
                <a:latin typeface="Times New Roman"/>
              </a:rPr>
              <a:t>Engine speed</a:t>
            </a:r>
          </a:p>
        </p:txBody>
      </p:sp>
      <p:sp>
        <p:nvSpPr>
          <p:cNvPr id="26" name="Freeform 25"/>
          <p:cNvSpPr/>
          <p:nvPr/>
        </p:nvSpPr>
        <p:spPr>
          <a:xfrm>
            <a:off x="5266944" y="1441776"/>
            <a:ext cx="991209" cy="134004"/>
          </a:xfrm>
          <a:custGeom>
            <a:avLst/>
            <a:gdLst/>
            <a:ahLst/>
            <a:cxnLst/>
            <a:rect l="l" t="t" r="r" b="b"/>
            <a:pathLst>
              <a:path w="991209" h="134004">
                <a:moveTo>
                  <a:pt x="0" y="134004"/>
                </a:moveTo>
                <a:lnTo>
                  <a:pt x="991209" y="134004"/>
                </a:lnTo>
                <a:lnTo>
                  <a:pt x="991209" y="0"/>
                </a:lnTo>
              </a:path>
            </a:pathLst>
          </a:custGeom>
          <a:noFill/>
          <a:ln w="16510">
            <a:solidFill>
              <a:srgbClr val="00A0E0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21807" y="1603212"/>
            <a:ext cx="1097280" cy="1188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640" b="1" i="0">
                <a:solidFill>
                  <a:srgbClr val="000000"/>
                </a:solidFill>
                <a:latin typeface="Times New Roman"/>
              </a:rPr>
              <a:t>Shift and steering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1938528"/>
            <a:ext cx="365760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750" b="0" i="0">
                <a:solidFill>
                  <a:srgbClr val="000000"/>
                </a:solidFill>
                <a:latin typeface="Times New Roman"/>
              </a:rPr>
              <a:t>(a)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1455" y="1938528"/>
            <a:ext cx="365760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750" b="0" i="0">
                <a:solidFill>
                  <a:srgbClr val="000000"/>
                </a:solidFill>
                <a:latin typeface="Times New Roman"/>
              </a:rPr>
              <a:t>(b)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