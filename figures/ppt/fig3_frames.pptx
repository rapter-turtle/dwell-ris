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700784" cy="16642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28016" y="1133856"/>
            <a:ext cx="0" cy="347472"/>
          </a:xfrm>
          <a:prstGeom prst="line">
            <a:avLst/>
          </a:prstGeom>
          <a:ln w="1016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28016" y="1481328"/>
            <a:ext cx="347472" cy="0"/>
          </a:xfrm>
          <a:prstGeom prst="line">
            <a:avLst/>
          </a:prstGeom>
          <a:ln w="1016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8288" y="1042415"/>
            <a:ext cx="219456" cy="1097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80" b="0" i="1">
                <a:solidFill>
                  <a:srgbClr val="000000"/>
                </a:solidFill>
                <a:latin typeface="Times New Roman"/>
              </a:rPr>
              <a:t>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417320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80" b="0" i="1">
                <a:solidFill>
                  <a:srgbClr val="000000"/>
                </a:solidFill>
                <a:latin typeface="Times New Roman"/>
              </a:rPr>
              <a:t>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" y="1490472"/>
            <a:ext cx="182880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40" b="0" i="1">
                <a:solidFill>
                  <a:srgbClr val="000000"/>
                </a:solidFill>
                <a:latin typeface="Times New Roman"/>
              </a:rPr>
              <a:t>O</a:t>
            </a:r>
            <a:r>
              <a:rPr sz="640" b="0" i="1" baseline="-25000">
                <a:solidFill>
                  <a:srgbClr val="000000"/>
                </a:solidFill>
                <a:latin typeface="Times New Roman"/>
              </a:rPr>
              <a:t>i</a:t>
            </a:r>
          </a:p>
        </p:txBody>
      </p:sp>
      <p:sp>
        <p:nvSpPr>
          <p:cNvPr id="7" name="Oval 6"/>
          <p:cNvSpPr/>
          <p:nvPr/>
        </p:nvSpPr>
        <p:spPr>
          <a:xfrm>
            <a:off x="128016" y="91439"/>
            <a:ext cx="1170432" cy="1170432"/>
          </a:xfrm>
          <a:prstGeom prst="ellipse">
            <a:avLst/>
          </a:prstGeom>
          <a:noFill/>
          <a:ln w="11430">
            <a:solidFill>
              <a:srgbClr val="2F7D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681228" y="644652"/>
            <a:ext cx="64008" cy="64008"/>
          </a:xfrm>
          <a:custGeom>
            <a:avLst/>
            <a:gdLst/>
            <a:ahLst/>
            <a:cxnLst/>
            <a:rect l="l" t="t" r="r" b="b"/>
            <a:pathLst>
              <a:path w="64008" h="64008">
                <a:moveTo>
                  <a:pt x="0" y="32004"/>
                </a:moveTo>
                <a:lnTo>
                  <a:pt x="32004" y="0"/>
                </a:lnTo>
                <a:lnTo>
                  <a:pt x="64008" y="32004"/>
                </a:lnTo>
                <a:lnTo>
                  <a:pt x="32004" y="64008"/>
                </a:lnTo>
                <a:close/>
              </a:path>
            </a:pathLst>
          </a:cu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521207"/>
            <a:ext cx="402336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5000"/>
              </a:lnSpc>
            </a:pPr>
            <a:r>
              <a:rPr sz="600" b="0" i="0">
                <a:solidFill>
                  <a:srgbClr val="2F7D4F"/>
                </a:solidFill>
                <a:latin typeface="Times New Roman"/>
              </a:rPr>
              <a:t>(</a:t>
            </a:r>
            <a:r>
              <a:rPr sz="600" b="0" i="1">
                <a:solidFill>
                  <a:srgbClr val="2F7D4F"/>
                </a:solidFill>
                <a:latin typeface="Times New Roman"/>
              </a:rPr>
              <a:t>x</a:t>
            </a:r>
            <a:r>
              <a:rPr sz="600" b="0" i="1" baseline="-25000">
                <a:solidFill>
                  <a:srgbClr val="2F7D4F"/>
                </a:solidFill>
                <a:latin typeface="Times New Roman"/>
              </a:rPr>
              <a:t>d</a:t>
            </a:r>
            <a:r>
              <a:rPr sz="600" b="0" i="0">
                <a:solidFill>
                  <a:srgbClr val="2F7D4F"/>
                </a:solidFill>
                <a:latin typeface="Times New Roman"/>
              </a:rPr>
              <a:t>, </a:t>
            </a:r>
            <a:r>
              <a:rPr sz="600" b="0" i="1">
                <a:solidFill>
                  <a:srgbClr val="2F7D4F"/>
                </a:solidFill>
                <a:latin typeface="Times New Roman"/>
              </a:rPr>
              <a:t>y</a:t>
            </a:r>
            <a:r>
              <a:rPr sz="600" b="0" i="1" baseline="-25000">
                <a:solidFill>
                  <a:srgbClr val="2F7D4F"/>
                </a:solidFill>
                <a:latin typeface="Times New Roman"/>
              </a:rPr>
              <a:t>d</a:t>
            </a:r>
            <a:r>
              <a:rPr sz="600" b="0" i="0">
                <a:solidFill>
                  <a:srgbClr val="2F7D4F"/>
                </a:solidFill>
                <a:latin typeface="Times New Roman"/>
              </a:rPr>
              <a:t>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62102" y="676656"/>
            <a:ext cx="351130" cy="468172"/>
          </a:xfrm>
          <a:prstGeom prst="line">
            <a:avLst/>
          </a:prstGeom>
          <a:ln w="8890">
            <a:solidFill>
              <a:srgbClr val="2F7D4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3931" y="846734"/>
            <a:ext cx="128016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60" b="0" i="1">
                <a:solidFill>
                  <a:srgbClr val="2F7D4F"/>
                </a:solidFill>
                <a:latin typeface="Times New Roman"/>
              </a:rPr>
              <a:t>R</a:t>
            </a:r>
          </a:p>
        </p:txBody>
      </p:sp>
      <p:sp>
        <p:nvSpPr>
          <p:cNvPr id="12" name="hull_top_view"/>
          <p:cNvSpPr/>
          <p:nvPr/>
        </p:nvSpPr>
        <p:spPr>
          <a:xfrm>
            <a:off x="906545" y="382977"/>
            <a:ext cx="358860" cy="451680"/>
          </a:xfrm>
          <a:custGeom>
            <a:avLst/>
            <a:gdLst/>
            <a:ahLst/>
            <a:cxnLst/>
            <a:rect l="l" t="t" r="r" b="b"/>
            <a:pathLst>
              <a:path w="358860" h="451680">
                <a:moveTo>
                  <a:pt x="0" y="357274"/>
                </a:moveTo>
                <a:lnTo>
                  <a:pt x="194057" y="80132"/>
                </a:lnTo>
                <a:lnTo>
                  <a:pt x="268976" y="20963"/>
                </a:lnTo>
                <a:lnTo>
                  <a:pt x="350632" y="0"/>
                </a:lnTo>
                <a:lnTo>
                  <a:pt x="358860" y="83901"/>
                </a:lnTo>
                <a:lnTo>
                  <a:pt x="328883" y="174538"/>
                </a:lnTo>
                <a:lnTo>
                  <a:pt x="134826" y="451680"/>
                </a:lnTo>
                <a:close/>
              </a:path>
            </a:pathLst>
          </a:cu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713232" y="585216"/>
            <a:ext cx="402336" cy="91440"/>
          </a:xfrm>
          <a:prstGeom prst="line">
            <a:avLst/>
          </a:prstGeom>
          <a:ln w="8890">
            <a:solidFill>
              <a:srgbClr val="6B6B6B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15568" y="219456"/>
            <a:ext cx="0" cy="365760"/>
          </a:xfrm>
          <a:prstGeom prst="line">
            <a:avLst/>
          </a:prstGeom>
          <a:ln w="7620">
            <a:solidFill>
              <a:srgbClr val="6B6B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1115568" y="310896"/>
            <a:ext cx="157343" cy="49610"/>
          </a:xfrm>
          <a:custGeom>
            <a:avLst/>
            <a:gdLst/>
            <a:ahLst/>
            <a:cxnLst/>
            <a:rect l="l" t="t" r="r" b="b"/>
            <a:pathLst>
              <a:path w="157343" h="49610">
                <a:moveTo>
                  <a:pt x="0" y="0"/>
                </a:moveTo>
                <a:lnTo>
                  <a:pt x="12885" y="302"/>
                </a:lnTo>
                <a:lnTo>
                  <a:pt x="25742" y="1210"/>
                </a:lnTo>
                <a:lnTo>
                  <a:pt x="38542" y="2721"/>
                </a:lnTo>
                <a:lnTo>
                  <a:pt x="51257" y="4831"/>
                </a:lnTo>
                <a:lnTo>
                  <a:pt x="63859" y="7536"/>
                </a:lnTo>
                <a:lnTo>
                  <a:pt x="76320" y="10830"/>
                </a:lnTo>
                <a:lnTo>
                  <a:pt x="88613" y="14706"/>
                </a:lnTo>
                <a:lnTo>
                  <a:pt x="100709" y="19155"/>
                </a:lnTo>
                <a:lnTo>
                  <a:pt x="112584" y="24167"/>
                </a:lnTo>
                <a:lnTo>
                  <a:pt x="124210" y="29732"/>
                </a:lnTo>
                <a:lnTo>
                  <a:pt x="135562" y="35836"/>
                </a:lnTo>
                <a:lnTo>
                  <a:pt x="146614" y="42467"/>
                </a:lnTo>
                <a:lnTo>
                  <a:pt x="157343" y="4961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690" y="172376"/>
            <a:ext cx="109728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80" b="0" i="1">
                <a:solidFill>
                  <a:srgbClr val="000000"/>
                </a:solidFill>
                <a:latin typeface="Times New Roman"/>
              </a:rPr>
              <a:t>ψ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115568" y="210699"/>
            <a:ext cx="262239" cy="374517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86951" y="100971"/>
            <a:ext cx="109728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80" b="0" i="1">
                <a:solidFill>
                  <a:srgbClr val="000000"/>
                </a:solidFill>
                <a:latin typeface="Times New Roman"/>
              </a:rPr>
              <a:t>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15568" y="585216"/>
            <a:ext cx="224709" cy="157343"/>
          </a:xfrm>
          <a:prstGeom prst="line">
            <a:avLst/>
          </a:prstGeom>
          <a:ln w="11430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49421" y="724271"/>
            <a:ext cx="109728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80" b="0" i="1">
                <a:solidFill>
                  <a:srgbClr val="000000"/>
                </a:solidFill>
                <a:latin typeface="Times New Roman"/>
              </a:rPr>
              <a:t>v</a:t>
            </a:r>
          </a:p>
        </p:txBody>
      </p:sp>
      <p:sp>
        <p:nvSpPr>
          <p:cNvPr id="21" name="Freeform 20"/>
          <p:cNvSpPr/>
          <p:nvPr/>
        </p:nvSpPr>
        <p:spPr>
          <a:xfrm>
            <a:off x="1047020" y="517155"/>
            <a:ext cx="127940" cy="136279"/>
          </a:xfrm>
          <a:custGeom>
            <a:avLst/>
            <a:gdLst/>
            <a:ahLst/>
            <a:cxnLst/>
            <a:rect l="l" t="t" r="r" b="b"/>
            <a:pathLst>
              <a:path w="127940" h="136279">
                <a:moveTo>
                  <a:pt x="127940" y="102351"/>
                </a:moveTo>
                <a:lnTo>
                  <a:pt x="115780" y="117782"/>
                </a:lnTo>
                <a:lnTo>
                  <a:pt x="99745" y="129134"/>
                </a:lnTo>
                <a:lnTo>
                  <a:pt x="81149" y="135473"/>
                </a:lnTo>
                <a:lnTo>
                  <a:pt x="61519" y="136279"/>
                </a:lnTo>
                <a:lnTo>
                  <a:pt x="42466" y="131487"/>
                </a:lnTo>
                <a:lnTo>
                  <a:pt x="25553" y="121490"/>
                </a:lnTo>
                <a:lnTo>
                  <a:pt x="12169" y="107107"/>
                </a:lnTo>
                <a:lnTo>
                  <a:pt x="3412" y="89521"/>
                </a:lnTo>
                <a:lnTo>
                  <a:pt x="0" y="70172"/>
                </a:lnTo>
                <a:lnTo>
                  <a:pt x="2214" y="50651"/>
                </a:lnTo>
                <a:lnTo>
                  <a:pt x="9872" y="32558"/>
                </a:lnTo>
                <a:lnTo>
                  <a:pt x="22345" y="17379"/>
                </a:lnTo>
                <a:lnTo>
                  <a:pt x="38611" y="6360"/>
                </a:lnTo>
                <a:lnTo>
                  <a:pt x="57333" y="404"/>
                </a:lnTo>
                <a:lnTo>
                  <a:pt x="76975" y="0"/>
                </a:lnTo>
                <a:lnTo>
                  <a:pt x="95926" y="5183"/>
                </a:lnTo>
                <a:lnTo>
                  <a:pt x="112630" y="15525"/>
                </a:lnTo>
              </a:path>
            </a:pathLst>
          </a:custGeom>
          <a:noFill/>
          <a:ln w="8890">
            <a:solidFill>
              <a:srgbClr val="000000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48056"/>
            <a:ext cx="91440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60" b="0" i="1">
                <a:solidFill>
                  <a:srgbClr val="000000"/>
                </a:solidFill>
                <a:latin typeface="Times New Roman"/>
              </a:rPr>
              <a:t>r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95636" y="787454"/>
            <a:ext cx="178322" cy="254671"/>
          </a:xfrm>
          <a:prstGeom prst="line">
            <a:avLst/>
          </a:prstGeom>
          <a:ln w="7620">
            <a:solidFill>
              <a:srgbClr val="6B6B6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terndrive_leg"/>
          <p:cNvSpPr/>
          <p:nvPr/>
        </p:nvSpPr>
        <p:spPr>
          <a:xfrm>
            <a:off x="873170" y="768628"/>
            <a:ext cx="116937" cy="83668"/>
          </a:xfrm>
          <a:custGeom>
            <a:avLst/>
            <a:gdLst/>
            <a:ahLst/>
            <a:cxnLst/>
            <a:rect l="l" t="t" r="r" b="b"/>
            <a:pathLst>
              <a:path w="116937" h="83668">
                <a:moveTo>
                  <a:pt x="100478" y="0"/>
                </a:moveTo>
                <a:lnTo>
                  <a:pt x="116937" y="28508"/>
                </a:lnTo>
                <a:lnTo>
                  <a:pt x="11522" y="83668"/>
                </a:lnTo>
                <a:lnTo>
                  <a:pt x="0" y="63712"/>
                </a:lnTo>
                <a:close/>
              </a:path>
            </a:pathLst>
          </a:cu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peller_blades"/>
          <p:cNvSpPr/>
          <p:nvPr/>
        </p:nvSpPr>
        <p:spPr>
          <a:xfrm>
            <a:off x="836722" y="778354"/>
            <a:ext cx="84418" cy="127928"/>
          </a:xfrm>
          <a:custGeom>
            <a:avLst/>
            <a:gdLst/>
            <a:ahLst/>
            <a:cxnLst/>
            <a:rect l="l" t="t" r="r" b="b"/>
            <a:pathLst>
              <a:path w="84418" h="127928">
                <a:moveTo>
                  <a:pt x="15838" y="0"/>
                </a:moveTo>
                <a:lnTo>
                  <a:pt x="84418" y="118784"/>
                </a:lnTo>
                <a:lnTo>
                  <a:pt x="68580" y="127928"/>
                </a:lnTo>
                <a:lnTo>
                  <a:pt x="0" y="9144"/>
                </a:lnTo>
                <a:close/>
              </a:path>
            </a:pathLst>
          </a:cu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4301" y="827688"/>
            <a:ext cx="29260" cy="29260"/>
          </a:xfrm>
          <a:prstGeom prst="ellipse">
            <a:avLst/>
          </a:prstGeom>
          <a:solidFill>
            <a:srgbClr val="3A3A3A">
              <a:alpha val="100000"/>
            </a:srgbClr>
          </a:solidFill>
          <a:ln w="7620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641363" y="851462"/>
            <a:ext cx="221730" cy="128016"/>
          </a:xfrm>
          <a:prstGeom prst="line">
            <a:avLst/>
          </a:prstGeom>
          <a:ln w="16510">
            <a:solidFill>
              <a:srgbClr val="C0392B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5643" y="1006910"/>
            <a:ext cx="182880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680" b="0" i="1">
                <a:solidFill>
                  <a:srgbClr val="C0392B"/>
                </a:solidFill>
                <a:latin typeface="Times New Roman"/>
              </a:rPr>
              <a:t>F</a:t>
            </a:r>
            <a:r>
              <a:rPr sz="680" b="0" i="1" baseline="-25000">
                <a:solidFill>
                  <a:srgbClr val="C0392B"/>
                </a:solidFill>
                <a:latin typeface="Times New Roman"/>
              </a:rPr>
              <a:t>g</a:t>
            </a:r>
          </a:p>
        </p:txBody>
      </p:sp>
      <p:sp>
        <p:nvSpPr>
          <p:cNvPr id="29" name="Freeform 28"/>
          <p:cNvSpPr/>
          <p:nvPr/>
        </p:nvSpPr>
        <p:spPr>
          <a:xfrm>
            <a:off x="807661" y="883466"/>
            <a:ext cx="56157" cy="61285"/>
          </a:xfrm>
          <a:custGeom>
            <a:avLst/>
            <a:gdLst/>
            <a:ahLst/>
            <a:cxnLst/>
            <a:rect l="l" t="t" r="r" b="b"/>
            <a:pathLst>
              <a:path w="56157" h="61285">
                <a:moveTo>
                  <a:pt x="56157" y="61285"/>
                </a:moveTo>
                <a:lnTo>
                  <a:pt x="46572" y="54119"/>
                </a:lnTo>
                <a:lnTo>
                  <a:pt x="37453" y="46369"/>
                </a:lnTo>
                <a:lnTo>
                  <a:pt x="28834" y="38067"/>
                </a:lnTo>
                <a:lnTo>
                  <a:pt x="20749" y="29243"/>
                </a:lnTo>
                <a:lnTo>
                  <a:pt x="13229" y="19933"/>
                </a:lnTo>
                <a:lnTo>
                  <a:pt x="6304" y="10173"/>
                </a:lnTo>
                <a:lnTo>
                  <a:pt x="0" y="0"/>
                </a:lnTo>
              </a:path>
            </a:pathLst>
          </a:custGeom>
          <a:noFill/>
          <a:ln w="889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586" y="902597"/>
            <a:ext cx="109728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80" b="0" i="1">
                <a:solidFill>
                  <a:srgbClr val="C0392B"/>
                </a:solidFill>
                <a:latin typeface="Times New Roman"/>
              </a:rPr>
              <a:t>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8946" y="711488"/>
            <a:ext cx="146304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640" b="0" i="1">
                <a:solidFill>
                  <a:srgbClr val="000000"/>
                </a:solidFill>
                <a:latin typeface="Times New Roman"/>
              </a:rPr>
              <a:t>l</a:t>
            </a:r>
            <a:r>
              <a:rPr sz="640" b="0" i="1" baseline="-25000">
                <a:solidFill>
                  <a:srgbClr val="000000"/>
                </a:solidFill>
                <a:latin typeface="Times New Roman"/>
              </a:rPr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