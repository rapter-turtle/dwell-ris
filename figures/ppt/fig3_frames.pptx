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00400" cy="17556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28016" y="1133856"/>
            <a:ext cx="0" cy="347472"/>
          </a:xfrm>
          <a:prstGeom prst="line">
            <a:avLst/>
          </a:prstGeom>
          <a:ln w="1016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28016" y="1481328"/>
            <a:ext cx="347472" cy="0"/>
          </a:xfrm>
          <a:prstGeom prst="line">
            <a:avLst/>
          </a:prstGeom>
          <a:ln w="1016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8288" y="1042415"/>
            <a:ext cx="219456" cy="1097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17320"/>
            <a:ext cx="12801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" y="1490472"/>
            <a:ext cx="182880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O</a:t>
            </a:r>
            <a:r>
              <a:rPr sz="640" b="0" i="1" baseline="-25000">
                <a:solidFill>
                  <a:srgbClr val="000000"/>
                </a:solidFill>
                <a:latin typeface="Times New Roman"/>
              </a:rPr>
              <a:t>i</a:t>
            </a:r>
          </a:p>
        </p:txBody>
      </p:sp>
      <p:sp>
        <p:nvSpPr>
          <p:cNvPr id="7" name="Oval 6"/>
          <p:cNvSpPr/>
          <p:nvPr/>
        </p:nvSpPr>
        <p:spPr>
          <a:xfrm>
            <a:off x="128016" y="91439"/>
            <a:ext cx="1170432" cy="1170432"/>
          </a:xfrm>
          <a:prstGeom prst="ellipse">
            <a:avLst/>
          </a:prstGeom>
          <a:noFill/>
          <a:ln w="11430">
            <a:solidFill>
              <a:srgbClr val="2F7D4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81228" y="644652"/>
            <a:ext cx="64008" cy="64008"/>
          </a:xfrm>
          <a:custGeom>
            <a:avLst/>
            <a:gdLst/>
            <a:ahLst/>
            <a:cxnLst/>
            <a:rect l="l" t="t" r="r" b="b"/>
            <a:pathLst>
              <a:path w="64008" h="64008">
                <a:moveTo>
                  <a:pt x="0" y="32004"/>
                </a:moveTo>
                <a:lnTo>
                  <a:pt x="32004" y="0"/>
                </a:lnTo>
                <a:lnTo>
                  <a:pt x="64008" y="32004"/>
                </a:lnTo>
                <a:lnTo>
                  <a:pt x="32004" y="64008"/>
                </a:lnTo>
                <a:close/>
              </a:path>
            </a:pathLst>
          </a:cu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521207"/>
            <a:ext cx="402336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5000"/>
              </a:lnSpc>
            </a:pPr>
            <a:r>
              <a:rPr sz="600" b="0" i="0">
                <a:solidFill>
                  <a:srgbClr val="2F7D4F"/>
                </a:solidFill>
                <a:latin typeface="Times New Roman"/>
              </a:rPr>
              <a:t>(</a:t>
            </a:r>
            <a:r>
              <a:rPr sz="600" b="0" i="1">
                <a:solidFill>
                  <a:srgbClr val="2F7D4F"/>
                </a:solidFill>
                <a:latin typeface="Times New Roman"/>
              </a:rPr>
              <a:t>x</a:t>
            </a:r>
            <a:r>
              <a:rPr sz="600" b="0" i="1" baseline="-25000">
                <a:solidFill>
                  <a:srgbClr val="2F7D4F"/>
                </a:solidFill>
                <a:latin typeface="Times New Roman"/>
              </a:rPr>
              <a:t>d</a:t>
            </a:r>
            <a:r>
              <a:rPr sz="600" b="0" i="0">
                <a:solidFill>
                  <a:srgbClr val="2F7D4F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F7D4F"/>
                </a:solidFill>
                <a:latin typeface="Times New Roman"/>
              </a:rPr>
              <a:t>y</a:t>
            </a:r>
            <a:r>
              <a:rPr sz="600" b="0" i="1" baseline="-25000">
                <a:solidFill>
                  <a:srgbClr val="2F7D4F"/>
                </a:solidFill>
                <a:latin typeface="Times New Roman"/>
              </a:rPr>
              <a:t>d</a:t>
            </a:r>
            <a:r>
              <a:rPr sz="600" b="0" i="0">
                <a:solidFill>
                  <a:srgbClr val="2F7D4F"/>
                </a:solidFill>
                <a:latin typeface="Times New Roman"/>
              </a:rPr>
              <a:t>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62102" y="676656"/>
            <a:ext cx="351130" cy="468172"/>
          </a:xfrm>
          <a:prstGeom prst="line">
            <a:avLst/>
          </a:prstGeom>
          <a:ln w="8890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3931" y="846734"/>
            <a:ext cx="12801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2F7D4F"/>
                </a:solidFill>
                <a:latin typeface="Times New Roman"/>
              </a:rPr>
              <a:t>R</a:t>
            </a:r>
          </a:p>
        </p:txBody>
      </p:sp>
      <p:sp>
        <p:nvSpPr>
          <p:cNvPr id="12" name="hull_top_view"/>
          <p:cNvSpPr/>
          <p:nvPr/>
        </p:nvSpPr>
        <p:spPr>
          <a:xfrm>
            <a:off x="906545" y="382977"/>
            <a:ext cx="358860" cy="451680"/>
          </a:xfrm>
          <a:custGeom>
            <a:avLst/>
            <a:gdLst/>
            <a:ahLst/>
            <a:cxnLst/>
            <a:rect l="l" t="t" r="r" b="b"/>
            <a:pathLst>
              <a:path w="358860" h="451680">
                <a:moveTo>
                  <a:pt x="0" y="357274"/>
                </a:moveTo>
                <a:lnTo>
                  <a:pt x="194057" y="80132"/>
                </a:lnTo>
                <a:lnTo>
                  <a:pt x="268976" y="20963"/>
                </a:lnTo>
                <a:lnTo>
                  <a:pt x="350632" y="0"/>
                </a:lnTo>
                <a:lnTo>
                  <a:pt x="358860" y="83901"/>
                </a:lnTo>
                <a:lnTo>
                  <a:pt x="328883" y="174538"/>
                </a:lnTo>
                <a:lnTo>
                  <a:pt x="134826" y="451680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713232" y="585216"/>
            <a:ext cx="402336" cy="91440"/>
          </a:xfrm>
          <a:prstGeom prst="line">
            <a:avLst/>
          </a:prstGeom>
          <a:ln w="8890">
            <a:solidFill>
              <a:srgbClr val="6B6B6B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15568" y="219456"/>
            <a:ext cx="0" cy="365760"/>
          </a:xfrm>
          <a:prstGeom prst="line">
            <a:avLst/>
          </a:prstGeom>
          <a:ln w="7620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1115568" y="310896"/>
            <a:ext cx="157343" cy="49610"/>
          </a:xfrm>
          <a:custGeom>
            <a:avLst/>
            <a:gdLst/>
            <a:ahLst/>
            <a:cxnLst/>
            <a:rect l="l" t="t" r="r" b="b"/>
            <a:pathLst>
              <a:path w="157343" h="49610">
                <a:moveTo>
                  <a:pt x="0" y="0"/>
                </a:moveTo>
                <a:lnTo>
                  <a:pt x="12885" y="302"/>
                </a:lnTo>
                <a:lnTo>
                  <a:pt x="25742" y="1210"/>
                </a:lnTo>
                <a:lnTo>
                  <a:pt x="38542" y="2721"/>
                </a:lnTo>
                <a:lnTo>
                  <a:pt x="51257" y="4831"/>
                </a:lnTo>
                <a:lnTo>
                  <a:pt x="63859" y="7536"/>
                </a:lnTo>
                <a:lnTo>
                  <a:pt x="76320" y="10830"/>
                </a:lnTo>
                <a:lnTo>
                  <a:pt x="88613" y="14706"/>
                </a:lnTo>
                <a:lnTo>
                  <a:pt x="100709" y="19155"/>
                </a:lnTo>
                <a:lnTo>
                  <a:pt x="112584" y="24167"/>
                </a:lnTo>
                <a:lnTo>
                  <a:pt x="124210" y="29732"/>
                </a:lnTo>
                <a:lnTo>
                  <a:pt x="135562" y="35836"/>
                </a:lnTo>
                <a:lnTo>
                  <a:pt x="146614" y="42467"/>
                </a:lnTo>
                <a:lnTo>
                  <a:pt x="157343" y="49610"/>
                </a:lnTo>
              </a:path>
            </a:pathLst>
          </a:custGeom>
          <a:noFill/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690" y="172376"/>
            <a:ext cx="10972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ψ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115568" y="210699"/>
            <a:ext cx="262239" cy="374517"/>
          </a:xfrm>
          <a:prstGeom prst="line">
            <a:avLst/>
          </a:prstGeom>
          <a:ln w="1143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86951" y="100971"/>
            <a:ext cx="1097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u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15568" y="585216"/>
            <a:ext cx="224709" cy="157343"/>
          </a:xfrm>
          <a:prstGeom prst="line">
            <a:avLst/>
          </a:prstGeom>
          <a:ln w="1143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349421" y="724271"/>
            <a:ext cx="1097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v</a:t>
            </a:r>
          </a:p>
        </p:txBody>
      </p:sp>
      <p:sp>
        <p:nvSpPr>
          <p:cNvPr id="21" name="Freeform 20"/>
          <p:cNvSpPr/>
          <p:nvPr/>
        </p:nvSpPr>
        <p:spPr>
          <a:xfrm>
            <a:off x="1047020" y="517155"/>
            <a:ext cx="127940" cy="136279"/>
          </a:xfrm>
          <a:custGeom>
            <a:avLst/>
            <a:gdLst/>
            <a:ahLst/>
            <a:cxnLst/>
            <a:rect l="l" t="t" r="r" b="b"/>
            <a:pathLst>
              <a:path w="127940" h="136279">
                <a:moveTo>
                  <a:pt x="127940" y="102351"/>
                </a:moveTo>
                <a:lnTo>
                  <a:pt x="115780" y="117782"/>
                </a:lnTo>
                <a:lnTo>
                  <a:pt x="99745" y="129134"/>
                </a:lnTo>
                <a:lnTo>
                  <a:pt x="81149" y="135473"/>
                </a:lnTo>
                <a:lnTo>
                  <a:pt x="61519" y="136279"/>
                </a:lnTo>
                <a:lnTo>
                  <a:pt x="42466" y="131487"/>
                </a:lnTo>
                <a:lnTo>
                  <a:pt x="25553" y="121490"/>
                </a:lnTo>
                <a:lnTo>
                  <a:pt x="12169" y="107107"/>
                </a:lnTo>
                <a:lnTo>
                  <a:pt x="3412" y="89521"/>
                </a:lnTo>
                <a:lnTo>
                  <a:pt x="0" y="70172"/>
                </a:lnTo>
                <a:lnTo>
                  <a:pt x="2214" y="50651"/>
                </a:lnTo>
                <a:lnTo>
                  <a:pt x="9872" y="32558"/>
                </a:lnTo>
                <a:lnTo>
                  <a:pt x="22345" y="17379"/>
                </a:lnTo>
                <a:lnTo>
                  <a:pt x="38611" y="6360"/>
                </a:lnTo>
                <a:lnTo>
                  <a:pt x="57333" y="404"/>
                </a:lnTo>
                <a:lnTo>
                  <a:pt x="76975" y="0"/>
                </a:lnTo>
                <a:lnTo>
                  <a:pt x="95926" y="5183"/>
                </a:lnTo>
                <a:lnTo>
                  <a:pt x="112630" y="15525"/>
                </a:lnTo>
              </a:path>
            </a:pathLst>
          </a:custGeom>
          <a:noFill/>
          <a:ln w="8890">
            <a:solidFill>
              <a:srgbClr val="000000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48056"/>
            <a:ext cx="91440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r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816615" y="787454"/>
            <a:ext cx="157343" cy="224710"/>
          </a:xfrm>
          <a:prstGeom prst="line">
            <a:avLst/>
          </a:prstGeom>
          <a:ln w="7620">
            <a:solidFill>
              <a:srgbClr val="6B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20552" y="787454"/>
            <a:ext cx="253406" cy="146304"/>
          </a:xfrm>
          <a:prstGeom prst="line">
            <a:avLst/>
          </a:prstGeom>
          <a:ln w="16510">
            <a:solidFill>
              <a:srgbClr val="C0392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32" y="961190"/>
            <a:ext cx="18288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C0392B"/>
                </a:solidFill>
                <a:latin typeface="Times New Roman"/>
              </a:rPr>
              <a:t>F</a:t>
            </a:r>
            <a:r>
              <a:rPr sz="680" b="0" i="1" baseline="-25000">
                <a:solidFill>
                  <a:srgbClr val="C0392B"/>
                </a:solidFill>
                <a:latin typeface="Times New Roman"/>
              </a:rPr>
              <a:t>g</a:t>
            </a:r>
          </a:p>
        </p:txBody>
      </p:sp>
      <p:sp>
        <p:nvSpPr>
          <p:cNvPr id="26" name="Freeform 25"/>
          <p:cNvSpPr/>
          <p:nvPr/>
        </p:nvSpPr>
        <p:spPr>
          <a:xfrm>
            <a:off x="839336" y="865178"/>
            <a:ext cx="45461" cy="49612"/>
          </a:xfrm>
          <a:custGeom>
            <a:avLst/>
            <a:gdLst/>
            <a:ahLst/>
            <a:cxnLst/>
            <a:rect l="l" t="t" r="r" b="b"/>
            <a:pathLst>
              <a:path w="45461" h="49612">
                <a:moveTo>
                  <a:pt x="45461" y="49612"/>
                </a:moveTo>
                <a:lnTo>
                  <a:pt x="37702" y="43810"/>
                </a:lnTo>
                <a:lnTo>
                  <a:pt x="30320" y="37537"/>
                </a:lnTo>
                <a:lnTo>
                  <a:pt x="23342" y="30816"/>
                </a:lnTo>
                <a:lnTo>
                  <a:pt x="16797" y="23673"/>
                </a:lnTo>
                <a:lnTo>
                  <a:pt x="10710" y="16136"/>
                </a:lnTo>
                <a:lnTo>
                  <a:pt x="5104" y="8235"/>
                </a:lnTo>
                <a:lnTo>
                  <a:pt x="0" y="0"/>
                </a:lnTo>
              </a:path>
            </a:pathLst>
          </a:custGeom>
          <a:noFill/>
          <a:ln w="889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553" y="877886"/>
            <a:ext cx="10972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C0392B"/>
                </a:solidFill>
                <a:latin typeface="Times New Roman"/>
              </a:rPr>
              <a:t>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8946" y="711488"/>
            <a:ext cx="14630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l</a:t>
            </a:r>
            <a:r>
              <a:rPr sz="640" b="0" i="1" baseline="-25000">
                <a:solidFill>
                  <a:srgbClr val="000000"/>
                </a:solidFill>
                <a:latin typeface="Times New Roman"/>
              </a:rPr>
              <a:t>d</a:t>
            </a:r>
          </a:p>
        </p:txBody>
      </p:sp>
      <p:pic>
        <p:nvPicPr>
          <p:cNvPr id="29" name="photo_sterndrive" descr="sterndr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784" y="284509"/>
            <a:ext cx="1463040" cy="1022037"/>
          </a:xfrm>
          <a:prstGeom prst="rect">
            <a:avLst/>
          </a:prstGeom>
        </p:spPr>
      </p:pic>
      <p:cxnSp>
        <p:nvCxnSpPr>
          <p:cNvPr id="30" name="Connector 29"/>
          <p:cNvCxnSpPr/>
          <p:nvPr/>
        </p:nvCxnSpPr>
        <p:spPr>
          <a:xfrm flipH="1">
            <a:off x="1857538" y="442569"/>
            <a:ext cx="83602" cy="333103"/>
          </a:xfrm>
          <a:prstGeom prst="line">
            <a:avLst/>
          </a:prstGeom>
          <a:ln w="12700">
            <a:solidFill>
              <a:srgbClr val="FFD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694252" y="314553"/>
            <a:ext cx="493776" cy="128016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762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0">
                <a:solidFill>
                  <a:srgbClr val="000000"/>
                </a:solidFill>
                <a:latin typeface="Times New Roman"/>
              </a:rPr>
              <a:t>Propeller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536806" y="442569"/>
            <a:ext cx="271708" cy="186799"/>
          </a:xfrm>
          <a:prstGeom prst="line">
            <a:avLst/>
          </a:prstGeom>
          <a:ln w="12700">
            <a:solidFill>
              <a:srgbClr val="FFD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561626" y="314553"/>
            <a:ext cx="493776" cy="128016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762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0">
                <a:solidFill>
                  <a:srgbClr val="000000"/>
                </a:solidFill>
                <a:latin typeface="Times New Roman"/>
              </a:rPr>
              <a:t>Sterndrive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600200"/>
            <a:ext cx="3657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50" b="0" i="0">
                <a:solidFill>
                  <a:srgbClr val="000000"/>
                </a:solidFill>
                <a:latin typeface="Times New Roman"/>
              </a:rPr>
              <a:t>(a)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9424" y="1600200"/>
            <a:ext cx="3657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50" b="0" i="0">
                <a:solidFill>
                  <a:srgbClr val="000000"/>
                </a:solidFill>
                <a:latin typeface="Times New Roman"/>
              </a:rPr>
              <a:t>(b)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